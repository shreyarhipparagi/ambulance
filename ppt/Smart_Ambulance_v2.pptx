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D3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0B4D8"/>
          </a:solidFill>
          <a:ln/>
        </p:spPr>
      </p:sp>
      <p:sp>
        <p:nvSpPr>
          <p:cNvPr id="3" name="Shape 1"/>
          <p:cNvSpPr/>
          <p:nvPr/>
        </p:nvSpPr>
        <p:spPr>
          <a:xfrm>
            <a:off x="6858000" y="-457200"/>
            <a:ext cx="3200400" cy="3200400"/>
          </a:xfrm>
          <a:prstGeom prst="oval">
            <a:avLst/>
          </a:prstGeom>
          <a:solidFill>
            <a:srgbClr val="112B52"/>
          </a:solidFill>
          <a:ln w="25400">
            <a:solidFill>
              <a:srgbClr val="00B4D8"/>
            </a:solidFill>
            <a:prstDash val="solid"/>
          </a:ln>
        </p:spPr>
      </p:sp>
      <p:sp>
        <p:nvSpPr>
          <p:cNvPr id="4" name="Text 2"/>
          <p:cNvSpPr/>
          <p:nvPr/>
        </p:nvSpPr>
        <p:spPr>
          <a:xfrm>
            <a:off x="7635240" y="274320"/>
            <a:ext cx="1463040" cy="1463040"/>
          </a:xfrm>
          <a:prstGeom prst="rect">
            <a:avLst/>
          </a:prstGeom>
          <a:noFill/>
          <a:ln/>
        </p:spPr>
        <p:txBody>
          <a:bodyPr wrap="square" lIns="0" tIns="0" rIns="0" bIns="0" rtlCol="0" anchor="ctr"/>
          <a:lstStyle/>
          <a:p>
            <a:pPr algn="ctr" indent="0" marL="0">
              <a:buNone/>
            </a:pPr>
            <a:r>
              <a:rPr lang="en-US" sz="5200" dirty="0">
                <a:solidFill>
                  <a:srgbClr val="000000"/>
                </a:solidFill>
                <a:latin typeface="Segoe UI Emoji" pitchFamily="34" charset="0"/>
                <a:ea typeface="Segoe UI Emoji" pitchFamily="34" charset="-122"/>
                <a:cs typeface="Segoe UI Emoji" pitchFamily="34" charset="-120"/>
              </a:rPr>
              <a:t>🚑</a:t>
            </a:r>
            <a:endParaRPr lang="en-US" sz="5200" dirty="0"/>
          </a:p>
        </p:txBody>
      </p:sp>
      <p:sp>
        <p:nvSpPr>
          <p:cNvPr id="5" name="Text 3"/>
          <p:cNvSpPr/>
          <p:nvPr/>
        </p:nvSpPr>
        <p:spPr>
          <a:xfrm>
            <a:off x="457200" y="1097280"/>
            <a:ext cx="7772400" cy="822960"/>
          </a:xfrm>
          <a:prstGeom prst="rect">
            <a:avLst/>
          </a:prstGeom>
          <a:noFill/>
          <a:ln/>
        </p:spPr>
        <p:txBody>
          <a:bodyPr wrap="square" lIns="0" tIns="0" rIns="0" bIns="0" rtlCol="0" anchor="ctr"/>
          <a:lstStyle/>
          <a:p>
            <a:pPr algn="l" indent="0" marL="0">
              <a:buNone/>
            </a:pPr>
            <a:r>
              <a:rPr lang="en-US" sz="3600" b="1" dirty="0">
                <a:solidFill>
                  <a:srgbClr val="FFFFFF"/>
                </a:solidFill>
                <a:latin typeface="Calibri" pitchFamily="34" charset="0"/>
                <a:ea typeface="Calibri" pitchFamily="34" charset="-122"/>
                <a:cs typeface="Calibri" pitchFamily="34" charset="-120"/>
              </a:rPr>
              <a:t>Smart Ambulance Routing</a:t>
            </a:r>
            <a:endParaRPr lang="en-US" sz="3600" dirty="0"/>
          </a:p>
        </p:txBody>
      </p:sp>
      <p:sp>
        <p:nvSpPr>
          <p:cNvPr id="6" name="Text 4"/>
          <p:cNvSpPr/>
          <p:nvPr/>
        </p:nvSpPr>
        <p:spPr>
          <a:xfrm>
            <a:off x="457200" y="1874520"/>
            <a:ext cx="7772400" cy="640080"/>
          </a:xfrm>
          <a:prstGeom prst="rect">
            <a:avLst/>
          </a:prstGeom>
          <a:noFill/>
          <a:ln/>
        </p:spPr>
        <p:txBody>
          <a:bodyPr wrap="square" lIns="0" tIns="0" rIns="0" bIns="0" rtlCol="0" anchor="ctr"/>
          <a:lstStyle/>
          <a:p>
            <a:pPr algn="l" indent="0" marL="0">
              <a:buNone/>
            </a:pPr>
            <a:r>
              <a:rPr lang="en-US" sz="2800" dirty="0">
                <a:solidFill>
                  <a:srgbClr val="00B4D8"/>
                </a:solidFill>
                <a:latin typeface="Calibri" pitchFamily="34" charset="0"/>
                <a:ea typeface="Calibri" pitchFamily="34" charset="-122"/>
                <a:cs typeface="Calibri" pitchFamily="34" charset="-120"/>
              </a:rPr>
              <a:t>&amp; Hospital Allocation System</a:t>
            </a:r>
            <a:endParaRPr lang="en-US" sz="2800" dirty="0"/>
          </a:p>
        </p:txBody>
      </p:sp>
      <p:sp>
        <p:nvSpPr>
          <p:cNvPr id="7" name="Text 5"/>
          <p:cNvSpPr/>
          <p:nvPr/>
        </p:nvSpPr>
        <p:spPr>
          <a:xfrm>
            <a:off x="457200" y="2651760"/>
            <a:ext cx="8046720" cy="365760"/>
          </a:xfrm>
          <a:prstGeom prst="rect">
            <a:avLst/>
          </a:prstGeom>
          <a:noFill/>
          <a:ln/>
        </p:spPr>
        <p:txBody>
          <a:bodyPr wrap="square" lIns="0" tIns="0" rIns="0" bIns="0" rtlCol="0" anchor="ctr"/>
          <a:lstStyle/>
          <a:p>
            <a:pPr algn="l" indent="0" marL="0">
              <a:buNone/>
            </a:pPr>
            <a:r>
              <a:rPr lang="en-US" sz="1300" i="1" dirty="0">
                <a:solidFill>
                  <a:srgbClr val="E0F0FF"/>
                </a:solidFill>
                <a:latin typeface="Calibri" pitchFamily="34" charset="0"/>
                <a:ea typeface="Calibri" pitchFamily="34" charset="-122"/>
                <a:cs typeface="Calibri" pitchFamily="34" charset="-120"/>
              </a:rPr>
              <a:t>A React + Java-inspired project combining Graph Theory · DBMS · Advanced Java · Algorithm Design</a:t>
            </a:r>
            <a:endParaRPr lang="en-US" sz="1300" dirty="0"/>
          </a:p>
        </p:txBody>
      </p:sp>
      <p:sp>
        <p:nvSpPr>
          <p:cNvPr id="8" name="Shape 6"/>
          <p:cNvSpPr/>
          <p:nvPr/>
        </p:nvSpPr>
        <p:spPr>
          <a:xfrm>
            <a:off x="457200" y="3383280"/>
            <a:ext cx="1938528" cy="384048"/>
          </a:xfrm>
          <a:prstGeom prst="roundRect">
            <a:avLst>
              <a:gd name="adj" fmla="val 11905"/>
            </a:avLst>
          </a:prstGeom>
          <a:solidFill>
            <a:srgbClr val="F59E0B"/>
          </a:solidFill>
          <a:ln/>
        </p:spPr>
      </p:sp>
      <p:sp>
        <p:nvSpPr>
          <p:cNvPr id="9" name="Text 7"/>
          <p:cNvSpPr/>
          <p:nvPr/>
        </p:nvSpPr>
        <p:spPr>
          <a:xfrm>
            <a:off x="457200" y="3383280"/>
            <a:ext cx="193852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BCS401  Algorithm Design</a:t>
            </a:r>
            <a:endParaRPr lang="en-US" sz="950" dirty="0"/>
          </a:p>
        </p:txBody>
      </p:sp>
      <p:sp>
        <p:nvSpPr>
          <p:cNvPr id="10" name="Shape 8"/>
          <p:cNvSpPr/>
          <p:nvPr/>
        </p:nvSpPr>
        <p:spPr>
          <a:xfrm>
            <a:off x="2560320" y="3383280"/>
            <a:ext cx="1938528" cy="384048"/>
          </a:xfrm>
          <a:prstGeom prst="roundRect">
            <a:avLst>
              <a:gd name="adj" fmla="val 11905"/>
            </a:avLst>
          </a:prstGeom>
          <a:solidFill>
            <a:srgbClr val="10B981"/>
          </a:solidFill>
          <a:ln/>
        </p:spPr>
      </p:sp>
      <p:sp>
        <p:nvSpPr>
          <p:cNvPr id="11" name="Text 9"/>
          <p:cNvSpPr/>
          <p:nvPr/>
        </p:nvSpPr>
        <p:spPr>
          <a:xfrm>
            <a:off x="2560320" y="3383280"/>
            <a:ext cx="193852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BCS402  Advanced Java</a:t>
            </a:r>
            <a:endParaRPr lang="en-US" sz="950" dirty="0"/>
          </a:p>
        </p:txBody>
      </p:sp>
      <p:sp>
        <p:nvSpPr>
          <p:cNvPr id="12" name="Shape 10"/>
          <p:cNvSpPr/>
          <p:nvPr/>
        </p:nvSpPr>
        <p:spPr>
          <a:xfrm>
            <a:off x="4663440" y="3383280"/>
            <a:ext cx="1938528" cy="384048"/>
          </a:xfrm>
          <a:prstGeom prst="roundRect">
            <a:avLst>
              <a:gd name="adj" fmla="val 11905"/>
            </a:avLst>
          </a:prstGeom>
          <a:solidFill>
            <a:srgbClr val="8B5CF6"/>
          </a:solidFill>
          <a:ln/>
        </p:spPr>
      </p:sp>
      <p:sp>
        <p:nvSpPr>
          <p:cNvPr id="13" name="Text 11"/>
          <p:cNvSpPr/>
          <p:nvPr/>
        </p:nvSpPr>
        <p:spPr>
          <a:xfrm>
            <a:off x="4663440" y="3383280"/>
            <a:ext cx="193852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BCS403  DBMS</a:t>
            </a:r>
            <a:endParaRPr lang="en-US" sz="950" dirty="0"/>
          </a:p>
        </p:txBody>
      </p:sp>
      <p:sp>
        <p:nvSpPr>
          <p:cNvPr id="14" name="Shape 12"/>
          <p:cNvSpPr/>
          <p:nvPr/>
        </p:nvSpPr>
        <p:spPr>
          <a:xfrm>
            <a:off x="6766560" y="3383280"/>
            <a:ext cx="1938528" cy="384048"/>
          </a:xfrm>
          <a:prstGeom prst="roundRect">
            <a:avLst>
              <a:gd name="adj" fmla="val 11905"/>
            </a:avLst>
          </a:prstGeom>
          <a:solidFill>
            <a:srgbClr val="00B4D8"/>
          </a:solidFill>
          <a:ln/>
        </p:spPr>
      </p:sp>
      <p:sp>
        <p:nvSpPr>
          <p:cNvPr id="15" name="Text 13"/>
          <p:cNvSpPr/>
          <p:nvPr/>
        </p:nvSpPr>
        <p:spPr>
          <a:xfrm>
            <a:off x="6766560" y="3383280"/>
            <a:ext cx="193852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BCS405B  Graph Theory</a:t>
            </a:r>
            <a:endParaRPr lang="en-US" sz="950" dirty="0"/>
          </a:p>
        </p:txBody>
      </p:sp>
      <p:sp>
        <p:nvSpPr>
          <p:cNvPr id="16" name="Text 14"/>
          <p:cNvSpPr/>
          <p:nvPr/>
        </p:nvSpPr>
        <p:spPr>
          <a:xfrm>
            <a:off x="457200" y="4617720"/>
            <a:ext cx="8229600" cy="320040"/>
          </a:xfrm>
          <a:prstGeom prst="rect">
            <a:avLst/>
          </a:prstGeom>
          <a:noFill/>
          <a:ln/>
        </p:spPr>
        <p:txBody>
          <a:bodyPr wrap="square" lIns="0" tIns="0" rIns="0" bIns="0" rtlCol="0" anchor="ctr"/>
          <a:lstStyle/>
          <a:p>
            <a:pPr algn="l" indent="0" marL="0">
              <a:buNone/>
            </a:pPr>
            <a:r>
              <a:rPr lang="en-US" sz="1100" i="1" dirty="0">
                <a:solidFill>
                  <a:srgbClr val="64748B"/>
                </a:solidFill>
                <a:latin typeface="Calibri" pitchFamily="34" charset="0"/>
                <a:ea typeface="Calibri" pitchFamily="34" charset="-122"/>
                <a:cs typeface="Calibri" pitchFamily="34" charset="-120"/>
              </a:rPr>
              <a:t>4th Semester Project  ·  Viva-Ready Explanation  ·  South Bangalore City Map</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F"/>
        </a:solidFill>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0B1D3A"/>
          </a:solidFill>
          <a:ln/>
        </p:spPr>
      </p:sp>
      <p:sp>
        <p:nvSpPr>
          <p:cNvPr id="3" name="Text 1"/>
          <p:cNvSpPr/>
          <p:nvPr/>
        </p:nvSpPr>
        <p:spPr>
          <a:xfrm>
            <a:off x="365760" y="91440"/>
            <a:ext cx="8229600" cy="82296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What This Project Does</a:t>
            </a:r>
            <a:endParaRPr lang="en-US" sz="2600" dirty="0"/>
          </a:p>
        </p:txBody>
      </p:sp>
      <p:sp>
        <p:nvSpPr>
          <p:cNvPr id="4" name="Shape 2"/>
          <p:cNvSpPr/>
          <p:nvPr/>
        </p:nvSpPr>
        <p:spPr>
          <a:xfrm>
            <a:off x="320040" y="1188720"/>
            <a:ext cx="4114800" cy="3383280"/>
          </a:xfrm>
          <a:prstGeom prst="rect">
            <a:avLst/>
          </a:prstGeom>
          <a:solidFill>
            <a:srgbClr val="112B52"/>
          </a:solidFill>
          <a:ln/>
          <a:effectLst>
            <a:outerShdw sx="100000" sy="100000" kx="0" ky="0" algn="bl" rotWithShape="0" blurRad="101600" dist="38100" dir="8100000">
              <a:srgbClr val="000000">
                <a:alpha val="12000"/>
              </a:srgbClr>
            </a:outerShdw>
          </a:effectLst>
        </p:spPr>
      </p:sp>
      <p:sp>
        <p:nvSpPr>
          <p:cNvPr id="5" name="Text 3"/>
          <p:cNvSpPr/>
          <p:nvPr/>
        </p:nvSpPr>
        <p:spPr>
          <a:xfrm>
            <a:off x="320040" y="1188720"/>
            <a:ext cx="4114800" cy="502920"/>
          </a:xfrm>
          <a:prstGeom prst="rect">
            <a:avLst/>
          </a:prstGeom>
          <a:noFill/>
          <a:ln/>
        </p:spPr>
        <p:txBody>
          <a:bodyPr wrap="square" lIns="0" tIns="0" rIns="0" bIns="0" rtlCol="0" anchor="ctr"/>
          <a:lstStyle/>
          <a:p>
            <a:pPr algn="ctr" indent="0" marL="0">
              <a:buNone/>
            </a:pPr>
            <a:r>
              <a:rPr lang="en-US" sz="1500" b="1" dirty="0">
                <a:solidFill>
                  <a:srgbClr val="00B4D8"/>
                </a:solidFill>
                <a:latin typeface="Calibri" pitchFamily="34" charset="0"/>
                <a:ea typeface="Calibri" pitchFamily="34" charset="-122"/>
                <a:cs typeface="Calibri" pitchFamily="34" charset="-120"/>
              </a:rPr>
              <a:t>The Problem</a:t>
            </a:r>
            <a:endParaRPr lang="en-US" sz="1500" dirty="0"/>
          </a:p>
        </p:txBody>
      </p:sp>
      <p:sp>
        <p:nvSpPr>
          <p:cNvPr id="6" name="Shape 4"/>
          <p:cNvSpPr/>
          <p:nvPr/>
        </p:nvSpPr>
        <p:spPr>
          <a:xfrm>
            <a:off x="502920" y="1901952"/>
            <a:ext cx="182880" cy="182880"/>
          </a:xfrm>
          <a:prstGeom prst="oval">
            <a:avLst/>
          </a:prstGeom>
          <a:solidFill>
            <a:srgbClr val="00B4D8"/>
          </a:solidFill>
          <a:ln/>
        </p:spPr>
      </p:sp>
      <p:sp>
        <p:nvSpPr>
          <p:cNvPr id="7" name="Text 5"/>
          <p:cNvSpPr/>
          <p:nvPr/>
        </p:nvSpPr>
        <p:spPr>
          <a:xfrm>
            <a:off x="768096" y="1847088"/>
            <a:ext cx="3493008" cy="457200"/>
          </a:xfrm>
          <a:prstGeom prst="rect">
            <a:avLst/>
          </a:prstGeom>
          <a:noFill/>
          <a:ln/>
        </p:spPr>
        <p:txBody>
          <a:bodyPr wrap="square" lIns="0" tIns="0" rIns="0" bIns="0" rtlCol="0" anchor="ctr"/>
          <a:lstStyle/>
          <a:p>
            <a:pPr indent="0" marL="0">
              <a:buNone/>
            </a:pPr>
            <a:r>
              <a:rPr lang="en-US" sz="1200" dirty="0">
                <a:solidFill>
                  <a:srgbClr val="E0F0FF"/>
                </a:solidFill>
                <a:latin typeface="Calibri" pitchFamily="34" charset="0"/>
                <a:ea typeface="Calibri" pitchFamily="34" charset="-122"/>
                <a:cs typeface="Calibri" pitchFamily="34" charset="-120"/>
              </a:rPr>
              <a:t>In real emergencies, the nearest hospital is chosen — but it may not have ICU, beds, or the right specialization.</a:t>
            </a:r>
            <a:endParaRPr lang="en-US" sz="1200" dirty="0"/>
          </a:p>
        </p:txBody>
      </p:sp>
      <p:sp>
        <p:nvSpPr>
          <p:cNvPr id="8" name="Shape 6"/>
          <p:cNvSpPr/>
          <p:nvPr/>
        </p:nvSpPr>
        <p:spPr>
          <a:xfrm>
            <a:off x="502920" y="2743200"/>
            <a:ext cx="182880" cy="182880"/>
          </a:xfrm>
          <a:prstGeom prst="oval">
            <a:avLst/>
          </a:prstGeom>
          <a:solidFill>
            <a:srgbClr val="00B4D8"/>
          </a:solidFill>
          <a:ln/>
        </p:spPr>
      </p:sp>
      <p:sp>
        <p:nvSpPr>
          <p:cNvPr id="9" name="Text 7"/>
          <p:cNvSpPr/>
          <p:nvPr/>
        </p:nvSpPr>
        <p:spPr>
          <a:xfrm>
            <a:off x="768096" y="2688336"/>
            <a:ext cx="3493008" cy="457200"/>
          </a:xfrm>
          <a:prstGeom prst="rect">
            <a:avLst/>
          </a:prstGeom>
          <a:noFill/>
          <a:ln/>
        </p:spPr>
        <p:txBody>
          <a:bodyPr wrap="square" lIns="0" tIns="0" rIns="0" bIns="0" rtlCol="0" anchor="ctr"/>
          <a:lstStyle/>
          <a:p>
            <a:pPr indent="0" marL="0">
              <a:buNone/>
            </a:pPr>
            <a:r>
              <a:rPr lang="en-US" sz="1200" dirty="0">
                <a:solidFill>
                  <a:srgbClr val="E0F0FF"/>
                </a:solidFill>
                <a:latin typeface="Calibri" pitchFamily="34" charset="0"/>
                <a:ea typeface="Calibri" pitchFamily="34" charset="-122"/>
                <a:cs typeface="Calibri" pitchFamily="34" charset="-120"/>
              </a:rPr>
              <a:t>This leads to delays, wrong allocation, and wasted time.</a:t>
            </a:r>
            <a:endParaRPr lang="en-US" sz="1200" dirty="0"/>
          </a:p>
        </p:txBody>
      </p:sp>
      <p:sp>
        <p:nvSpPr>
          <p:cNvPr id="10" name="Shape 8"/>
          <p:cNvSpPr/>
          <p:nvPr/>
        </p:nvSpPr>
        <p:spPr>
          <a:xfrm>
            <a:off x="502920" y="3584448"/>
            <a:ext cx="182880" cy="182880"/>
          </a:xfrm>
          <a:prstGeom prst="oval">
            <a:avLst/>
          </a:prstGeom>
          <a:solidFill>
            <a:srgbClr val="00B4D8"/>
          </a:solidFill>
          <a:ln/>
        </p:spPr>
      </p:sp>
      <p:sp>
        <p:nvSpPr>
          <p:cNvPr id="11" name="Text 9"/>
          <p:cNvSpPr/>
          <p:nvPr/>
        </p:nvSpPr>
        <p:spPr>
          <a:xfrm>
            <a:off x="768096" y="3529584"/>
            <a:ext cx="3493008" cy="457200"/>
          </a:xfrm>
          <a:prstGeom prst="rect">
            <a:avLst/>
          </a:prstGeom>
          <a:noFill/>
          <a:ln/>
        </p:spPr>
        <p:txBody>
          <a:bodyPr wrap="square" lIns="0" tIns="0" rIns="0" bIns="0" rtlCol="0" anchor="ctr"/>
          <a:lstStyle/>
          <a:p>
            <a:pPr indent="0" marL="0">
              <a:buNone/>
            </a:pPr>
            <a:r>
              <a:rPr lang="en-US" sz="1200" dirty="0">
                <a:solidFill>
                  <a:srgbClr val="E0F0FF"/>
                </a:solidFill>
                <a:latin typeface="Calibri" pitchFamily="34" charset="0"/>
                <a:ea typeface="Calibri" pitchFamily="34" charset="-122"/>
                <a:cs typeface="Calibri" pitchFamily="34" charset="-120"/>
              </a:rPr>
              <a:t>The system should find the BEST hospital — not just the closest one.</a:t>
            </a:r>
            <a:endParaRPr lang="en-US" sz="1200" dirty="0"/>
          </a:p>
        </p:txBody>
      </p:sp>
      <p:sp>
        <p:nvSpPr>
          <p:cNvPr id="12" name="Shape 10"/>
          <p:cNvSpPr/>
          <p:nvPr/>
        </p:nvSpPr>
        <p:spPr>
          <a:xfrm>
            <a:off x="4754880" y="1188720"/>
            <a:ext cx="4069080" cy="338328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3" name="Shape 11"/>
          <p:cNvSpPr/>
          <p:nvPr/>
        </p:nvSpPr>
        <p:spPr>
          <a:xfrm>
            <a:off x="4754880" y="1188720"/>
            <a:ext cx="4069080" cy="502920"/>
          </a:xfrm>
          <a:prstGeom prst="rect">
            <a:avLst/>
          </a:prstGeom>
          <a:solidFill>
            <a:srgbClr val="0077B6"/>
          </a:solidFill>
          <a:ln/>
        </p:spPr>
      </p:sp>
      <p:sp>
        <p:nvSpPr>
          <p:cNvPr id="14" name="Text 12"/>
          <p:cNvSpPr/>
          <p:nvPr/>
        </p:nvSpPr>
        <p:spPr>
          <a:xfrm>
            <a:off x="4754880" y="1188720"/>
            <a:ext cx="406908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Our Solution</a:t>
            </a:r>
            <a:endParaRPr lang="en-US" sz="1500" dirty="0"/>
          </a:p>
        </p:txBody>
      </p:sp>
      <p:sp>
        <p:nvSpPr>
          <p:cNvPr id="15" name="Text 13"/>
          <p:cNvSpPr/>
          <p:nvPr/>
        </p:nvSpPr>
        <p:spPr>
          <a:xfrm>
            <a:off x="4919472" y="1865376"/>
            <a:ext cx="274320" cy="274320"/>
          </a:xfrm>
          <a:prstGeom prst="rect">
            <a:avLst/>
          </a:prstGeom>
          <a:noFill/>
          <a:ln/>
        </p:spPr>
        <p:txBody>
          <a:bodyPr wrap="square" lIns="0" tIns="0" rIns="0" bIns="0" rtlCol="0" anchor="ctr"/>
          <a:lstStyle/>
          <a:p>
            <a:pPr indent="0" marL="0">
              <a:buNone/>
            </a:pPr>
            <a:r>
              <a:rPr lang="en-US" sz="1400" dirty="0">
                <a:solidFill>
                  <a:srgbClr val="0077B6"/>
                </a:solidFill>
                <a:latin typeface="Calibri" pitchFamily="34" charset="0"/>
                <a:ea typeface="Calibri" pitchFamily="34" charset="-122"/>
                <a:cs typeface="Calibri" pitchFamily="34" charset="-120"/>
              </a:rPr>
              <a:t>✔</a:t>
            </a:r>
            <a:endParaRPr lang="en-US" sz="1400" dirty="0"/>
          </a:p>
        </p:txBody>
      </p:sp>
      <p:sp>
        <p:nvSpPr>
          <p:cNvPr id="16" name="Text 14"/>
          <p:cNvSpPr/>
          <p:nvPr/>
        </p:nvSpPr>
        <p:spPr>
          <a:xfrm>
            <a:off x="5257800" y="1828800"/>
            <a:ext cx="3383280" cy="256032"/>
          </a:xfrm>
          <a:prstGeom prst="rect">
            <a:avLst/>
          </a:prstGeom>
          <a:noFill/>
          <a:ln/>
        </p:spPr>
        <p:txBody>
          <a:bodyPr wrap="square" lIns="0" tIns="0" rIns="0" bIns="0" rtlCol="0" anchor="ctr"/>
          <a:lstStyle/>
          <a:p>
            <a:pPr indent="0" marL="0">
              <a:buNone/>
            </a:pPr>
            <a:r>
              <a:rPr lang="en-US" sz="1200" b="1" dirty="0">
                <a:solidFill>
                  <a:srgbClr val="0077B6"/>
                </a:solidFill>
                <a:latin typeface="Calibri" pitchFamily="34" charset="0"/>
                <a:ea typeface="Calibri" pitchFamily="34" charset="-122"/>
                <a:cs typeface="Calibri" pitchFamily="34" charset="-120"/>
              </a:rPr>
              <a:t>Match hospital</a:t>
            </a:r>
            <a:endParaRPr lang="en-US" sz="1200" dirty="0"/>
          </a:p>
        </p:txBody>
      </p:sp>
      <p:sp>
        <p:nvSpPr>
          <p:cNvPr id="17" name="Text 15"/>
          <p:cNvSpPr/>
          <p:nvPr/>
        </p:nvSpPr>
        <p:spPr>
          <a:xfrm>
            <a:off x="5257800" y="2066544"/>
            <a:ext cx="338328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Check if it handles the emergency type (cardiac, trauma...)</a:t>
            </a:r>
            <a:endParaRPr lang="en-US" sz="1050" dirty="0"/>
          </a:p>
        </p:txBody>
      </p:sp>
      <p:sp>
        <p:nvSpPr>
          <p:cNvPr id="18" name="Text 16"/>
          <p:cNvSpPr/>
          <p:nvPr/>
        </p:nvSpPr>
        <p:spPr>
          <a:xfrm>
            <a:off x="4919472" y="2578608"/>
            <a:ext cx="274320" cy="274320"/>
          </a:xfrm>
          <a:prstGeom prst="rect">
            <a:avLst/>
          </a:prstGeom>
          <a:noFill/>
          <a:ln/>
        </p:spPr>
        <p:txBody>
          <a:bodyPr wrap="square" lIns="0" tIns="0" rIns="0" bIns="0" rtlCol="0" anchor="ctr"/>
          <a:lstStyle/>
          <a:p>
            <a:pPr indent="0" marL="0">
              <a:buNone/>
            </a:pPr>
            <a:r>
              <a:rPr lang="en-US" sz="1400" dirty="0">
                <a:solidFill>
                  <a:srgbClr val="0077B6"/>
                </a:solidFill>
                <a:latin typeface="Calibri" pitchFamily="34" charset="0"/>
                <a:ea typeface="Calibri" pitchFamily="34" charset="-122"/>
                <a:cs typeface="Calibri" pitchFamily="34" charset="-120"/>
              </a:rPr>
              <a:t>✔</a:t>
            </a:r>
            <a:endParaRPr lang="en-US" sz="1400" dirty="0"/>
          </a:p>
        </p:txBody>
      </p:sp>
      <p:sp>
        <p:nvSpPr>
          <p:cNvPr id="19" name="Text 17"/>
          <p:cNvSpPr/>
          <p:nvPr/>
        </p:nvSpPr>
        <p:spPr>
          <a:xfrm>
            <a:off x="5257800" y="2542032"/>
            <a:ext cx="3383280" cy="256032"/>
          </a:xfrm>
          <a:prstGeom prst="rect">
            <a:avLst/>
          </a:prstGeom>
          <a:noFill/>
          <a:ln/>
        </p:spPr>
        <p:txBody>
          <a:bodyPr wrap="square" lIns="0" tIns="0" rIns="0" bIns="0" rtlCol="0" anchor="ctr"/>
          <a:lstStyle/>
          <a:p>
            <a:pPr indent="0" marL="0">
              <a:buNone/>
            </a:pPr>
            <a:r>
              <a:rPr lang="en-US" sz="1200" b="1" dirty="0">
                <a:solidFill>
                  <a:srgbClr val="0077B6"/>
                </a:solidFill>
                <a:latin typeface="Calibri" pitchFamily="34" charset="0"/>
                <a:ea typeface="Calibri" pitchFamily="34" charset="-122"/>
                <a:cs typeface="Calibri" pitchFamily="34" charset="-120"/>
              </a:rPr>
              <a:t>Check resources</a:t>
            </a:r>
            <a:endParaRPr lang="en-US" sz="1200" dirty="0"/>
          </a:p>
        </p:txBody>
      </p:sp>
      <p:sp>
        <p:nvSpPr>
          <p:cNvPr id="20" name="Text 18"/>
          <p:cNvSpPr/>
          <p:nvPr/>
        </p:nvSpPr>
        <p:spPr>
          <a:xfrm>
            <a:off x="5257800" y="2779776"/>
            <a:ext cx="338328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Confirm ICU or general beds are available</a:t>
            </a:r>
            <a:endParaRPr lang="en-US" sz="1050" dirty="0"/>
          </a:p>
        </p:txBody>
      </p:sp>
      <p:sp>
        <p:nvSpPr>
          <p:cNvPr id="21" name="Text 19"/>
          <p:cNvSpPr/>
          <p:nvPr/>
        </p:nvSpPr>
        <p:spPr>
          <a:xfrm>
            <a:off x="4919472" y="3291840"/>
            <a:ext cx="274320" cy="274320"/>
          </a:xfrm>
          <a:prstGeom prst="rect">
            <a:avLst/>
          </a:prstGeom>
          <a:noFill/>
          <a:ln/>
        </p:spPr>
        <p:txBody>
          <a:bodyPr wrap="square" lIns="0" tIns="0" rIns="0" bIns="0" rtlCol="0" anchor="ctr"/>
          <a:lstStyle/>
          <a:p>
            <a:pPr indent="0" marL="0">
              <a:buNone/>
            </a:pPr>
            <a:r>
              <a:rPr lang="en-US" sz="1400" dirty="0">
                <a:solidFill>
                  <a:srgbClr val="0077B6"/>
                </a:solidFill>
                <a:latin typeface="Calibri" pitchFamily="34" charset="0"/>
                <a:ea typeface="Calibri" pitchFamily="34" charset="-122"/>
                <a:cs typeface="Calibri" pitchFamily="34" charset="-120"/>
              </a:rPr>
              <a:t>✔</a:t>
            </a:r>
            <a:endParaRPr lang="en-US" sz="1400" dirty="0"/>
          </a:p>
        </p:txBody>
      </p:sp>
      <p:sp>
        <p:nvSpPr>
          <p:cNvPr id="22" name="Text 20"/>
          <p:cNvSpPr/>
          <p:nvPr/>
        </p:nvSpPr>
        <p:spPr>
          <a:xfrm>
            <a:off x="5257800" y="3255264"/>
            <a:ext cx="3383280" cy="256032"/>
          </a:xfrm>
          <a:prstGeom prst="rect">
            <a:avLst/>
          </a:prstGeom>
          <a:noFill/>
          <a:ln/>
        </p:spPr>
        <p:txBody>
          <a:bodyPr wrap="square" lIns="0" tIns="0" rIns="0" bIns="0" rtlCol="0" anchor="ctr"/>
          <a:lstStyle/>
          <a:p>
            <a:pPr indent="0" marL="0">
              <a:buNone/>
            </a:pPr>
            <a:r>
              <a:rPr lang="en-US" sz="1200" b="1" dirty="0">
                <a:solidFill>
                  <a:srgbClr val="0077B6"/>
                </a:solidFill>
                <a:latin typeface="Calibri" pitchFamily="34" charset="0"/>
                <a:ea typeface="Calibri" pitchFamily="34" charset="-122"/>
                <a:cs typeface="Calibri" pitchFamily="34" charset="-120"/>
              </a:rPr>
              <a:t>Find best route</a:t>
            </a:r>
            <a:endParaRPr lang="en-US" sz="1200" dirty="0"/>
          </a:p>
        </p:txBody>
      </p:sp>
      <p:sp>
        <p:nvSpPr>
          <p:cNvPr id="23" name="Text 21"/>
          <p:cNvSpPr/>
          <p:nvPr/>
        </p:nvSpPr>
        <p:spPr>
          <a:xfrm>
            <a:off x="5257800" y="3493008"/>
            <a:ext cx="338328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Graph algorithms compute the shortest road path</a:t>
            </a:r>
            <a:endParaRPr lang="en-US" sz="1050" dirty="0"/>
          </a:p>
        </p:txBody>
      </p:sp>
      <p:sp>
        <p:nvSpPr>
          <p:cNvPr id="24" name="Text 22"/>
          <p:cNvSpPr/>
          <p:nvPr/>
        </p:nvSpPr>
        <p:spPr>
          <a:xfrm>
            <a:off x="4919472" y="4005072"/>
            <a:ext cx="274320" cy="274320"/>
          </a:xfrm>
          <a:prstGeom prst="rect">
            <a:avLst/>
          </a:prstGeom>
          <a:noFill/>
          <a:ln/>
        </p:spPr>
        <p:txBody>
          <a:bodyPr wrap="square" lIns="0" tIns="0" rIns="0" bIns="0" rtlCol="0" anchor="ctr"/>
          <a:lstStyle/>
          <a:p>
            <a:pPr indent="0" marL="0">
              <a:buNone/>
            </a:pPr>
            <a:r>
              <a:rPr lang="en-US" sz="1400" dirty="0">
                <a:solidFill>
                  <a:srgbClr val="0077B6"/>
                </a:solidFill>
                <a:latin typeface="Calibri" pitchFamily="34" charset="0"/>
                <a:ea typeface="Calibri" pitchFamily="34" charset="-122"/>
                <a:cs typeface="Calibri" pitchFamily="34" charset="-120"/>
              </a:rPr>
              <a:t>✔</a:t>
            </a:r>
            <a:endParaRPr lang="en-US" sz="1400" dirty="0"/>
          </a:p>
        </p:txBody>
      </p:sp>
      <p:sp>
        <p:nvSpPr>
          <p:cNvPr id="25" name="Text 23"/>
          <p:cNvSpPr/>
          <p:nvPr/>
        </p:nvSpPr>
        <p:spPr>
          <a:xfrm>
            <a:off x="5257800" y="3968496"/>
            <a:ext cx="3383280" cy="256032"/>
          </a:xfrm>
          <a:prstGeom prst="rect">
            <a:avLst/>
          </a:prstGeom>
          <a:noFill/>
          <a:ln/>
        </p:spPr>
        <p:txBody>
          <a:bodyPr wrap="square" lIns="0" tIns="0" rIns="0" bIns="0" rtlCol="0" anchor="ctr"/>
          <a:lstStyle/>
          <a:p>
            <a:pPr indent="0" marL="0">
              <a:buNone/>
            </a:pPr>
            <a:r>
              <a:rPr lang="en-US" sz="1200" b="1" dirty="0">
                <a:solidFill>
                  <a:srgbClr val="0077B6"/>
                </a:solidFill>
                <a:latin typeface="Calibri" pitchFamily="34" charset="0"/>
                <a:ea typeface="Calibri" pitchFamily="34" charset="-122"/>
                <a:cs typeface="Calibri" pitchFamily="34" charset="-120"/>
              </a:rPr>
              <a:t>Recommend</a:t>
            </a:r>
            <a:endParaRPr lang="en-US" sz="1200" dirty="0"/>
          </a:p>
        </p:txBody>
      </p:sp>
      <p:sp>
        <p:nvSpPr>
          <p:cNvPr id="26" name="Text 24"/>
          <p:cNvSpPr/>
          <p:nvPr/>
        </p:nvSpPr>
        <p:spPr>
          <a:xfrm>
            <a:off x="5257800" y="4206240"/>
            <a:ext cx="338328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Pick the best hospital + a backup option for safety</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D3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F59E0B"/>
          </a:solidFill>
          <a:ln/>
        </p:spPr>
      </p:sp>
      <p:sp>
        <p:nvSpPr>
          <p:cNvPr id="3" name="Shape 1"/>
          <p:cNvSpPr/>
          <p:nvPr/>
        </p:nvSpPr>
        <p:spPr>
          <a:xfrm>
            <a:off x="164592" y="0"/>
            <a:ext cx="8979408" cy="1051560"/>
          </a:xfrm>
          <a:prstGeom prst="rect">
            <a:avLst/>
          </a:prstGeom>
          <a:solidFill>
            <a:srgbClr val="112B52"/>
          </a:solidFill>
          <a:ln/>
        </p:spPr>
      </p:sp>
      <p:sp>
        <p:nvSpPr>
          <p:cNvPr id="4" name="Text 2"/>
          <p:cNvSpPr/>
          <p:nvPr/>
        </p:nvSpPr>
        <p:spPr>
          <a:xfrm>
            <a:off x="320040" y="54864"/>
            <a:ext cx="8046720" cy="502920"/>
          </a:xfrm>
          <a:prstGeom prst="rect">
            <a:avLst/>
          </a:prstGeom>
          <a:noFill/>
          <a:ln/>
        </p:spPr>
        <p:txBody>
          <a:bodyPr wrap="square" lIns="0" tIns="0" rIns="0" bIns="0" rtlCol="0" anchor="ctr"/>
          <a:lstStyle/>
          <a:p>
            <a:pPr indent="0" marL="0">
              <a:buNone/>
            </a:pPr>
            <a:r>
              <a:rPr lang="en-US" sz="2200" b="1" dirty="0">
                <a:solidFill>
                  <a:srgbClr val="F59E0B"/>
                </a:solidFill>
                <a:latin typeface="Calibri" pitchFamily="34" charset="0"/>
                <a:ea typeface="Calibri" pitchFamily="34" charset="-122"/>
                <a:cs typeface="Calibri" pitchFamily="34" charset="-120"/>
              </a:rPr>
              <a:t>BCS401  ·  Algorithm Design &amp; Analysis</a:t>
            </a:r>
            <a:endParaRPr lang="en-US" sz="2200" dirty="0"/>
          </a:p>
        </p:txBody>
      </p:sp>
      <p:sp>
        <p:nvSpPr>
          <p:cNvPr id="5" name="Text 3"/>
          <p:cNvSpPr/>
          <p:nvPr/>
        </p:nvSpPr>
        <p:spPr>
          <a:xfrm>
            <a:off x="320040" y="576072"/>
            <a:ext cx="8046720" cy="347472"/>
          </a:xfrm>
          <a:prstGeom prst="rect">
            <a:avLst/>
          </a:prstGeom>
          <a:noFill/>
          <a:ln/>
        </p:spPr>
        <p:txBody>
          <a:bodyPr wrap="square" lIns="0" tIns="0" rIns="0" bIns="0" rtlCol="0" anchor="ctr"/>
          <a:lstStyle/>
          <a:p>
            <a:pPr indent="0" marL="0">
              <a:buNone/>
            </a:pPr>
            <a:r>
              <a:rPr lang="en-US" sz="1300" i="1" dirty="0">
                <a:solidFill>
                  <a:srgbClr val="E0F0FF"/>
                </a:solidFill>
                <a:latin typeface="Calibri" pitchFamily="34" charset="0"/>
                <a:ea typeface="Calibri" pitchFamily="34" charset="-122"/>
                <a:cs typeface="Calibri" pitchFamily="34" charset="-120"/>
              </a:rPr>
              <a:t>Concepts used in this project — explained for viva</a:t>
            </a:r>
            <a:endParaRPr lang="en-US" sz="1300" dirty="0"/>
          </a:p>
        </p:txBody>
      </p:sp>
      <p:sp>
        <p:nvSpPr>
          <p:cNvPr id="6" name="Text 4"/>
          <p:cNvSpPr/>
          <p:nvPr/>
        </p:nvSpPr>
        <p:spPr>
          <a:xfrm>
            <a:off x="8321040" y="201168"/>
            <a:ext cx="640080" cy="640080"/>
          </a:xfrm>
          <a:prstGeom prst="rect">
            <a:avLst/>
          </a:prstGeom>
          <a:noFill/>
          <a:ln/>
        </p:spPr>
        <p:txBody>
          <a:bodyPr wrap="square" lIns="0" tIns="0" rIns="0" bIns="0" rtlCol="0" anchor="ctr"/>
          <a:lstStyle/>
          <a:p>
            <a:pPr algn="ctr" indent="0" marL="0">
              <a:buNone/>
            </a:pPr>
            <a:r>
              <a:rPr lang="en-US" sz="2800" dirty="0">
                <a:solidFill>
                  <a:srgbClr val="000000"/>
                </a:solidFill>
                <a:latin typeface="Segoe UI Emoji" pitchFamily="34" charset="0"/>
                <a:ea typeface="Segoe UI Emoji" pitchFamily="34" charset="-122"/>
                <a:cs typeface="Segoe UI Emoji" pitchFamily="34" charset="-120"/>
              </a:rPr>
              <a:t>📈</a:t>
            </a:r>
            <a:endParaRPr lang="en-US" sz="2800" dirty="0"/>
          </a:p>
        </p:txBody>
      </p:sp>
      <p:sp>
        <p:nvSpPr>
          <p:cNvPr id="7" name="Shape 5"/>
          <p:cNvSpPr/>
          <p:nvPr/>
        </p:nvSpPr>
        <p:spPr>
          <a:xfrm>
            <a:off x="320040" y="1188720"/>
            <a:ext cx="4160520" cy="1719072"/>
          </a:xfrm>
          <a:prstGeom prst="rect">
            <a:avLst/>
          </a:prstGeom>
          <a:solidFill>
            <a:srgbClr val="112B52"/>
          </a:solidFill>
          <a:ln/>
          <a:effectLst>
            <a:outerShdw sx="100000" sy="100000" kx="0" ky="0" algn="bl" rotWithShape="0" blurRad="101600" dist="38100" dir="8100000">
              <a:srgbClr val="000000">
                <a:alpha val="12000"/>
              </a:srgbClr>
            </a:outerShdw>
          </a:effectLst>
        </p:spPr>
      </p:sp>
      <p:sp>
        <p:nvSpPr>
          <p:cNvPr id="8" name="Shape 6"/>
          <p:cNvSpPr/>
          <p:nvPr/>
        </p:nvSpPr>
        <p:spPr>
          <a:xfrm>
            <a:off x="320040" y="1188720"/>
            <a:ext cx="4160520" cy="347472"/>
          </a:xfrm>
          <a:prstGeom prst="rect">
            <a:avLst/>
          </a:prstGeom>
          <a:solidFill>
            <a:srgbClr val="F59E0B"/>
          </a:solidFill>
          <a:ln/>
        </p:spPr>
      </p:sp>
      <p:sp>
        <p:nvSpPr>
          <p:cNvPr id="9" name="Text 7"/>
          <p:cNvSpPr/>
          <p:nvPr/>
        </p:nvSpPr>
        <p:spPr>
          <a:xfrm>
            <a:off x="411480" y="1234440"/>
            <a:ext cx="397764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Problem Definition</a:t>
            </a:r>
            <a:endParaRPr lang="en-US" sz="1250" dirty="0"/>
          </a:p>
        </p:txBody>
      </p:sp>
      <p:sp>
        <p:nvSpPr>
          <p:cNvPr id="10" name="Shape 8"/>
          <p:cNvSpPr/>
          <p:nvPr/>
        </p:nvSpPr>
        <p:spPr>
          <a:xfrm>
            <a:off x="429768" y="1673352"/>
            <a:ext cx="109728" cy="109728"/>
          </a:xfrm>
          <a:prstGeom prst="oval">
            <a:avLst/>
          </a:prstGeom>
          <a:solidFill>
            <a:srgbClr val="F59E0B"/>
          </a:solidFill>
          <a:ln/>
        </p:spPr>
      </p:sp>
      <p:sp>
        <p:nvSpPr>
          <p:cNvPr id="11" name="Text 9"/>
          <p:cNvSpPr/>
          <p:nvPr/>
        </p:nvSpPr>
        <p:spPr>
          <a:xfrm>
            <a:off x="594360" y="1618488"/>
            <a:ext cx="3794760" cy="338328"/>
          </a:xfrm>
          <a:prstGeom prst="rect">
            <a:avLst/>
          </a:prstGeom>
          <a:noFill/>
          <a:ln/>
        </p:spPr>
        <p:txBody>
          <a:bodyPr wrap="square" lIns="0" tIns="0" rIns="0" bIns="0" rtlCol="0" anchor="ctr"/>
          <a:lstStyle/>
          <a:p>
            <a:pPr indent="0" marL="0">
              <a:buNone/>
            </a:pPr>
            <a:r>
              <a:rPr lang="en-US" sz="1000" dirty="0">
                <a:solidFill>
                  <a:srgbClr val="E0F0FF"/>
                </a:solidFill>
                <a:latin typeface="Calibri" pitchFamily="34" charset="0"/>
                <a:ea typeface="Calibri" pitchFamily="34" charset="-122"/>
                <a:cs typeface="Calibri" pitchFamily="34" charset="-120"/>
              </a:rPr>
              <a:t>Nearest hospital is NOT always best — formally defined the problem</a:t>
            </a:r>
            <a:endParaRPr lang="en-US" sz="1000" dirty="0"/>
          </a:p>
        </p:txBody>
      </p:sp>
      <p:sp>
        <p:nvSpPr>
          <p:cNvPr id="12" name="Shape 10"/>
          <p:cNvSpPr/>
          <p:nvPr/>
        </p:nvSpPr>
        <p:spPr>
          <a:xfrm>
            <a:off x="429768" y="2075688"/>
            <a:ext cx="109728" cy="109728"/>
          </a:xfrm>
          <a:prstGeom prst="oval">
            <a:avLst/>
          </a:prstGeom>
          <a:solidFill>
            <a:srgbClr val="F59E0B"/>
          </a:solidFill>
          <a:ln/>
        </p:spPr>
      </p:sp>
      <p:sp>
        <p:nvSpPr>
          <p:cNvPr id="13" name="Text 11"/>
          <p:cNvSpPr/>
          <p:nvPr/>
        </p:nvSpPr>
        <p:spPr>
          <a:xfrm>
            <a:off x="594360" y="2020824"/>
            <a:ext cx="3794760" cy="338328"/>
          </a:xfrm>
          <a:prstGeom prst="rect">
            <a:avLst/>
          </a:prstGeom>
          <a:noFill/>
          <a:ln/>
        </p:spPr>
        <p:txBody>
          <a:bodyPr wrap="square" lIns="0" tIns="0" rIns="0" bIns="0" rtlCol="0" anchor="ctr"/>
          <a:lstStyle/>
          <a:p>
            <a:pPr indent="0" marL="0">
              <a:buNone/>
            </a:pPr>
            <a:r>
              <a:rPr lang="en-US" sz="1000" dirty="0">
                <a:solidFill>
                  <a:srgbClr val="E0F0FF"/>
                </a:solidFill>
                <a:latin typeface="Calibri" pitchFamily="34" charset="0"/>
                <a:ea typeface="Calibri" pitchFamily="34" charset="-122"/>
                <a:cs typeface="Calibri" pitchFamily="34" charset="-120"/>
              </a:rPr>
              <a:t>Analysed factors: emergency type, ICU, beds, road distance</a:t>
            </a:r>
            <a:endParaRPr lang="en-US" sz="1000" dirty="0"/>
          </a:p>
        </p:txBody>
      </p:sp>
      <p:sp>
        <p:nvSpPr>
          <p:cNvPr id="14" name="Shape 12"/>
          <p:cNvSpPr/>
          <p:nvPr/>
        </p:nvSpPr>
        <p:spPr>
          <a:xfrm>
            <a:off x="429768" y="2478024"/>
            <a:ext cx="109728" cy="109728"/>
          </a:xfrm>
          <a:prstGeom prst="oval">
            <a:avLst/>
          </a:prstGeom>
          <a:solidFill>
            <a:srgbClr val="F59E0B"/>
          </a:solidFill>
          <a:ln/>
        </p:spPr>
      </p:sp>
      <p:sp>
        <p:nvSpPr>
          <p:cNvPr id="15" name="Text 13"/>
          <p:cNvSpPr/>
          <p:nvPr/>
        </p:nvSpPr>
        <p:spPr>
          <a:xfrm>
            <a:off x="594360" y="2423160"/>
            <a:ext cx="3794760" cy="338328"/>
          </a:xfrm>
          <a:prstGeom prst="rect">
            <a:avLst/>
          </a:prstGeom>
          <a:noFill/>
          <a:ln/>
        </p:spPr>
        <p:txBody>
          <a:bodyPr wrap="square" lIns="0" tIns="0" rIns="0" bIns="0" rtlCol="0" anchor="ctr"/>
          <a:lstStyle/>
          <a:p>
            <a:pPr indent="0" marL="0">
              <a:buNone/>
            </a:pPr>
            <a:r>
              <a:rPr lang="en-US" sz="1000" dirty="0">
                <a:solidFill>
                  <a:srgbClr val="E0F0FF"/>
                </a:solidFill>
                <a:latin typeface="Calibri" pitchFamily="34" charset="0"/>
                <a:ea typeface="Calibri" pitchFamily="34" charset="-122"/>
                <a:cs typeface="Calibri" pitchFamily="34" charset="-120"/>
              </a:rPr>
              <a:t>This is called Requirements Analysis in algorithm design</a:t>
            </a:r>
            <a:endParaRPr lang="en-US" sz="1000" dirty="0"/>
          </a:p>
        </p:txBody>
      </p:sp>
      <p:sp>
        <p:nvSpPr>
          <p:cNvPr id="16" name="Shape 14"/>
          <p:cNvSpPr/>
          <p:nvPr/>
        </p:nvSpPr>
        <p:spPr>
          <a:xfrm>
            <a:off x="4709160" y="1188720"/>
            <a:ext cx="4160520" cy="1719072"/>
          </a:xfrm>
          <a:prstGeom prst="rect">
            <a:avLst/>
          </a:prstGeom>
          <a:solidFill>
            <a:srgbClr val="112B52"/>
          </a:solidFill>
          <a:ln/>
          <a:effectLst>
            <a:outerShdw sx="100000" sy="100000" kx="0" ky="0" algn="bl" rotWithShape="0" blurRad="101600" dist="38100" dir="8100000">
              <a:srgbClr val="000000">
                <a:alpha val="12000"/>
              </a:srgbClr>
            </a:outerShdw>
          </a:effectLst>
        </p:spPr>
      </p:sp>
      <p:sp>
        <p:nvSpPr>
          <p:cNvPr id="17" name="Shape 15"/>
          <p:cNvSpPr/>
          <p:nvPr/>
        </p:nvSpPr>
        <p:spPr>
          <a:xfrm>
            <a:off x="4709160" y="1188720"/>
            <a:ext cx="4160520" cy="347472"/>
          </a:xfrm>
          <a:prstGeom prst="rect">
            <a:avLst/>
          </a:prstGeom>
          <a:solidFill>
            <a:srgbClr val="F59E0B"/>
          </a:solidFill>
          <a:ln/>
        </p:spPr>
      </p:sp>
      <p:sp>
        <p:nvSpPr>
          <p:cNvPr id="18" name="Text 16"/>
          <p:cNvSpPr/>
          <p:nvPr/>
        </p:nvSpPr>
        <p:spPr>
          <a:xfrm>
            <a:off x="4800600" y="1234440"/>
            <a:ext cx="397764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Brute-Force vs Smart Search</a:t>
            </a:r>
            <a:endParaRPr lang="en-US" sz="1250" dirty="0"/>
          </a:p>
        </p:txBody>
      </p:sp>
      <p:sp>
        <p:nvSpPr>
          <p:cNvPr id="19" name="Shape 17"/>
          <p:cNvSpPr/>
          <p:nvPr/>
        </p:nvSpPr>
        <p:spPr>
          <a:xfrm>
            <a:off x="4818888" y="1673352"/>
            <a:ext cx="109728" cy="109728"/>
          </a:xfrm>
          <a:prstGeom prst="oval">
            <a:avLst/>
          </a:prstGeom>
          <a:solidFill>
            <a:srgbClr val="F59E0B"/>
          </a:solidFill>
          <a:ln/>
        </p:spPr>
      </p:sp>
      <p:sp>
        <p:nvSpPr>
          <p:cNvPr id="20" name="Text 18"/>
          <p:cNvSpPr/>
          <p:nvPr/>
        </p:nvSpPr>
        <p:spPr>
          <a:xfrm>
            <a:off x="4983480" y="1618488"/>
            <a:ext cx="3794760" cy="338328"/>
          </a:xfrm>
          <a:prstGeom prst="rect">
            <a:avLst/>
          </a:prstGeom>
          <a:noFill/>
          <a:ln/>
        </p:spPr>
        <p:txBody>
          <a:bodyPr wrap="square" lIns="0" tIns="0" rIns="0" bIns="0" rtlCol="0" anchor="ctr"/>
          <a:lstStyle/>
          <a:p>
            <a:pPr indent="0" marL="0">
              <a:buNone/>
            </a:pPr>
            <a:r>
              <a:rPr lang="en-US" sz="1000" dirty="0">
                <a:solidFill>
                  <a:srgbClr val="E0F0FF"/>
                </a:solidFill>
                <a:latin typeface="Calibri" pitchFamily="34" charset="0"/>
                <a:ea typeface="Calibri" pitchFamily="34" charset="-122"/>
                <a:cs typeface="Calibri" pitchFamily="34" charset="-120"/>
              </a:rPr>
              <a:t>Brute-force: check every hospital one by one — works, but slow</a:t>
            </a:r>
            <a:endParaRPr lang="en-US" sz="1000" dirty="0"/>
          </a:p>
        </p:txBody>
      </p:sp>
      <p:sp>
        <p:nvSpPr>
          <p:cNvPr id="21" name="Shape 19"/>
          <p:cNvSpPr/>
          <p:nvPr/>
        </p:nvSpPr>
        <p:spPr>
          <a:xfrm>
            <a:off x="4818888" y="2075688"/>
            <a:ext cx="109728" cy="109728"/>
          </a:xfrm>
          <a:prstGeom prst="oval">
            <a:avLst/>
          </a:prstGeom>
          <a:solidFill>
            <a:srgbClr val="F59E0B"/>
          </a:solidFill>
          <a:ln/>
        </p:spPr>
      </p:sp>
      <p:sp>
        <p:nvSpPr>
          <p:cNvPr id="22" name="Text 20"/>
          <p:cNvSpPr/>
          <p:nvPr/>
        </p:nvSpPr>
        <p:spPr>
          <a:xfrm>
            <a:off x="4983480" y="2020824"/>
            <a:ext cx="3794760" cy="338328"/>
          </a:xfrm>
          <a:prstGeom prst="rect">
            <a:avLst/>
          </a:prstGeom>
          <a:noFill/>
          <a:ln/>
        </p:spPr>
        <p:txBody>
          <a:bodyPr wrap="square" lIns="0" tIns="0" rIns="0" bIns="0" rtlCol="0" anchor="ctr"/>
          <a:lstStyle/>
          <a:p>
            <a:pPr indent="0" marL="0">
              <a:buNone/>
            </a:pPr>
            <a:r>
              <a:rPr lang="en-US" sz="1000" dirty="0">
                <a:solidFill>
                  <a:srgbClr val="E0F0FF"/>
                </a:solidFill>
                <a:latin typeface="Calibri" pitchFamily="34" charset="0"/>
                <a:ea typeface="Calibri" pitchFamily="34" charset="-122"/>
                <a:cs typeface="Calibri" pitchFamily="34" charset="-120"/>
              </a:rPr>
              <a:t>Smart: filter hospitals first, then find best route — more efficient</a:t>
            </a:r>
            <a:endParaRPr lang="en-US" sz="1000" dirty="0"/>
          </a:p>
        </p:txBody>
      </p:sp>
      <p:sp>
        <p:nvSpPr>
          <p:cNvPr id="23" name="Shape 21"/>
          <p:cNvSpPr/>
          <p:nvPr/>
        </p:nvSpPr>
        <p:spPr>
          <a:xfrm>
            <a:off x="4818888" y="2478024"/>
            <a:ext cx="109728" cy="109728"/>
          </a:xfrm>
          <a:prstGeom prst="oval">
            <a:avLst/>
          </a:prstGeom>
          <a:solidFill>
            <a:srgbClr val="F59E0B"/>
          </a:solidFill>
          <a:ln/>
        </p:spPr>
      </p:sp>
      <p:sp>
        <p:nvSpPr>
          <p:cNvPr id="24" name="Text 22"/>
          <p:cNvSpPr/>
          <p:nvPr/>
        </p:nvSpPr>
        <p:spPr>
          <a:xfrm>
            <a:off x="4983480" y="2423160"/>
            <a:ext cx="3794760" cy="338328"/>
          </a:xfrm>
          <a:prstGeom prst="rect">
            <a:avLst/>
          </a:prstGeom>
          <a:noFill/>
          <a:ln/>
        </p:spPr>
        <p:txBody>
          <a:bodyPr wrap="square" lIns="0" tIns="0" rIns="0" bIns="0" rtlCol="0" anchor="ctr"/>
          <a:lstStyle/>
          <a:p>
            <a:pPr indent="0" marL="0">
              <a:buNone/>
            </a:pPr>
            <a:r>
              <a:rPr lang="en-US" sz="1000" dirty="0">
                <a:solidFill>
                  <a:srgbClr val="E0F0FF"/>
                </a:solidFill>
                <a:latin typeface="Calibri" pitchFamily="34" charset="0"/>
                <a:ea typeface="Calibri" pitchFamily="34" charset="-122"/>
                <a:cs typeface="Calibri" pitchFamily="34" charset="-120"/>
              </a:rPr>
              <a:t>Comparison shows you understand algorithm trade-offs</a:t>
            </a:r>
            <a:endParaRPr lang="en-US" sz="1000" dirty="0"/>
          </a:p>
        </p:txBody>
      </p:sp>
      <p:sp>
        <p:nvSpPr>
          <p:cNvPr id="25" name="Shape 23"/>
          <p:cNvSpPr/>
          <p:nvPr/>
        </p:nvSpPr>
        <p:spPr>
          <a:xfrm>
            <a:off x="320040" y="3017520"/>
            <a:ext cx="4160520" cy="1719072"/>
          </a:xfrm>
          <a:prstGeom prst="rect">
            <a:avLst/>
          </a:prstGeom>
          <a:solidFill>
            <a:srgbClr val="112B52"/>
          </a:solidFill>
          <a:ln/>
          <a:effectLst>
            <a:outerShdw sx="100000" sy="100000" kx="0" ky="0" algn="bl" rotWithShape="0" blurRad="101600" dist="38100" dir="8100000">
              <a:srgbClr val="000000">
                <a:alpha val="12000"/>
              </a:srgbClr>
            </a:outerShdw>
          </a:effectLst>
        </p:spPr>
      </p:sp>
      <p:sp>
        <p:nvSpPr>
          <p:cNvPr id="26" name="Shape 24"/>
          <p:cNvSpPr/>
          <p:nvPr/>
        </p:nvSpPr>
        <p:spPr>
          <a:xfrm>
            <a:off x="320040" y="3017520"/>
            <a:ext cx="4160520" cy="347472"/>
          </a:xfrm>
          <a:prstGeom prst="rect">
            <a:avLst/>
          </a:prstGeom>
          <a:solidFill>
            <a:srgbClr val="F59E0B"/>
          </a:solidFill>
          <a:ln/>
        </p:spPr>
      </p:sp>
      <p:sp>
        <p:nvSpPr>
          <p:cNvPr id="27" name="Text 25"/>
          <p:cNvSpPr/>
          <p:nvPr/>
        </p:nvSpPr>
        <p:spPr>
          <a:xfrm>
            <a:off x="411480" y="3063240"/>
            <a:ext cx="397764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Why Dijkstra? (Justification)</a:t>
            </a:r>
            <a:endParaRPr lang="en-US" sz="1250" dirty="0"/>
          </a:p>
        </p:txBody>
      </p:sp>
      <p:sp>
        <p:nvSpPr>
          <p:cNvPr id="28" name="Shape 26"/>
          <p:cNvSpPr/>
          <p:nvPr/>
        </p:nvSpPr>
        <p:spPr>
          <a:xfrm>
            <a:off x="429768" y="3502152"/>
            <a:ext cx="109728" cy="109728"/>
          </a:xfrm>
          <a:prstGeom prst="oval">
            <a:avLst/>
          </a:prstGeom>
          <a:solidFill>
            <a:srgbClr val="F59E0B"/>
          </a:solidFill>
          <a:ln/>
        </p:spPr>
      </p:sp>
      <p:sp>
        <p:nvSpPr>
          <p:cNvPr id="29" name="Text 27"/>
          <p:cNvSpPr/>
          <p:nvPr/>
        </p:nvSpPr>
        <p:spPr>
          <a:xfrm>
            <a:off x="594360" y="3447288"/>
            <a:ext cx="3794760" cy="338328"/>
          </a:xfrm>
          <a:prstGeom prst="rect">
            <a:avLst/>
          </a:prstGeom>
          <a:noFill/>
          <a:ln/>
        </p:spPr>
        <p:txBody>
          <a:bodyPr wrap="square" lIns="0" tIns="0" rIns="0" bIns="0" rtlCol="0" anchor="ctr"/>
          <a:lstStyle/>
          <a:p>
            <a:pPr indent="0" marL="0">
              <a:buNone/>
            </a:pPr>
            <a:r>
              <a:rPr lang="en-US" sz="1000" dirty="0">
                <a:solidFill>
                  <a:srgbClr val="E0F0FF"/>
                </a:solidFill>
                <a:latin typeface="Calibri" pitchFamily="34" charset="0"/>
                <a:ea typeface="Calibri" pitchFamily="34" charset="-122"/>
                <a:cs typeface="Calibri" pitchFamily="34" charset="-120"/>
              </a:rPr>
              <a:t>Roads have different distances (weights) — need a weighted-path algorithm</a:t>
            </a:r>
            <a:endParaRPr lang="en-US" sz="1000" dirty="0"/>
          </a:p>
        </p:txBody>
      </p:sp>
      <p:sp>
        <p:nvSpPr>
          <p:cNvPr id="30" name="Shape 28"/>
          <p:cNvSpPr/>
          <p:nvPr/>
        </p:nvSpPr>
        <p:spPr>
          <a:xfrm>
            <a:off x="429768" y="3904488"/>
            <a:ext cx="109728" cy="109728"/>
          </a:xfrm>
          <a:prstGeom prst="oval">
            <a:avLst/>
          </a:prstGeom>
          <a:solidFill>
            <a:srgbClr val="F59E0B"/>
          </a:solidFill>
          <a:ln/>
        </p:spPr>
      </p:sp>
      <p:sp>
        <p:nvSpPr>
          <p:cNvPr id="31" name="Text 29"/>
          <p:cNvSpPr/>
          <p:nvPr/>
        </p:nvSpPr>
        <p:spPr>
          <a:xfrm>
            <a:off x="594360" y="3849624"/>
            <a:ext cx="3794760" cy="338328"/>
          </a:xfrm>
          <a:prstGeom prst="rect">
            <a:avLst/>
          </a:prstGeom>
          <a:noFill/>
          <a:ln/>
        </p:spPr>
        <p:txBody>
          <a:bodyPr wrap="square" lIns="0" tIns="0" rIns="0" bIns="0" rtlCol="0" anchor="ctr"/>
          <a:lstStyle/>
          <a:p>
            <a:pPr indent="0" marL="0">
              <a:buNone/>
            </a:pPr>
            <a:r>
              <a:rPr lang="en-US" sz="1000" dirty="0">
                <a:solidFill>
                  <a:srgbClr val="E0F0FF"/>
                </a:solidFill>
                <a:latin typeface="Calibri" pitchFamily="34" charset="0"/>
                <a:ea typeface="Calibri" pitchFamily="34" charset="-122"/>
                <a:cs typeface="Calibri" pitchFamily="34" charset="-120"/>
              </a:rPr>
              <a:t>Dijkstra always finds the shortest path in any weighted graph</a:t>
            </a:r>
            <a:endParaRPr lang="en-US" sz="1000" dirty="0"/>
          </a:p>
        </p:txBody>
      </p:sp>
      <p:sp>
        <p:nvSpPr>
          <p:cNvPr id="32" name="Shape 30"/>
          <p:cNvSpPr/>
          <p:nvPr/>
        </p:nvSpPr>
        <p:spPr>
          <a:xfrm>
            <a:off x="429768" y="4306824"/>
            <a:ext cx="109728" cy="109728"/>
          </a:xfrm>
          <a:prstGeom prst="oval">
            <a:avLst/>
          </a:prstGeom>
          <a:solidFill>
            <a:srgbClr val="F59E0B"/>
          </a:solidFill>
          <a:ln/>
        </p:spPr>
      </p:sp>
      <p:sp>
        <p:nvSpPr>
          <p:cNvPr id="33" name="Text 31"/>
          <p:cNvSpPr/>
          <p:nvPr/>
        </p:nvSpPr>
        <p:spPr>
          <a:xfrm>
            <a:off x="594360" y="4251960"/>
            <a:ext cx="3794760" cy="338328"/>
          </a:xfrm>
          <a:prstGeom prst="rect">
            <a:avLst/>
          </a:prstGeom>
          <a:noFill/>
          <a:ln/>
        </p:spPr>
        <p:txBody>
          <a:bodyPr wrap="square" lIns="0" tIns="0" rIns="0" bIns="0" rtlCol="0" anchor="ctr"/>
          <a:lstStyle/>
          <a:p>
            <a:pPr indent="0" marL="0">
              <a:buNone/>
            </a:pPr>
            <a:r>
              <a:rPr lang="en-US" sz="1000" dirty="0">
                <a:solidFill>
                  <a:srgbClr val="E0F0FF"/>
                </a:solidFill>
                <a:latin typeface="Calibri" pitchFamily="34" charset="0"/>
                <a:ea typeface="Calibri" pitchFamily="34" charset="-122"/>
                <a:cs typeface="Calibri" pitchFamily="34" charset="-120"/>
              </a:rPr>
              <a:t>BFS = unweighted only; Dijkstra = weighted (like real roads)</a:t>
            </a:r>
            <a:endParaRPr lang="en-US" sz="1000" dirty="0"/>
          </a:p>
        </p:txBody>
      </p:sp>
      <p:sp>
        <p:nvSpPr>
          <p:cNvPr id="34" name="Shape 32"/>
          <p:cNvSpPr/>
          <p:nvPr/>
        </p:nvSpPr>
        <p:spPr>
          <a:xfrm>
            <a:off x="4709160" y="3017520"/>
            <a:ext cx="4160520" cy="1719072"/>
          </a:xfrm>
          <a:prstGeom prst="rect">
            <a:avLst/>
          </a:prstGeom>
          <a:solidFill>
            <a:srgbClr val="112B52"/>
          </a:solidFill>
          <a:ln/>
          <a:effectLst>
            <a:outerShdw sx="100000" sy="100000" kx="0" ky="0" algn="bl" rotWithShape="0" blurRad="101600" dist="38100" dir="8100000">
              <a:srgbClr val="000000">
                <a:alpha val="12000"/>
              </a:srgbClr>
            </a:outerShdw>
          </a:effectLst>
        </p:spPr>
      </p:sp>
      <p:sp>
        <p:nvSpPr>
          <p:cNvPr id="35" name="Shape 33"/>
          <p:cNvSpPr/>
          <p:nvPr/>
        </p:nvSpPr>
        <p:spPr>
          <a:xfrm>
            <a:off x="4709160" y="3017520"/>
            <a:ext cx="4160520" cy="347472"/>
          </a:xfrm>
          <a:prstGeom prst="rect">
            <a:avLst/>
          </a:prstGeom>
          <a:solidFill>
            <a:srgbClr val="F59E0B"/>
          </a:solidFill>
          <a:ln/>
        </p:spPr>
      </p:sp>
      <p:sp>
        <p:nvSpPr>
          <p:cNvPr id="36" name="Text 34"/>
          <p:cNvSpPr/>
          <p:nvPr/>
        </p:nvSpPr>
        <p:spPr>
          <a:xfrm>
            <a:off x="4800600" y="3063240"/>
            <a:ext cx="397764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Time Complexity</a:t>
            </a:r>
            <a:endParaRPr lang="en-US" sz="1250" dirty="0"/>
          </a:p>
        </p:txBody>
      </p:sp>
      <p:sp>
        <p:nvSpPr>
          <p:cNvPr id="37" name="Shape 35"/>
          <p:cNvSpPr/>
          <p:nvPr/>
        </p:nvSpPr>
        <p:spPr>
          <a:xfrm>
            <a:off x="4818888" y="3502152"/>
            <a:ext cx="109728" cy="109728"/>
          </a:xfrm>
          <a:prstGeom prst="oval">
            <a:avLst/>
          </a:prstGeom>
          <a:solidFill>
            <a:srgbClr val="F59E0B"/>
          </a:solidFill>
          <a:ln/>
        </p:spPr>
      </p:sp>
      <p:sp>
        <p:nvSpPr>
          <p:cNvPr id="38" name="Text 36"/>
          <p:cNvSpPr/>
          <p:nvPr/>
        </p:nvSpPr>
        <p:spPr>
          <a:xfrm>
            <a:off x="4983480" y="3447288"/>
            <a:ext cx="3794760" cy="338328"/>
          </a:xfrm>
          <a:prstGeom prst="rect">
            <a:avLst/>
          </a:prstGeom>
          <a:noFill/>
          <a:ln/>
        </p:spPr>
        <p:txBody>
          <a:bodyPr wrap="square" lIns="0" tIns="0" rIns="0" bIns="0" rtlCol="0" anchor="ctr"/>
          <a:lstStyle/>
          <a:p>
            <a:pPr indent="0" marL="0">
              <a:buNone/>
            </a:pPr>
            <a:r>
              <a:rPr lang="en-US" sz="1000" dirty="0">
                <a:solidFill>
                  <a:srgbClr val="E0F0FF"/>
                </a:solidFill>
                <a:latin typeface="Calibri" pitchFamily="34" charset="0"/>
                <a:ea typeface="Calibri" pitchFamily="34" charset="-122"/>
                <a:cs typeface="Calibri" pitchFamily="34" charset="-120"/>
              </a:rPr>
              <a:t>BFS / DFS: O(V + E) — visits every node and edge exactly once</a:t>
            </a:r>
            <a:endParaRPr lang="en-US" sz="1000" dirty="0"/>
          </a:p>
        </p:txBody>
      </p:sp>
      <p:sp>
        <p:nvSpPr>
          <p:cNvPr id="39" name="Shape 37"/>
          <p:cNvSpPr/>
          <p:nvPr/>
        </p:nvSpPr>
        <p:spPr>
          <a:xfrm>
            <a:off x="4818888" y="3904488"/>
            <a:ext cx="109728" cy="109728"/>
          </a:xfrm>
          <a:prstGeom prst="oval">
            <a:avLst/>
          </a:prstGeom>
          <a:solidFill>
            <a:srgbClr val="F59E0B"/>
          </a:solidFill>
          <a:ln/>
        </p:spPr>
      </p:sp>
      <p:sp>
        <p:nvSpPr>
          <p:cNvPr id="40" name="Text 38"/>
          <p:cNvSpPr/>
          <p:nvPr/>
        </p:nvSpPr>
        <p:spPr>
          <a:xfrm>
            <a:off x="4983480" y="3849624"/>
            <a:ext cx="3794760" cy="338328"/>
          </a:xfrm>
          <a:prstGeom prst="rect">
            <a:avLst/>
          </a:prstGeom>
          <a:noFill/>
          <a:ln/>
        </p:spPr>
        <p:txBody>
          <a:bodyPr wrap="square" lIns="0" tIns="0" rIns="0" bIns="0" rtlCol="0" anchor="ctr"/>
          <a:lstStyle/>
          <a:p>
            <a:pPr indent="0" marL="0">
              <a:buNone/>
            </a:pPr>
            <a:r>
              <a:rPr lang="en-US" sz="1000" dirty="0">
                <a:solidFill>
                  <a:srgbClr val="E0F0FF"/>
                </a:solidFill>
                <a:latin typeface="Calibri" pitchFamily="34" charset="0"/>
                <a:ea typeface="Calibri" pitchFamily="34" charset="-122"/>
                <a:cs typeface="Calibri" pitchFamily="34" charset="-120"/>
              </a:rPr>
              <a:t>Dijkstra: O((V + E) log V) — uses a priority queue for greedy picks</a:t>
            </a:r>
            <a:endParaRPr lang="en-US" sz="1000" dirty="0"/>
          </a:p>
        </p:txBody>
      </p:sp>
      <p:sp>
        <p:nvSpPr>
          <p:cNvPr id="41" name="Shape 39"/>
          <p:cNvSpPr/>
          <p:nvPr/>
        </p:nvSpPr>
        <p:spPr>
          <a:xfrm>
            <a:off x="4818888" y="4306824"/>
            <a:ext cx="109728" cy="109728"/>
          </a:xfrm>
          <a:prstGeom prst="oval">
            <a:avLst/>
          </a:prstGeom>
          <a:solidFill>
            <a:srgbClr val="F59E0B"/>
          </a:solidFill>
          <a:ln/>
        </p:spPr>
      </p:sp>
      <p:sp>
        <p:nvSpPr>
          <p:cNvPr id="42" name="Text 40"/>
          <p:cNvSpPr/>
          <p:nvPr/>
        </p:nvSpPr>
        <p:spPr>
          <a:xfrm>
            <a:off x="4983480" y="4251960"/>
            <a:ext cx="3794760" cy="338328"/>
          </a:xfrm>
          <a:prstGeom prst="rect">
            <a:avLst/>
          </a:prstGeom>
          <a:noFill/>
          <a:ln/>
        </p:spPr>
        <p:txBody>
          <a:bodyPr wrap="square" lIns="0" tIns="0" rIns="0" bIns="0" rtlCol="0" anchor="ctr"/>
          <a:lstStyle/>
          <a:p>
            <a:pPr indent="0" marL="0">
              <a:buNone/>
            </a:pPr>
            <a:r>
              <a:rPr lang="en-US" sz="1000" dirty="0">
                <a:solidFill>
                  <a:srgbClr val="E0F0FF"/>
                </a:solidFill>
                <a:latin typeface="Calibri" pitchFamily="34" charset="0"/>
                <a:ea typeface="Calibri" pitchFamily="34" charset="-122"/>
                <a:cs typeface="Calibri" pitchFamily="34" charset="-120"/>
              </a:rPr>
              <a:t>A* Search: O(E) best case with a perfect heuristic function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F"/>
        </a:solidFill>
      </p:bgPr>
    </p:bg>
    <p:spTree>
      <p:nvGrpSpPr>
        <p:cNvPr id="1" name=""/>
        <p:cNvGrpSpPr/>
        <p:nvPr/>
      </p:nvGrpSpPr>
      <p:grpSpPr>
        <a:xfrm>
          <a:off x="0" y="0"/>
          <a:ext cx="0" cy="0"/>
          <a:chOff x="0" y="0"/>
          <a:chExt cx="0" cy="0"/>
        </a:xfrm>
      </p:grpSpPr>
      <p:sp>
        <p:nvSpPr>
          <p:cNvPr id="2" name="Shape 0"/>
          <p:cNvSpPr/>
          <p:nvPr/>
        </p:nvSpPr>
        <p:spPr>
          <a:xfrm>
            <a:off x="0" y="0"/>
            <a:ext cx="9144000" cy="1051560"/>
          </a:xfrm>
          <a:prstGeom prst="rect">
            <a:avLst/>
          </a:prstGeom>
          <a:solidFill>
            <a:srgbClr val="0F2D1E"/>
          </a:solidFill>
          <a:ln/>
        </p:spPr>
      </p:sp>
      <p:sp>
        <p:nvSpPr>
          <p:cNvPr id="3" name="Shape 1"/>
          <p:cNvSpPr/>
          <p:nvPr/>
        </p:nvSpPr>
        <p:spPr>
          <a:xfrm>
            <a:off x="0" y="0"/>
            <a:ext cx="164592" cy="5143500"/>
          </a:xfrm>
          <a:prstGeom prst="rect">
            <a:avLst/>
          </a:prstGeom>
          <a:solidFill>
            <a:srgbClr val="10B981"/>
          </a:solidFill>
          <a:ln/>
        </p:spPr>
      </p:sp>
      <p:sp>
        <p:nvSpPr>
          <p:cNvPr id="4" name="Text 2"/>
          <p:cNvSpPr/>
          <p:nvPr/>
        </p:nvSpPr>
        <p:spPr>
          <a:xfrm>
            <a:off x="320040" y="54864"/>
            <a:ext cx="8046720" cy="502920"/>
          </a:xfrm>
          <a:prstGeom prst="rect">
            <a:avLst/>
          </a:prstGeom>
          <a:noFill/>
          <a:ln/>
        </p:spPr>
        <p:txBody>
          <a:bodyPr wrap="square" lIns="0" tIns="0" rIns="0" bIns="0" rtlCol="0" anchor="ctr"/>
          <a:lstStyle/>
          <a:p>
            <a:pPr indent="0" marL="0">
              <a:buNone/>
            </a:pPr>
            <a:r>
              <a:rPr lang="en-US" sz="2200" b="1" dirty="0">
                <a:solidFill>
                  <a:srgbClr val="10B981"/>
                </a:solidFill>
                <a:latin typeface="Calibri" pitchFamily="34" charset="0"/>
                <a:ea typeface="Calibri" pitchFamily="34" charset="-122"/>
                <a:cs typeface="Calibri" pitchFamily="34" charset="-120"/>
              </a:rPr>
              <a:t>BCS402  ·  Advanced Java</a:t>
            </a:r>
            <a:endParaRPr lang="en-US" sz="2200" dirty="0"/>
          </a:p>
        </p:txBody>
      </p:sp>
      <p:sp>
        <p:nvSpPr>
          <p:cNvPr id="5" name="Text 3"/>
          <p:cNvSpPr/>
          <p:nvPr/>
        </p:nvSpPr>
        <p:spPr>
          <a:xfrm>
            <a:off x="320040" y="576072"/>
            <a:ext cx="8046720" cy="347472"/>
          </a:xfrm>
          <a:prstGeom prst="rect">
            <a:avLst/>
          </a:prstGeom>
          <a:noFill/>
          <a:ln/>
        </p:spPr>
        <p:txBody>
          <a:bodyPr wrap="square" lIns="0" tIns="0" rIns="0" bIns="0" rtlCol="0" anchor="ctr"/>
          <a:lstStyle/>
          <a:p>
            <a:pPr indent="0" marL="0">
              <a:buNone/>
            </a:pPr>
            <a:r>
              <a:rPr lang="en-US" sz="1300" i="1" dirty="0">
                <a:solidFill>
                  <a:srgbClr val="E0F0FF"/>
                </a:solidFill>
                <a:latin typeface="Calibri" pitchFamily="34" charset="0"/>
                <a:ea typeface="Calibri" pitchFamily="34" charset="-122"/>
                <a:cs typeface="Calibri" pitchFamily="34" charset="-120"/>
              </a:rPr>
              <a:t>Concepts used in this project — explained for viva</a:t>
            </a:r>
            <a:endParaRPr lang="en-US" sz="1300" dirty="0"/>
          </a:p>
        </p:txBody>
      </p:sp>
      <p:sp>
        <p:nvSpPr>
          <p:cNvPr id="6" name="Text 4"/>
          <p:cNvSpPr/>
          <p:nvPr/>
        </p:nvSpPr>
        <p:spPr>
          <a:xfrm>
            <a:off x="8321040" y="201168"/>
            <a:ext cx="640080" cy="640080"/>
          </a:xfrm>
          <a:prstGeom prst="rect">
            <a:avLst/>
          </a:prstGeom>
          <a:noFill/>
          <a:ln/>
        </p:spPr>
        <p:txBody>
          <a:bodyPr wrap="square" lIns="0" tIns="0" rIns="0" bIns="0" rtlCol="0" anchor="ctr"/>
          <a:lstStyle/>
          <a:p>
            <a:pPr algn="ctr" indent="0" marL="0">
              <a:buNone/>
            </a:pPr>
            <a:r>
              <a:rPr lang="en-US" sz="2800" dirty="0">
                <a:solidFill>
                  <a:srgbClr val="000000"/>
                </a:solidFill>
                <a:latin typeface="Segoe UI Emoji" pitchFamily="34" charset="0"/>
                <a:ea typeface="Segoe UI Emoji" pitchFamily="34" charset="-122"/>
                <a:cs typeface="Segoe UI Emoji" pitchFamily="34" charset="-120"/>
              </a:rPr>
              <a:t>💻</a:t>
            </a:r>
            <a:endParaRPr lang="en-US" sz="2800" dirty="0"/>
          </a:p>
        </p:txBody>
      </p:sp>
      <p:sp>
        <p:nvSpPr>
          <p:cNvPr id="7" name="Shape 5"/>
          <p:cNvSpPr/>
          <p:nvPr/>
        </p:nvSpPr>
        <p:spPr>
          <a:xfrm>
            <a:off x="320040" y="1188720"/>
            <a:ext cx="8503920" cy="82296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8" name="Shape 6"/>
          <p:cNvSpPr/>
          <p:nvPr/>
        </p:nvSpPr>
        <p:spPr>
          <a:xfrm>
            <a:off x="320040" y="1188720"/>
            <a:ext cx="64008" cy="822960"/>
          </a:xfrm>
          <a:prstGeom prst="rect">
            <a:avLst/>
          </a:prstGeom>
          <a:solidFill>
            <a:srgbClr val="10B981"/>
          </a:solidFill>
          <a:ln/>
        </p:spPr>
      </p:sp>
      <p:sp>
        <p:nvSpPr>
          <p:cNvPr id="9" name="Text 7"/>
          <p:cNvSpPr/>
          <p:nvPr/>
        </p:nvSpPr>
        <p:spPr>
          <a:xfrm>
            <a:off x="475488" y="1261872"/>
            <a:ext cx="5486400" cy="274320"/>
          </a:xfrm>
          <a:prstGeom prst="rect">
            <a:avLst/>
          </a:prstGeom>
          <a:noFill/>
          <a:ln/>
        </p:spPr>
        <p:txBody>
          <a:bodyPr wrap="square" lIns="0" tIns="0" rIns="0" bIns="0" rtlCol="0" anchor="ctr"/>
          <a:lstStyle/>
          <a:p>
            <a:pPr indent="0" marL="0">
              <a:buNone/>
            </a:pPr>
            <a:r>
              <a:rPr lang="en-US" sz="1300" b="1" dirty="0">
                <a:solidFill>
                  <a:srgbClr val="0F2D1E"/>
                </a:solidFill>
                <a:latin typeface="Calibri" pitchFamily="34" charset="0"/>
                <a:ea typeface="Calibri" pitchFamily="34" charset="-122"/>
                <a:cs typeface="Calibri" pitchFamily="34" charset="-120"/>
              </a:rPr>
              <a:t>Object-Oriented Programming (OOP)</a:t>
            </a:r>
            <a:endParaRPr lang="en-US" sz="1300" dirty="0"/>
          </a:p>
        </p:txBody>
      </p:sp>
      <p:sp>
        <p:nvSpPr>
          <p:cNvPr id="10" name="Text 8"/>
          <p:cNvSpPr/>
          <p:nvPr/>
        </p:nvSpPr>
        <p:spPr>
          <a:xfrm>
            <a:off x="475488" y="1563624"/>
            <a:ext cx="5440680" cy="384048"/>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Built with classes and packages — Patient, Hospital, CityGraph, each with one clear job. This is encapsulation and separation of concerns.</a:t>
            </a:r>
            <a:endParaRPr lang="en-US" sz="1050" dirty="0"/>
          </a:p>
        </p:txBody>
      </p:sp>
      <p:sp>
        <p:nvSpPr>
          <p:cNvPr id="11" name="Shape 9"/>
          <p:cNvSpPr/>
          <p:nvPr/>
        </p:nvSpPr>
        <p:spPr>
          <a:xfrm>
            <a:off x="6126480" y="1353312"/>
            <a:ext cx="2560320" cy="457200"/>
          </a:xfrm>
          <a:prstGeom prst="roundRect">
            <a:avLst>
              <a:gd name="adj" fmla="val 12000"/>
            </a:avLst>
          </a:prstGeom>
          <a:solidFill>
            <a:srgbClr val="10B981"/>
          </a:solidFill>
          <a:ln/>
        </p:spPr>
      </p:sp>
      <p:sp>
        <p:nvSpPr>
          <p:cNvPr id="12" name="Text 10"/>
          <p:cNvSpPr/>
          <p:nvPr/>
        </p:nvSpPr>
        <p:spPr>
          <a:xfrm>
            <a:off x="6126480" y="1353312"/>
            <a:ext cx="2560320"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Classes · Packages · Encapsulation</a:t>
            </a:r>
            <a:endParaRPr lang="en-US" sz="900" dirty="0"/>
          </a:p>
        </p:txBody>
      </p:sp>
      <p:sp>
        <p:nvSpPr>
          <p:cNvPr id="13" name="Shape 11"/>
          <p:cNvSpPr/>
          <p:nvPr/>
        </p:nvSpPr>
        <p:spPr>
          <a:xfrm>
            <a:off x="320040" y="2121408"/>
            <a:ext cx="8503920" cy="82296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4" name="Shape 12"/>
          <p:cNvSpPr/>
          <p:nvPr/>
        </p:nvSpPr>
        <p:spPr>
          <a:xfrm>
            <a:off x="320040" y="2121408"/>
            <a:ext cx="64008" cy="822960"/>
          </a:xfrm>
          <a:prstGeom prst="rect">
            <a:avLst/>
          </a:prstGeom>
          <a:solidFill>
            <a:srgbClr val="10B981"/>
          </a:solidFill>
          <a:ln/>
        </p:spPr>
      </p:sp>
      <p:sp>
        <p:nvSpPr>
          <p:cNvPr id="15" name="Text 13"/>
          <p:cNvSpPr/>
          <p:nvPr/>
        </p:nvSpPr>
        <p:spPr>
          <a:xfrm>
            <a:off x="475488" y="2194560"/>
            <a:ext cx="5486400" cy="274320"/>
          </a:xfrm>
          <a:prstGeom prst="rect">
            <a:avLst/>
          </a:prstGeom>
          <a:noFill/>
          <a:ln/>
        </p:spPr>
        <p:txBody>
          <a:bodyPr wrap="square" lIns="0" tIns="0" rIns="0" bIns="0" rtlCol="0" anchor="ctr"/>
          <a:lstStyle/>
          <a:p>
            <a:pPr indent="0" marL="0">
              <a:buNone/>
            </a:pPr>
            <a:r>
              <a:rPr lang="en-US" sz="1300" b="1" dirty="0">
                <a:solidFill>
                  <a:srgbClr val="0F2D1E"/>
                </a:solidFill>
                <a:latin typeface="Calibri" pitchFamily="34" charset="0"/>
                <a:ea typeface="Calibri" pitchFamily="34" charset="-122"/>
                <a:cs typeface="Calibri" pitchFamily="34" charset="-120"/>
              </a:rPr>
              <a:t>Java Collections Framework</a:t>
            </a:r>
            <a:endParaRPr lang="en-US" sz="1300" dirty="0"/>
          </a:p>
        </p:txBody>
      </p:sp>
      <p:sp>
        <p:nvSpPr>
          <p:cNvPr id="16" name="Text 14"/>
          <p:cNvSpPr/>
          <p:nvPr/>
        </p:nvSpPr>
        <p:spPr>
          <a:xfrm>
            <a:off x="475488" y="2496312"/>
            <a:ext cx="5440680" cy="384048"/>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Adjacency list uses HashMap + ArrayList. Dijkstra uses PriorityQueue. These are real Java Collections solving a real algorithmic problem.</a:t>
            </a:r>
            <a:endParaRPr lang="en-US" sz="1050" dirty="0"/>
          </a:p>
        </p:txBody>
      </p:sp>
      <p:sp>
        <p:nvSpPr>
          <p:cNvPr id="17" name="Shape 15"/>
          <p:cNvSpPr/>
          <p:nvPr/>
        </p:nvSpPr>
        <p:spPr>
          <a:xfrm>
            <a:off x="6126480" y="2286000"/>
            <a:ext cx="2560320" cy="457200"/>
          </a:xfrm>
          <a:prstGeom prst="roundRect">
            <a:avLst>
              <a:gd name="adj" fmla="val 12000"/>
            </a:avLst>
          </a:prstGeom>
          <a:solidFill>
            <a:srgbClr val="10B981"/>
          </a:solidFill>
          <a:ln/>
        </p:spPr>
      </p:sp>
      <p:sp>
        <p:nvSpPr>
          <p:cNvPr id="18" name="Text 16"/>
          <p:cNvSpPr/>
          <p:nvPr/>
        </p:nvSpPr>
        <p:spPr>
          <a:xfrm>
            <a:off x="6126480" y="2286000"/>
            <a:ext cx="2560320"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HashMap · ArrayList · PriorityQueue</a:t>
            </a:r>
            <a:endParaRPr lang="en-US" sz="900" dirty="0"/>
          </a:p>
        </p:txBody>
      </p:sp>
      <p:sp>
        <p:nvSpPr>
          <p:cNvPr id="19" name="Shape 17"/>
          <p:cNvSpPr/>
          <p:nvPr/>
        </p:nvSpPr>
        <p:spPr>
          <a:xfrm>
            <a:off x="320040" y="3054096"/>
            <a:ext cx="8503920" cy="82296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20" name="Shape 18"/>
          <p:cNvSpPr/>
          <p:nvPr/>
        </p:nvSpPr>
        <p:spPr>
          <a:xfrm>
            <a:off x="320040" y="3054096"/>
            <a:ext cx="64008" cy="822960"/>
          </a:xfrm>
          <a:prstGeom prst="rect">
            <a:avLst/>
          </a:prstGeom>
          <a:solidFill>
            <a:srgbClr val="10B981"/>
          </a:solidFill>
          <a:ln/>
        </p:spPr>
      </p:sp>
      <p:sp>
        <p:nvSpPr>
          <p:cNvPr id="21" name="Text 19"/>
          <p:cNvSpPr/>
          <p:nvPr/>
        </p:nvSpPr>
        <p:spPr>
          <a:xfrm>
            <a:off x="475488" y="3127248"/>
            <a:ext cx="5486400" cy="274320"/>
          </a:xfrm>
          <a:prstGeom prst="rect">
            <a:avLst/>
          </a:prstGeom>
          <a:noFill/>
          <a:ln/>
        </p:spPr>
        <p:txBody>
          <a:bodyPr wrap="square" lIns="0" tIns="0" rIns="0" bIns="0" rtlCol="0" anchor="ctr"/>
          <a:lstStyle/>
          <a:p>
            <a:pPr indent="0" marL="0">
              <a:buNone/>
            </a:pPr>
            <a:r>
              <a:rPr lang="en-US" sz="1300" b="1" dirty="0">
                <a:solidFill>
                  <a:srgbClr val="0F2D1E"/>
                </a:solidFill>
                <a:latin typeface="Calibri" pitchFamily="34" charset="0"/>
                <a:ea typeface="Calibri" pitchFamily="34" charset="-122"/>
                <a:cs typeface="Calibri" pitchFamily="34" charset="-120"/>
              </a:rPr>
              <a:t>Swing UI (Graphical User Interface)</a:t>
            </a:r>
            <a:endParaRPr lang="en-US" sz="1300" dirty="0"/>
          </a:p>
        </p:txBody>
      </p:sp>
      <p:sp>
        <p:nvSpPr>
          <p:cNvPr id="22" name="Text 20"/>
          <p:cNvSpPr/>
          <p:nvPr/>
        </p:nvSpPr>
        <p:spPr>
          <a:xfrm>
            <a:off x="475488" y="3429000"/>
            <a:ext cx="5440680" cy="384048"/>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MainFrame is the Swing window. Input fields, dropdowns for emergency type and location, results panel. This is event-driven GUI programming.</a:t>
            </a:r>
            <a:endParaRPr lang="en-US" sz="1050" dirty="0"/>
          </a:p>
        </p:txBody>
      </p:sp>
      <p:sp>
        <p:nvSpPr>
          <p:cNvPr id="23" name="Shape 21"/>
          <p:cNvSpPr/>
          <p:nvPr/>
        </p:nvSpPr>
        <p:spPr>
          <a:xfrm>
            <a:off x="6126480" y="3218688"/>
            <a:ext cx="2560320" cy="457200"/>
          </a:xfrm>
          <a:prstGeom prst="roundRect">
            <a:avLst>
              <a:gd name="adj" fmla="val 12000"/>
            </a:avLst>
          </a:prstGeom>
          <a:solidFill>
            <a:srgbClr val="10B981"/>
          </a:solidFill>
          <a:ln/>
        </p:spPr>
      </p:sp>
      <p:sp>
        <p:nvSpPr>
          <p:cNvPr id="24" name="Text 22"/>
          <p:cNvSpPr/>
          <p:nvPr/>
        </p:nvSpPr>
        <p:spPr>
          <a:xfrm>
            <a:off x="6126480" y="3218688"/>
            <a:ext cx="2560320"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JFrame · JPanel · ActionListener · Events</a:t>
            </a:r>
            <a:endParaRPr lang="en-US" sz="900" dirty="0"/>
          </a:p>
        </p:txBody>
      </p:sp>
      <p:sp>
        <p:nvSpPr>
          <p:cNvPr id="25" name="Shape 23"/>
          <p:cNvSpPr/>
          <p:nvPr/>
        </p:nvSpPr>
        <p:spPr>
          <a:xfrm>
            <a:off x="320040" y="3986784"/>
            <a:ext cx="8503920" cy="82296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26" name="Shape 24"/>
          <p:cNvSpPr/>
          <p:nvPr/>
        </p:nvSpPr>
        <p:spPr>
          <a:xfrm>
            <a:off x="320040" y="3986784"/>
            <a:ext cx="64008" cy="822960"/>
          </a:xfrm>
          <a:prstGeom prst="rect">
            <a:avLst/>
          </a:prstGeom>
          <a:solidFill>
            <a:srgbClr val="10B981"/>
          </a:solidFill>
          <a:ln/>
        </p:spPr>
      </p:sp>
      <p:sp>
        <p:nvSpPr>
          <p:cNvPr id="27" name="Text 25"/>
          <p:cNvSpPr/>
          <p:nvPr/>
        </p:nvSpPr>
        <p:spPr>
          <a:xfrm>
            <a:off x="475488" y="4059936"/>
            <a:ext cx="5486400" cy="274320"/>
          </a:xfrm>
          <a:prstGeom prst="rect">
            <a:avLst/>
          </a:prstGeom>
          <a:noFill/>
          <a:ln/>
        </p:spPr>
        <p:txBody>
          <a:bodyPr wrap="square" lIns="0" tIns="0" rIns="0" bIns="0" rtlCol="0" anchor="ctr"/>
          <a:lstStyle/>
          <a:p>
            <a:pPr indent="0" marL="0">
              <a:buNone/>
            </a:pPr>
            <a:r>
              <a:rPr lang="en-US" sz="1300" b="1" dirty="0">
                <a:solidFill>
                  <a:srgbClr val="0F2D1E"/>
                </a:solidFill>
                <a:latin typeface="Calibri" pitchFamily="34" charset="0"/>
                <a:ea typeface="Calibri" pitchFamily="34" charset="-122"/>
                <a:cs typeface="Calibri" pitchFamily="34" charset="-120"/>
              </a:rPr>
              <a:t>JDBC — Database Connector</a:t>
            </a:r>
            <a:endParaRPr lang="en-US" sz="1300" dirty="0"/>
          </a:p>
        </p:txBody>
      </p:sp>
      <p:sp>
        <p:nvSpPr>
          <p:cNvPr id="28" name="Text 26"/>
          <p:cNvSpPr/>
          <p:nvPr/>
        </p:nvSpPr>
        <p:spPr>
          <a:xfrm>
            <a:off x="475488" y="4361688"/>
            <a:ext cx="5440680" cy="384048"/>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JDBC connector class lets the app talk to MySQL. SampleDataFactory provides test data now. JDBC replaces it in production.</a:t>
            </a:r>
            <a:endParaRPr lang="en-US" sz="1050" dirty="0"/>
          </a:p>
        </p:txBody>
      </p:sp>
      <p:sp>
        <p:nvSpPr>
          <p:cNvPr id="29" name="Shape 27"/>
          <p:cNvSpPr/>
          <p:nvPr/>
        </p:nvSpPr>
        <p:spPr>
          <a:xfrm>
            <a:off x="6126480" y="4151376"/>
            <a:ext cx="2560320" cy="457200"/>
          </a:xfrm>
          <a:prstGeom prst="roundRect">
            <a:avLst>
              <a:gd name="adj" fmla="val 12000"/>
            </a:avLst>
          </a:prstGeom>
          <a:solidFill>
            <a:srgbClr val="10B981"/>
          </a:solidFill>
          <a:ln/>
        </p:spPr>
      </p:sp>
      <p:sp>
        <p:nvSpPr>
          <p:cNvPr id="30" name="Text 28"/>
          <p:cNvSpPr/>
          <p:nvPr/>
        </p:nvSpPr>
        <p:spPr>
          <a:xfrm>
            <a:off x="6126480" y="4151376"/>
            <a:ext cx="2560320"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JDBC · PreparedStatement · ResultSet</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D3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8B5CF6"/>
          </a:solidFill>
          <a:ln/>
        </p:spPr>
      </p:sp>
      <p:sp>
        <p:nvSpPr>
          <p:cNvPr id="3" name="Shape 1"/>
          <p:cNvSpPr/>
          <p:nvPr/>
        </p:nvSpPr>
        <p:spPr>
          <a:xfrm>
            <a:off x="164592" y="0"/>
            <a:ext cx="8979408" cy="1051560"/>
          </a:xfrm>
          <a:prstGeom prst="rect">
            <a:avLst/>
          </a:prstGeom>
          <a:solidFill>
            <a:srgbClr val="1A0A35"/>
          </a:solidFill>
          <a:ln/>
        </p:spPr>
      </p:sp>
      <p:sp>
        <p:nvSpPr>
          <p:cNvPr id="4" name="Text 2"/>
          <p:cNvSpPr/>
          <p:nvPr/>
        </p:nvSpPr>
        <p:spPr>
          <a:xfrm>
            <a:off x="320040" y="54864"/>
            <a:ext cx="8046720" cy="502920"/>
          </a:xfrm>
          <a:prstGeom prst="rect">
            <a:avLst/>
          </a:prstGeom>
          <a:noFill/>
          <a:ln/>
        </p:spPr>
        <p:txBody>
          <a:bodyPr wrap="square" lIns="0" tIns="0" rIns="0" bIns="0" rtlCol="0" anchor="ctr"/>
          <a:lstStyle/>
          <a:p>
            <a:pPr indent="0" marL="0">
              <a:buNone/>
            </a:pPr>
            <a:r>
              <a:rPr lang="en-US" sz="2200" b="1" dirty="0">
                <a:solidFill>
                  <a:srgbClr val="8B5CF6"/>
                </a:solidFill>
                <a:latin typeface="Calibri" pitchFamily="34" charset="0"/>
                <a:ea typeface="Calibri" pitchFamily="34" charset="-122"/>
                <a:cs typeface="Calibri" pitchFamily="34" charset="-120"/>
              </a:rPr>
              <a:t>BCS403  ·  Database Management System (DBMS)</a:t>
            </a:r>
            <a:endParaRPr lang="en-US" sz="2200" dirty="0"/>
          </a:p>
        </p:txBody>
      </p:sp>
      <p:sp>
        <p:nvSpPr>
          <p:cNvPr id="5" name="Text 3"/>
          <p:cNvSpPr/>
          <p:nvPr/>
        </p:nvSpPr>
        <p:spPr>
          <a:xfrm>
            <a:off x="320040" y="576072"/>
            <a:ext cx="8046720" cy="347472"/>
          </a:xfrm>
          <a:prstGeom prst="rect">
            <a:avLst/>
          </a:prstGeom>
          <a:noFill/>
          <a:ln/>
        </p:spPr>
        <p:txBody>
          <a:bodyPr wrap="square" lIns="0" tIns="0" rIns="0" bIns="0" rtlCol="0" anchor="ctr"/>
          <a:lstStyle/>
          <a:p>
            <a:pPr indent="0" marL="0">
              <a:buNone/>
            </a:pPr>
            <a:r>
              <a:rPr lang="en-US" sz="1300" i="1" dirty="0">
                <a:solidFill>
                  <a:srgbClr val="E0F0FF"/>
                </a:solidFill>
                <a:latin typeface="Calibri" pitchFamily="34" charset="0"/>
                <a:ea typeface="Calibri" pitchFamily="34" charset="-122"/>
                <a:cs typeface="Calibri" pitchFamily="34" charset="-120"/>
              </a:rPr>
              <a:t>Concepts used in this project — explained for viva</a:t>
            </a:r>
            <a:endParaRPr lang="en-US" sz="1300" dirty="0"/>
          </a:p>
        </p:txBody>
      </p:sp>
      <p:sp>
        <p:nvSpPr>
          <p:cNvPr id="6" name="Text 4"/>
          <p:cNvSpPr/>
          <p:nvPr/>
        </p:nvSpPr>
        <p:spPr>
          <a:xfrm>
            <a:off x="8321040" y="201168"/>
            <a:ext cx="640080" cy="640080"/>
          </a:xfrm>
          <a:prstGeom prst="rect">
            <a:avLst/>
          </a:prstGeom>
          <a:noFill/>
          <a:ln/>
        </p:spPr>
        <p:txBody>
          <a:bodyPr wrap="square" lIns="0" tIns="0" rIns="0" bIns="0" rtlCol="0" anchor="ctr"/>
          <a:lstStyle/>
          <a:p>
            <a:pPr algn="ctr" indent="0" marL="0">
              <a:buNone/>
            </a:pPr>
            <a:r>
              <a:rPr lang="en-US" sz="2800" dirty="0">
                <a:solidFill>
                  <a:srgbClr val="000000"/>
                </a:solidFill>
                <a:latin typeface="Segoe UI Emoji" pitchFamily="34" charset="0"/>
                <a:ea typeface="Segoe UI Emoji" pitchFamily="34" charset="-122"/>
                <a:cs typeface="Segoe UI Emoji" pitchFamily="34" charset="-120"/>
              </a:rPr>
              <a:t>🗄</a:t>
            </a:r>
            <a:endParaRPr lang="en-US" sz="2800" dirty="0"/>
          </a:p>
        </p:txBody>
      </p:sp>
      <p:sp>
        <p:nvSpPr>
          <p:cNvPr id="7" name="Shape 5"/>
          <p:cNvSpPr/>
          <p:nvPr/>
        </p:nvSpPr>
        <p:spPr>
          <a:xfrm>
            <a:off x="320040" y="1234440"/>
            <a:ext cx="4114800" cy="1115568"/>
          </a:xfrm>
          <a:prstGeom prst="rect">
            <a:avLst/>
          </a:prstGeom>
          <a:solidFill>
            <a:srgbClr val="1A0A35"/>
          </a:solidFill>
          <a:ln/>
          <a:effectLst>
            <a:outerShdw sx="100000" sy="100000" kx="0" ky="0" algn="bl" rotWithShape="0" blurRad="101600" dist="38100" dir="8100000">
              <a:srgbClr val="000000">
                <a:alpha val="12000"/>
              </a:srgbClr>
            </a:outerShdw>
          </a:effectLst>
        </p:spPr>
      </p:sp>
      <p:sp>
        <p:nvSpPr>
          <p:cNvPr id="8" name="Shape 6"/>
          <p:cNvSpPr/>
          <p:nvPr/>
        </p:nvSpPr>
        <p:spPr>
          <a:xfrm>
            <a:off x="320040" y="1234440"/>
            <a:ext cx="4114800" cy="365760"/>
          </a:xfrm>
          <a:prstGeom prst="rect">
            <a:avLst/>
          </a:prstGeom>
          <a:solidFill>
            <a:srgbClr val="8B5CF6"/>
          </a:solidFill>
          <a:ln/>
        </p:spPr>
      </p:sp>
      <p:sp>
        <p:nvSpPr>
          <p:cNvPr id="9" name="Text 7"/>
          <p:cNvSpPr/>
          <p:nvPr/>
        </p:nvSpPr>
        <p:spPr>
          <a:xfrm>
            <a:off x="411480" y="1289304"/>
            <a:ext cx="393192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ER Diagram</a:t>
            </a:r>
            <a:endParaRPr lang="en-US" sz="1300" dirty="0"/>
          </a:p>
        </p:txBody>
      </p:sp>
      <p:sp>
        <p:nvSpPr>
          <p:cNvPr id="10" name="Text 8"/>
          <p:cNvSpPr/>
          <p:nvPr/>
        </p:nvSpPr>
        <p:spPr>
          <a:xfrm>
            <a:off x="411480" y="1655064"/>
            <a:ext cx="3931920" cy="621792"/>
          </a:xfrm>
          <a:prstGeom prst="rect">
            <a:avLst/>
          </a:prstGeom>
          <a:noFill/>
          <a:ln/>
        </p:spPr>
        <p:txBody>
          <a:bodyPr wrap="square" lIns="0" tIns="0" rIns="0" bIns="0" rtlCol="0" anchor="ctr"/>
          <a:lstStyle/>
          <a:p>
            <a:pPr indent="0" marL="0">
              <a:buNone/>
            </a:pPr>
            <a:r>
              <a:rPr lang="en-US" sz="1050" dirty="0">
                <a:solidFill>
                  <a:srgbClr val="E0F0FF"/>
                </a:solidFill>
                <a:latin typeface="Calibri" pitchFamily="34" charset="0"/>
                <a:ea typeface="Calibri" pitchFamily="34" charset="-122"/>
                <a:cs typeface="Calibri" pitchFamily="34" charset="-120"/>
              </a:rPr>
              <a:t>Drew an Entity-Relationship diagram: Patient, Hospital, EmergencyCase connected with PK/FK lines. This is the foundation of any database design.</a:t>
            </a:r>
            <a:endParaRPr lang="en-US" sz="1050" dirty="0"/>
          </a:p>
        </p:txBody>
      </p:sp>
      <p:sp>
        <p:nvSpPr>
          <p:cNvPr id="11" name="Shape 9"/>
          <p:cNvSpPr/>
          <p:nvPr/>
        </p:nvSpPr>
        <p:spPr>
          <a:xfrm>
            <a:off x="320040" y="2496312"/>
            <a:ext cx="4114800" cy="1115568"/>
          </a:xfrm>
          <a:prstGeom prst="rect">
            <a:avLst/>
          </a:prstGeom>
          <a:solidFill>
            <a:srgbClr val="1A0A35"/>
          </a:solidFill>
          <a:ln/>
          <a:effectLst>
            <a:outerShdw sx="100000" sy="100000" kx="0" ky="0" algn="bl" rotWithShape="0" blurRad="101600" dist="38100" dir="8100000">
              <a:srgbClr val="000000">
                <a:alpha val="12000"/>
              </a:srgbClr>
            </a:outerShdw>
          </a:effectLst>
        </p:spPr>
      </p:sp>
      <p:sp>
        <p:nvSpPr>
          <p:cNvPr id="12" name="Shape 10"/>
          <p:cNvSpPr/>
          <p:nvPr/>
        </p:nvSpPr>
        <p:spPr>
          <a:xfrm>
            <a:off x="320040" y="2496312"/>
            <a:ext cx="4114800" cy="365760"/>
          </a:xfrm>
          <a:prstGeom prst="rect">
            <a:avLst/>
          </a:prstGeom>
          <a:solidFill>
            <a:srgbClr val="8B5CF6"/>
          </a:solidFill>
          <a:ln/>
        </p:spPr>
      </p:sp>
      <p:sp>
        <p:nvSpPr>
          <p:cNvPr id="13" name="Text 11"/>
          <p:cNvSpPr/>
          <p:nvPr/>
        </p:nvSpPr>
        <p:spPr>
          <a:xfrm>
            <a:off x="411480" y="2551176"/>
            <a:ext cx="393192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Relational Schema &amp; Normalization</a:t>
            </a:r>
            <a:endParaRPr lang="en-US" sz="1300" dirty="0"/>
          </a:p>
        </p:txBody>
      </p:sp>
      <p:sp>
        <p:nvSpPr>
          <p:cNvPr id="14" name="Text 12"/>
          <p:cNvSpPr/>
          <p:nvPr/>
        </p:nvSpPr>
        <p:spPr>
          <a:xfrm>
            <a:off x="411480" y="2916936"/>
            <a:ext cx="3931920" cy="621792"/>
          </a:xfrm>
          <a:prstGeom prst="rect">
            <a:avLst/>
          </a:prstGeom>
          <a:noFill/>
          <a:ln/>
        </p:spPr>
        <p:txBody>
          <a:bodyPr wrap="square" lIns="0" tIns="0" rIns="0" bIns="0" rtlCol="0" anchor="ctr"/>
          <a:lstStyle/>
          <a:p>
            <a:pPr indent="0" marL="0">
              <a:buNone/>
            </a:pPr>
            <a:r>
              <a:rPr lang="en-US" sz="1050" dirty="0">
                <a:solidFill>
                  <a:srgbClr val="E0F0FF"/>
                </a:solidFill>
                <a:latin typeface="Calibri" pitchFamily="34" charset="0"/>
                <a:ea typeface="Calibri" pitchFamily="34" charset="-122"/>
                <a:cs typeface="Calibri" pitchFamily="34" charset="-120"/>
              </a:rPr>
              <a:t>Converted ER to tables. Normalized to 3NF — removed duplicate data, ensured each table has exactly one responsibility.</a:t>
            </a:r>
            <a:endParaRPr lang="en-US" sz="1050" dirty="0"/>
          </a:p>
        </p:txBody>
      </p:sp>
      <p:sp>
        <p:nvSpPr>
          <p:cNvPr id="15" name="Shape 13"/>
          <p:cNvSpPr/>
          <p:nvPr/>
        </p:nvSpPr>
        <p:spPr>
          <a:xfrm>
            <a:off x="320040" y="3758184"/>
            <a:ext cx="4114800" cy="1115568"/>
          </a:xfrm>
          <a:prstGeom prst="rect">
            <a:avLst/>
          </a:prstGeom>
          <a:solidFill>
            <a:srgbClr val="1A0A35"/>
          </a:solidFill>
          <a:ln/>
          <a:effectLst>
            <a:outerShdw sx="100000" sy="100000" kx="0" ky="0" algn="bl" rotWithShape="0" blurRad="101600" dist="38100" dir="8100000">
              <a:srgbClr val="000000">
                <a:alpha val="12000"/>
              </a:srgbClr>
            </a:outerShdw>
          </a:effectLst>
        </p:spPr>
      </p:sp>
      <p:sp>
        <p:nvSpPr>
          <p:cNvPr id="16" name="Shape 14"/>
          <p:cNvSpPr/>
          <p:nvPr/>
        </p:nvSpPr>
        <p:spPr>
          <a:xfrm>
            <a:off x="320040" y="3758184"/>
            <a:ext cx="4114800" cy="365760"/>
          </a:xfrm>
          <a:prstGeom prst="rect">
            <a:avLst/>
          </a:prstGeom>
          <a:solidFill>
            <a:srgbClr val="8B5CF6"/>
          </a:solidFill>
          <a:ln/>
        </p:spPr>
      </p:sp>
      <p:sp>
        <p:nvSpPr>
          <p:cNvPr id="17" name="Text 15"/>
          <p:cNvSpPr/>
          <p:nvPr/>
        </p:nvSpPr>
        <p:spPr>
          <a:xfrm>
            <a:off x="411480" y="3813048"/>
            <a:ext cx="393192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SQL Queries</a:t>
            </a:r>
            <a:endParaRPr lang="en-US" sz="1300" dirty="0"/>
          </a:p>
        </p:txBody>
      </p:sp>
      <p:sp>
        <p:nvSpPr>
          <p:cNvPr id="18" name="Text 16"/>
          <p:cNvSpPr/>
          <p:nvPr/>
        </p:nvSpPr>
        <p:spPr>
          <a:xfrm>
            <a:off x="411480" y="4178808"/>
            <a:ext cx="3931920" cy="621792"/>
          </a:xfrm>
          <a:prstGeom prst="rect">
            <a:avLst/>
          </a:prstGeom>
          <a:noFill/>
          <a:ln/>
        </p:spPr>
        <p:txBody>
          <a:bodyPr wrap="square" lIns="0" tIns="0" rIns="0" bIns="0" rtlCol="0" anchor="ctr"/>
          <a:lstStyle/>
          <a:p>
            <a:pPr indent="0" marL="0">
              <a:buNone/>
            </a:pPr>
            <a:r>
              <a:rPr lang="en-US" sz="1050" dirty="0">
                <a:solidFill>
                  <a:srgbClr val="E0F0FF"/>
                </a:solidFill>
                <a:latin typeface="Calibri" pitchFamily="34" charset="0"/>
                <a:ea typeface="Calibri" pitchFamily="34" charset="-122"/>
                <a:cs typeface="Calibri" pitchFamily="34" charset="-120"/>
              </a:rPr>
              <a:t>SELECT hospitals by specialization, UPDATE bed count after allocation, INSERT a new emergency case. Shows real DB usage during demo.</a:t>
            </a:r>
            <a:endParaRPr lang="en-US" sz="1050" dirty="0"/>
          </a:p>
        </p:txBody>
      </p:sp>
      <p:sp>
        <p:nvSpPr>
          <p:cNvPr id="19" name="Shape 17"/>
          <p:cNvSpPr/>
          <p:nvPr/>
        </p:nvSpPr>
        <p:spPr>
          <a:xfrm>
            <a:off x="4754880" y="1234440"/>
            <a:ext cx="4069080" cy="3593592"/>
          </a:xfrm>
          <a:prstGeom prst="rect">
            <a:avLst/>
          </a:prstGeom>
          <a:solidFill>
            <a:srgbClr val="1A0A35"/>
          </a:solidFill>
          <a:ln/>
          <a:effectLst>
            <a:outerShdw sx="100000" sy="100000" kx="0" ky="0" algn="bl" rotWithShape="0" blurRad="101600" dist="38100" dir="8100000">
              <a:srgbClr val="000000">
                <a:alpha val="12000"/>
              </a:srgbClr>
            </a:outerShdw>
          </a:effectLst>
        </p:spPr>
      </p:sp>
      <p:sp>
        <p:nvSpPr>
          <p:cNvPr id="20" name="Shape 18"/>
          <p:cNvSpPr/>
          <p:nvPr/>
        </p:nvSpPr>
        <p:spPr>
          <a:xfrm>
            <a:off x="4754880" y="1234440"/>
            <a:ext cx="4069080" cy="365760"/>
          </a:xfrm>
          <a:prstGeom prst="rect">
            <a:avLst/>
          </a:prstGeom>
          <a:solidFill>
            <a:srgbClr val="8B5CF6"/>
          </a:solidFill>
          <a:ln/>
        </p:spPr>
      </p:sp>
      <p:sp>
        <p:nvSpPr>
          <p:cNvPr id="21" name="Text 19"/>
          <p:cNvSpPr/>
          <p:nvPr/>
        </p:nvSpPr>
        <p:spPr>
          <a:xfrm>
            <a:off x="4846320" y="1261872"/>
            <a:ext cx="38404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Database Tables Designed</a:t>
            </a:r>
            <a:endParaRPr lang="en-US" sz="1300" dirty="0"/>
          </a:p>
        </p:txBody>
      </p:sp>
      <p:sp>
        <p:nvSpPr>
          <p:cNvPr id="22" name="Shape 20"/>
          <p:cNvSpPr/>
          <p:nvPr/>
        </p:nvSpPr>
        <p:spPr>
          <a:xfrm>
            <a:off x="4892040" y="1719072"/>
            <a:ext cx="1371600" cy="256032"/>
          </a:xfrm>
          <a:prstGeom prst="roundRect">
            <a:avLst>
              <a:gd name="adj" fmla="val 14286"/>
            </a:avLst>
          </a:prstGeom>
          <a:solidFill>
            <a:srgbClr val="8B5CF6"/>
          </a:solidFill>
          <a:ln/>
        </p:spPr>
      </p:sp>
      <p:sp>
        <p:nvSpPr>
          <p:cNvPr id="23" name="Text 21"/>
          <p:cNvSpPr/>
          <p:nvPr/>
        </p:nvSpPr>
        <p:spPr>
          <a:xfrm>
            <a:off x="4892040" y="1719072"/>
            <a:ext cx="137160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patients</a:t>
            </a:r>
            <a:endParaRPr lang="en-US" sz="950" dirty="0"/>
          </a:p>
        </p:txBody>
      </p:sp>
      <p:sp>
        <p:nvSpPr>
          <p:cNvPr id="24" name="Text 22"/>
          <p:cNvSpPr/>
          <p:nvPr/>
        </p:nvSpPr>
        <p:spPr>
          <a:xfrm>
            <a:off x="6355080" y="1719072"/>
            <a:ext cx="2331720" cy="256032"/>
          </a:xfrm>
          <a:prstGeom prst="rect">
            <a:avLst/>
          </a:prstGeom>
          <a:noFill/>
          <a:ln/>
        </p:spPr>
        <p:txBody>
          <a:bodyPr wrap="square" lIns="0" tIns="0" rIns="0" bIns="0" rtlCol="0" anchor="ctr"/>
          <a:lstStyle/>
          <a:p>
            <a:pPr indent="0" marL="0">
              <a:buNone/>
            </a:pPr>
            <a:r>
              <a:rPr lang="en-US" sz="950" dirty="0">
                <a:solidFill>
                  <a:srgbClr val="E0F0FF"/>
                </a:solidFill>
                <a:latin typeface="Calibri" pitchFamily="34" charset="0"/>
                <a:ea typeface="Calibri" pitchFamily="34" charset="-122"/>
                <a:cs typeface="Calibri" pitchFamily="34" charset="-120"/>
              </a:rPr>
              <a:t>Patient name and emergency details</a:t>
            </a:r>
            <a:endParaRPr lang="en-US" sz="950" dirty="0"/>
          </a:p>
        </p:txBody>
      </p:sp>
      <p:sp>
        <p:nvSpPr>
          <p:cNvPr id="25" name="Shape 23"/>
          <p:cNvSpPr/>
          <p:nvPr/>
        </p:nvSpPr>
        <p:spPr>
          <a:xfrm>
            <a:off x="4892040" y="2093976"/>
            <a:ext cx="1371600" cy="256032"/>
          </a:xfrm>
          <a:prstGeom prst="roundRect">
            <a:avLst>
              <a:gd name="adj" fmla="val 14286"/>
            </a:avLst>
          </a:prstGeom>
          <a:solidFill>
            <a:srgbClr val="8B5CF6"/>
          </a:solidFill>
          <a:ln/>
        </p:spPr>
      </p:sp>
      <p:sp>
        <p:nvSpPr>
          <p:cNvPr id="26" name="Text 24"/>
          <p:cNvSpPr/>
          <p:nvPr/>
        </p:nvSpPr>
        <p:spPr>
          <a:xfrm>
            <a:off x="4892040" y="2093976"/>
            <a:ext cx="137160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emergency_cases</a:t>
            </a:r>
            <a:endParaRPr lang="en-US" sz="950" dirty="0"/>
          </a:p>
        </p:txBody>
      </p:sp>
      <p:sp>
        <p:nvSpPr>
          <p:cNvPr id="27" name="Text 25"/>
          <p:cNvSpPr/>
          <p:nvPr/>
        </p:nvSpPr>
        <p:spPr>
          <a:xfrm>
            <a:off x="6355080" y="2093976"/>
            <a:ext cx="2331720" cy="256032"/>
          </a:xfrm>
          <a:prstGeom prst="rect">
            <a:avLst/>
          </a:prstGeom>
          <a:noFill/>
          <a:ln/>
        </p:spPr>
        <p:txBody>
          <a:bodyPr wrap="square" lIns="0" tIns="0" rIns="0" bIns="0" rtlCol="0" anchor="ctr"/>
          <a:lstStyle/>
          <a:p>
            <a:pPr indent="0" marL="0">
              <a:buNone/>
            </a:pPr>
            <a:r>
              <a:rPr lang="en-US" sz="950" dirty="0">
                <a:solidFill>
                  <a:srgbClr val="E0F0FF"/>
                </a:solidFill>
                <a:latin typeface="Calibri" pitchFamily="34" charset="0"/>
                <a:ea typeface="Calibri" pitchFamily="34" charset="-122"/>
                <a:cs typeface="Calibri" pitchFamily="34" charset="-120"/>
              </a:rPr>
              <a:t>Records each ambulance call</a:t>
            </a:r>
            <a:endParaRPr lang="en-US" sz="950" dirty="0"/>
          </a:p>
        </p:txBody>
      </p:sp>
      <p:sp>
        <p:nvSpPr>
          <p:cNvPr id="28" name="Shape 26"/>
          <p:cNvSpPr/>
          <p:nvPr/>
        </p:nvSpPr>
        <p:spPr>
          <a:xfrm>
            <a:off x="4892040" y="2468880"/>
            <a:ext cx="1371600" cy="256032"/>
          </a:xfrm>
          <a:prstGeom prst="roundRect">
            <a:avLst>
              <a:gd name="adj" fmla="val 14286"/>
            </a:avLst>
          </a:prstGeom>
          <a:solidFill>
            <a:srgbClr val="8B5CF6"/>
          </a:solidFill>
          <a:ln/>
        </p:spPr>
      </p:sp>
      <p:sp>
        <p:nvSpPr>
          <p:cNvPr id="29" name="Text 27"/>
          <p:cNvSpPr/>
          <p:nvPr/>
        </p:nvSpPr>
        <p:spPr>
          <a:xfrm>
            <a:off x="4892040" y="2468880"/>
            <a:ext cx="137160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hospitals</a:t>
            </a:r>
            <a:endParaRPr lang="en-US" sz="950" dirty="0"/>
          </a:p>
        </p:txBody>
      </p:sp>
      <p:sp>
        <p:nvSpPr>
          <p:cNvPr id="30" name="Text 28"/>
          <p:cNvSpPr/>
          <p:nvPr/>
        </p:nvSpPr>
        <p:spPr>
          <a:xfrm>
            <a:off x="6355080" y="2468880"/>
            <a:ext cx="2331720" cy="256032"/>
          </a:xfrm>
          <a:prstGeom prst="rect">
            <a:avLst/>
          </a:prstGeom>
          <a:noFill/>
          <a:ln/>
        </p:spPr>
        <p:txBody>
          <a:bodyPr wrap="square" lIns="0" tIns="0" rIns="0" bIns="0" rtlCol="0" anchor="ctr"/>
          <a:lstStyle/>
          <a:p>
            <a:pPr indent="0" marL="0">
              <a:buNone/>
            </a:pPr>
            <a:r>
              <a:rPr lang="en-US" sz="950" dirty="0">
                <a:solidFill>
                  <a:srgbClr val="E0F0FF"/>
                </a:solidFill>
                <a:latin typeface="Calibri" pitchFamily="34" charset="0"/>
                <a:ea typeface="Calibri" pitchFamily="34" charset="-122"/>
                <a:cs typeface="Calibri" pitchFamily="34" charset="-120"/>
              </a:rPr>
              <a:t>Hospital info and location node</a:t>
            </a:r>
            <a:endParaRPr lang="en-US" sz="950" dirty="0"/>
          </a:p>
        </p:txBody>
      </p:sp>
      <p:sp>
        <p:nvSpPr>
          <p:cNvPr id="31" name="Shape 29"/>
          <p:cNvSpPr/>
          <p:nvPr/>
        </p:nvSpPr>
        <p:spPr>
          <a:xfrm>
            <a:off x="4892040" y="2843784"/>
            <a:ext cx="1371600" cy="256032"/>
          </a:xfrm>
          <a:prstGeom prst="roundRect">
            <a:avLst>
              <a:gd name="adj" fmla="val 14286"/>
            </a:avLst>
          </a:prstGeom>
          <a:solidFill>
            <a:srgbClr val="8B5CF6"/>
          </a:solidFill>
          <a:ln/>
        </p:spPr>
      </p:sp>
      <p:sp>
        <p:nvSpPr>
          <p:cNvPr id="32" name="Text 30"/>
          <p:cNvSpPr/>
          <p:nvPr/>
        </p:nvSpPr>
        <p:spPr>
          <a:xfrm>
            <a:off x="4892040" y="2843784"/>
            <a:ext cx="137160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hospital_specializations</a:t>
            </a:r>
            <a:endParaRPr lang="en-US" sz="950" dirty="0"/>
          </a:p>
        </p:txBody>
      </p:sp>
      <p:sp>
        <p:nvSpPr>
          <p:cNvPr id="33" name="Text 31"/>
          <p:cNvSpPr/>
          <p:nvPr/>
        </p:nvSpPr>
        <p:spPr>
          <a:xfrm>
            <a:off x="6355080" y="2843784"/>
            <a:ext cx="2331720" cy="256032"/>
          </a:xfrm>
          <a:prstGeom prst="rect">
            <a:avLst/>
          </a:prstGeom>
          <a:noFill/>
          <a:ln/>
        </p:spPr>
        <p:txBody>
          <a:bodyPr wrap="square" lIns="0" tIns="0" rIns="0" bIns="0" rtlCol="0" anchor="ctr"/>
          <a:lstStyle/>
          <a:p>
            <a:pPr indent="0" marL="0">
              <a:buNone/>
            </a:pPr>
            <a:r>
              <a:rPr lang="en-US" sz="950" dirty="0">
                <a:solidFill>
                  <a:srgbClr val="E0F0FF"/>
                </a:solidFill>
                <a:latin typeface="Calibri" pitchFamily="34" charset="0"/>
                <a:ea typeface="Calibri" pitchFamily="34" charset="-122"/>
                <a:cs typeface="Calibri" pitchFamily="34" charset="-120"/>
              </a:rPr>
              <a:t>What each hospital can treat</a:t>
            </a:r>
            <a:endParaRPr lang="en-US" sz="950" dirty="0"/>
          </a:p>
        </p:txBody>
      </p:sp>
      <p:sp>
        <p:nvSpPr>
          <p:cNvPr id="34" name="Shape 32"/>
          <p:cNvSpPr/>
          <p:nvPr/>
        </p:nvSpPr>
        <p:spPr>
          <a:xfrm>
            <a:off x="4892040" y="3218688"/>
            <a:ext cx="1371600" cy="256032"/>
          </a:xfrm>
          <a:prstGeom prst="roundRect">
            <a:avLst>
              <a:gd name="adj" fmla="val 14286"/>
            </a:avLst>
          </a:prstGeom>
          <a:solidFill>
            <a:srgbClr val="8B5CF6"/>
          </a:solidFill>
          <a:ln/>
        </p:spPr>
      </p:sp>
      <p:sp>
        <p:nvSpPr>
          <p:cNvPr id="35" name="Text 33"/>
          <p:cNvSpPr/>
          <p:nvPr/>
        </p:nvSpPr>
        <p:spPr>
          <a:xfrm>
            <a:off x="4892040" y="3218688"/>
            <a:ext cx="137160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hospital_resources</a:t>
            </a:r>
            <a:endParaRPr lang="en-US" sz="950" dirty="0"/>
          </a:p>
        </p:txBody>
      </p:sp>
      <p:sp>
        <p:nvSpPr>
          <p:cNvPr id="36" name="Text 34"/>
          <p:cNvSpPr/>
          <p:nvPr/>
        </p:nvSpPr>
        <p:spPr>
          <a:xfrm>
            <a:off x="6355080" y="3218688"/>
            <a:ext cx="2331720" cy="256032"/>
          </a:xfrm>
          <a:prstGeom prst="rect">
            <a:avLst/>
          </a:prstGeom>
          <a:noFill/>
          <a:ln/>
        </p:spPr>
        <p:txBody>
          <a:bodyPr wrap="square" lIns="0" tIns="0" rIns="0" bIns="0" rtlCol="0" anchor="ctr"/>
          <a:lstStyle/>
          <a:p>
            <a:pPr indent="0" marL="0">
              <a:buNone/>
            </a:pPr>
            <a:r>
              <a:rPr lang="en-US" sz="950" dirty="0">
                <a:solidFill>
                  <a:srgbClr val="E0F0FF"/>
                </a:solidFill>
                <a:latin typeface="Calibri" pitchFamily="34" charset="0"/>
                <a:ea typeface="Calibri" pitchFamily="34" charset="-122"/>
                <a:cs typeface="Calibri" pitchFamily="34" charset="-120"/>
              </a:rPr>
              <a:t>Bed and ICU availability counts</a:t>
            </a:r>
            <a:endParaRPr lang="en-US" sz="950" dirty="0"/>
          </a:p>
        </p:txBody>
      </p:sp>
      <p:sp>
        <p:nvSpPr>
          <p:cNvPr id="37" name="Shape 35"/>
          <p:cNvSpPr/>
          <p:nvPr/>
        </p:nvSpPr>
        <p:spPr>
          <a:xfrm>
            <a:off x="4892040" y="3593592"/>
            <a:ext cx="1371600" cy="256032"/>
          </a:xfrm>
          <a:prstGeom prst="roundRect">
            <a:avLst>
              <a:gd name="adj" fmla="val 14286"/>
            </a:avLst>
          </a:prstGeom>
          <a:solidFill>
            <a:srgbClr val="8B5CF6"/>
          </a:solidFill>
          <a:ln/>
        </p:spPr>
      </p:sp>
      <p:sp>
        <p:nvSpPr>
          <p:cNvPr id="38" name="Text 36"/>
          <p:cNvSpPr/>
          <p:nvPr/>
        </p:nvSpPr>
        <p:spPr>
          <a:xfrm>
            <a:off x="4892040" y="3593592"/>
            <a:ext cx="137160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location_nodes</a:t>
            </a:r>
            <a:endParaRPr lang="en-US" sz="950" dirty="0"/>
          </a:p>
        </p:txBody>
      </p:sp>
      <p:sp>
        <p:nvSpPr>
          <p:cNvPr id="39" name="Text 37"/>
          <p:cNvSpPr/>
          <p:nvPr/>
        </p:nvSpPr>
        <p:spPr>
          <a:xfrm>
            <a:off x="6355080" y="3593592"/>
            <a:ext cx="2331720" cy="256032"/>
          </a:xfrm>
          <a:prstGeom prst="rect">
            <a:avLst/>
          </a:prstGeom>
          <a:noFill/>
          <a:ln/>
        </p:spPr>
        <p:txBody>
          <a:bodyPr wrap="square" lIns="0" tIns="0" rIns="0" bIns="0" rtlCol="0" anchor="ctr"/>
          <a:lstStyle/>
          <a:p>
            <a:pPr indent="0" marL="0">
              <a:buNone/>
            </a:pPr>
            <a:r>
              <a:rPr lang="en-US" sz="950" dirty="0">
                <a:solidFill>
                  <a:srgbClr val="E0F0FF"/>
                </a:solidFill>
                <a:latin typeface="Calibri" pitchFamily="34" charset="0"/>
                <a:ea typeface="Calibri" pitchFamily="34" charset="-122"/>
                <a:cs typeface="Calibri" pitchFamily="34" charset="-120"/>
              </a:rPr>
              <a:t>Intersections on the city map</a:t>
            </a:r>
            <a:endParaRPr lang="en-US" sz="950" dirty="0"/>
          </a:p>
        </p:txBody>
      </p:sp>
      <p:sp>
        <p:nvSpPr>
          <p:cNvPr id="40" name="Shape 38"/>
          <p:cNvSpPr/>
          <p:nvPr/>
        </p:nvSpPr>
        <p:spPr>
          <a:xfrm>
            <a:off x="4892040" y="3968496"/>
            <a:ext cx="1371600" cy="256032"/>
          </a:xfrm>
          <a:prstGeom prst="roundRect">
            <a:avLst>
              <a:gd name="adj" fmla="val 14286"/>
            </a:avLst>
          </a:prstGeom>
          <a:solidFill>
            <a:srgbClr val="8B5CF6"/>
          </a:solidFill>
          <a:ln/>
        </p:spPr>
      </p:sp>
      <p:sp>
        <p:nvSpPr>
          <p:cNvPr id="41" name="Text 39"/>
          <p:cNvSpPr/>
          <p:nvPr/>
        </p:nvSpPr>
        <p:spPr>
          <a:xfrm>
            <a:off x="4892040" y="3968496"/>
            <a:ext cx="137160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road_edges</a:t>
            </a:r>
            <a:endParaRPr lang="en-US" sz="950" dirty="0"/>
          </a:p>
        </p:txBody>
      </p:sp>
      <p:sp>
        <p:nvSpPr>
          <p:cNvPr id="42" name="Text 40"/>
          <p:cNvSpPr/>
          <p:nvPr/>
        </p:nvSpPr>
        <p:spPr>
          <a:xfrm>
            <a:off x="6355080" y="3968496"/>
            <a:ext cx="2331720" cy="256032"/>
          </a:xfrm>
          <a:prstGeom prst="rect">
            <a:avLst/>
          </a:prstGeom>
          <a:noFill/>
          <a:ln/>
        </p:spPr>
        <p:txBody>
          <a:bodyPr wrap="square" lIns="0" tIns="0" rIns="0" bIns="0" rtlCol="0" anchor="ctr"/>
          <a:lstStyle/>
          <a:p>
            <a:pPr indent="0" marL="0">
              <a:buNone/>
            </a:pPr>
            <a:r>
              <a:rPr lang="en-US" sz="950" dirty="0">
                <a:solidFill>
                  <a:srgbClr val="E0F0FF"/>
                </a:solidFill>
                <a:latin typeface="Calibri" pitchFamily="34" charset="0"/>
                <a:ea typeface="Calibri" pitchFamily="34" charset="-122"/>
                <a:cs typeface="Calibri" pitchFamily="34" charset="-120"/>
              </a:rPr>
              <a:t>Roads with distance &amp; traffic data</a:t>
            </a:r>
            <a:endParaRPr lang="en-US" sz="950" dirty="0"/>
          </a:p>
        </p:txBody>
      </p:sp>
      <p:sp>
        <p:nvSpPr>
          <p:cNvPr id="43" name="Shape 41"/>
          <p:cNvSpPr/>
          <p:nvPr/>
        </p:nvSpPr>
        <p:spPr>
          <a:xfrm>
            <a:off x="4892040" y="4343400"/>
            <a:ext cx="1371600" cy="256032"/>
          </a:xfrm>
          <a:prstGeom prst="roundRect">
            <a:avLst>
              <a:gd name="adj" fmla="val 14286"/>
            </a:avLst>
          </a:prstGeom>
          <a:solidFill>
            <a:srgbClr val="8B5CF6"/>
          </a:solidFill>
          <a:ln/>
        </p:spPr>
      </p:sp>
      <p:sp>
        <p:nvSpPr>
          <p:cNvPr id="44" name="Text 42"/>
          <p:cNvSpPr/>
          <p:nvPr/>
        </p:nvSpPr>
        <p:spPr>
          <a:xfrm>
            <a:off x="4892040" y="4343400"/>
            <a:ext cx="137160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allocations</a:t>
            </a:r>
            <a:endParaRPr lang="en-US" sz="950" dirty="0"/>
          </a:p>
        </p:txBody>
      </p:sp>
      <p:sp>
        <p:nvSpPr>
          <p:cNvPr id="45" name="Text 43"/>
          <p:cNvSpPr/>
          <p:nvPr/>
        </p:nvSpPr>
        <p:spPr>
          <a:xfrm>
            <a:off x="6355080" y="4343400"/>
            <a:ext cx="2331720" cy="256032"/>
          </a:xfrm>
          <a:prstGeom prst="rect">
            <a:avLst/>
          </a:prstGeom>
          <a:noFill/>
          <a:ln/>
        </p:spPr>
        <p:txBody>
          <a:bodyPr wrap="square" lIns="0" tIns="0" rIns="0" bIns="0" rtlCol="0" anchor="ctr"/>
          <a:lstStyle/>
          <a:p>
            <a:pPr indent="0" marL="0">
              <a:buNone/>
            </a:pPr>
            <a:r>
              <a:rPr lang="en-US" sz="950" dirty="0">
                <a:solidFill>
                  <a:srgbClr val="E0F0FF"/>
                </a:solidFill>
                <a:latin typeface="Calibri" pitchFamily="34" charset="0"/>
                <a:ea typeface="Calibri" pitchFamily="34" charset="-122"/>
                <a:cs typeface="Calibri" pitchFamily="34" charset="-120"/>
              </a:rPr>
              <a:t>Which hospital was assigned, and route cost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BFF"/>
        </a:solidFill>
      </p:bgPr>
    </p:bg>
    <p:spTree>
      <p:nvGrpSpPr>
        <p:cNvPr id="1" name=""/>
        <p:cNvGrpSpPr/>
        <p:nvPr/>
      </p:nvGrpSpPr>
      <p:grpSpPr>
        <a:xfrm>
          <a:off x="0" y="0"/>
          <a:ext cx="0" cy="0"/>
          <a:chOff x="0" y="0"/>
          <a:chExt cx="0" cy="0"/>
        </a:xfrm>
      </p:grpSpPr>
      <p:sp>
        <p:nvSpPr>
          <p:cNvPr id="2" name="Shape 0"/>
          <p:cNvSpPr/>
          <p:nvPr/>
        </p:nvSpPr>
        <p:spPr>
          <a:xfrm>
            <a:off x="0" y="0"/>
            <a:ext cx="9144000" cy="1051560"/>
          </a:xfrm>
          <a:prstGeom prst="rect">
            <a:avLst/>
          </a:prstGeom>
          <a:solidFill>
            <a:srgbClr val="062A3A"/>
          </a:solidFill>
          <a:ln/>
        </p:spPr>
      </p:sp>
      <p:sp>
        <p:nvSpPr>
          <p:cNvPr id="3" name="Shape 1"/>
          <p:cNvSpPr/>
          <p:nvPr/>
        </p:nvSpPr>
        <p:spPr>
          <a:xfrm>
            <a:off x="0" y="0"/>
            <a:ext cx="164592" cy="5143500"/>
          </a:xfrm>
          <a:prstGeom prst="rect">
            <a:avLst/>
          </a:prstGeom>
          <a:solidFill>
            <a:srgbClr val="00B4D8"/>
          </a:solidFill>
          <a:ln/>
        </p:spPr>
      </p:sp>
      <p:sp>
        <p:nvSpPr>
          <p:cNvPr id="4" name="Text 2"/>
          <p:cNvSpPr/>
          <p:nvPr/>
        </p:nvSpPr>
        <p:spPr>
          <a:xfrm>
            <a:off x="320040" y="54864"/>
            <a:ext cx="8046720" cy="502920"/>
          </a:xfrm>
          <a:prstGeom prst="rect">
            <a:avLst/>
          </a:prstGeom>
          <a:noFill/>
          <a:ln/>
        </p:spPr>
        <p:txBody>
          <a:bodyPr wrap="square" lIns="0" tIns="0" rIns="0" bIns="0" rtlCol="0" anchor="ctr"/>
          <a:lstStyle/>
          <a:p>
            <a:pPr indent="0" marL="0">
              <a:buNone/>
            </a:pPr>
            <a:r>
              <a:rPr lang="en-US" sz="2200" b="1" dirty="0">
                <a:solidFill>
                  <a:srgbClr val="00B4D8"/>
                </a:solidFill>
                <a:latin typeface="Calibri" pitchFamily="34" charset="0"/>
                <a:ea typeface="Calibri" pitchFamily="34" charset="-122"/>
                <a:cs typeface="Calibri" pitchFamily="34" charset="-120"/>
              </a:rPr>
              <a:t>BCS405B  ·  Graph Theory</a:t>
            </a:r>
            <a:endParaRPr lang="en-US" sz="2200" dirty="0"/>
          </a:p>
        </p:txBody>
      </p:sp>
      <p:sp>
        <p:nvSpPr>
          <p:cNvPr id="5" name="Text 3"/>
          <p:cNvSpPr/>
          <p:nvPr/>
        </p:nvSpPr>
        <p:spPr>
          <a:xfrm>
            <a:off x="320040" y="576072"/>
            <a:ext cx="8046720" cy="347472"/>
          </a:xfrm>
          <a:prstGeom prst="rect">
            <a:avLst/>
          </a:prstGeom>
          <a:noFill/>
          <a:ln/>
        </p:spPr>
        <p:txBody>
          <a:bodyPr wrap="square" lIns="0" tIns="0" rIns="0" bIns="0" rtlCol="0" anchor="ctr"/>
          <a:lstStyle/>
          <a:p>
            <a:pPr indent="0" marL="0">
              <a:buNone/>
            </a:pPr>
            <a:r>
              <a:rPr lang="en-US" sz="1300" i="1" dirty="0">
                <a:solidFill>
                  <a:srgbClr val="E0F0FF"/>
                </a:solidFill>
                <a:latin typeface="Calibri" pitchFamily="34" charset="0"/>
                <a:ea typeface="Calibri" pitchFamily="34" charset="-122"/>
                <a:cs typeface="Calibri" pitchFamily="34" charset="-120"/>
              </a:rPr>
              <a:t>Concepts used in this project — explained for viva</a:t>
            </a:r>
            <a:endParaRPr lang="en-US" sz="1300" dirty="0"/>
          </a:p>
        </p:txBody>
      </p:sp>
      <p:sp>
        <p:nvSpPr>
          <p:cNvPr id="6" name="Text 4"/>
          <p:cNvSpPr/>
          <p:nvPr/>
        </p:nvSpPr>
        <p:spPr>
          <a:xfrm>
            <a:off x="8321040" y="201168"/>
            <a:ext cx="640080" cy="640080"/>
          </a:xfrm>
          <a:prstGeom prst="rect">
            <a:avLst/>
          </a:prstGeom>
          <a:noFill/>
          <a:ln/>
        </p:spPr>
        <p:txBody>
          <a:bodyPr wrap="square" lIns="0" tIns="0" rIns="0" bIns="0" rtlCol="0" anchor="ctr"/>
          <a:lstStyle/>
          <a:p>
            <a:pPr algn="ctr" indent="0" marL="0">
              <a:buNone/>
            </a:pPr>
            <a:r>
              <a:rPr lang="en-US" sz="2800" dirty="0">
                <a:solidFill>
                  <a:srgbClr val="000000"/>
                </a:solidFill>
                <a:latin typeface="Segoe UI Emoji" pitchFamily="34" charset="0"/>
                <a:ea typeface="Segoe UI Emoji" pitchFamily="34" charset="-122"/>
                <a:cs typeface="Segoe UI Emoji" pitchFamily="34" charset="-120"/>
              </a:rPr>
              <a:t>🕸</a:t>
            </a:r>
            <a:endParaRPr lang="en-US" sz="2800" dirty="0"/>
          </a:p>
        </p:txBody>
      </p:sp>
      <p:sp>
        <p:nvSpPr>
          <p:cNvPr id="7" name="Shape 5"/>
          <p:cNvSpPr/>
          <p:nvPr/>
        </p:nvSpPr>
        <p:spPr>
          <a:xfrm>
            <a:off x="320040" y="1188720"/>
            <a:ext cx="2697480" cy="1719072"/>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8" name="Shape 6"/>
          <p:cNvSpPr/>
          <p:nvPr/>
        </p:nvSpPr>
        <p:spPr>
          <a:xfrm>
            <a:off x="320040" y="1188720"/>
            <a:ext cx="64008" cy="1719072"/>
          </a:xfrm>
          <a:prstGeom prst="rect">
            <a:avLst/>
          </a:prstGeom>
          <a:solidFill>
            <a:srgbClr val="00B4D8"/>
          </a:solidFill>
          <a:ln/>
        </p:spPr>
      </p:sp>
      <p:sp>
        <p:nvSpPr>
          <p:cNvPr id="9" name="Text 7"/>
          <p:cNvSpPr/>
          <p:nvPr/>
        </p:nvSpPr>
        <p:spPr>
          <a:xfrm>
            <a:off x="457200" y="1261872"/>
            <a:ext cx="2496312" cy="27432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Weighted Graph (City Model)</a:t>
            </a:r>
            <a:endParaRPr lang="en-US" sz="1250" dirty="0"/>
          </a:p>
        </p:txBody>
      </p:sp>
      <p:sp>
        <p:nvSpPr>
          <p:cNvPr id="10" name="Text 8"/>
          <p:cNvSpPr/>
          <p:nvPr/>
        </p:nvSpPr>
        <p:spPr>
          <a:xfrm>
            <a:off x="457200" y="1572768"/>
            <a:ext cx="2496312" cy="1216152"/>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City roads are a graph. Each intersection = Node. Each road = Edge. Weight = distance in km. Exactly how GPS map apps work internally.</a:t>
            </a:r>
            <a:endParaRPr lang="en-US" sz="1050" dirty="0"/>
          </a:p>
        </p:txBody>
      </p:sp>
      <p:sp>
        <p:nvSpPr>
          <p:cNvPr id="11" name="Shape 9"/>
          <p:cNvSpPr/>
          <p:nvPr/>
        </p:nvSpPr>
        <p:spPr>
          <a:xfrm>
            <a:off x="3246120" y="1188720"/>
            <a:ext cx="2697480" cy="1719072"/>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2" name="Shape 10"/>
          <p:cNvSpPr/>
          <p:nvPr/>
        </p:nvSpPr>
        <p:spPr>
          <a:xfrm>
            <a:off x="3246120" y="1188720"/>
            <a:ext cx="64008" cy="1719072"/>
          </a:xfrm>
          <a:prstGeom prst="rect">
            <a:avLst/>
          </a:prstGeom>
          <a:solidFill>
            <a:srgbClr val="00B4D8"/>
          </a:solidFill>
          <a:ln/>
        </p:spPr>
      </p:sp>
      <p:sp>
        <p:nvSpPr>
          <p:cNvPr id="13" name="Text 11"/>
          <p:cNvSpPr/>
          <p:nvPr/>
        </p:nvSpPr>
        <p:spPr>
          <a:xfrm>
            <a:off x="3383280" y="1261872"/>
            <a:ext cx="2496312" cy="27432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Adjacency List</a:t>
            </a:r>
            <a:endParaRPr lang="en-US" sz="1250" dirty="0"/>
          </a:p>
        </p:txBody>
      </p:sp>
      <p:sp>
        <p:nvSpPr>
          <p:cNvPr id="14" name="Text 12"/>
          <p:cNvSpPr/>
          <p:nvPr/>
        </p:nvSpPr>
        <p:spPr>
          <a:xfrm>
            <a:off x="3383280" y="1572768"/>
            <a:ext cx="2496312" cy="1216152"/>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Graph stored as HashMap&lt;NodeId, List&lt;RoadEdge&gt;&gt; in Java. Each node maps to its connected roads. Memory-efficient and fast for sparse networks.</a:t>
            </a:r>
            <a:endParaRPr lang="en-US" sz="1050" dirty="0"/>
          </a:p>
        </p:txBody>
      </p:sp>
      <p:sp>
        <p:nvSpPr>
          <p:cNvPr id="15" name="Shape 13"/>
          <p:cNvSpPr/>
          <p:nvPr/>
        </p:nvSpPr>
        <p:spPr>
          <a:xfrm>
            <a:off x="6172200" y="1188720"/>
            <a:ext cx="2697480" cy="1719072"/>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6" name="Shape 14"/>
          <p:cNvSpPr/>
          <p:nvPr/>
        </p:nvSpPr>
        <p:spPr>
          <a:xfrm>
            <a:off x="6172200" y="1188720"/>
            <a:ext cx="64008" cy="1719072"/>
          </a:xfrm>
          <a:prstGeom prst="rect">
            <a:avLst/>
          </a:prstGeom>
          <a:solidFill>
            <a:srgbClr val="00B4D8"/>
          </a:solidFill>
          <a:ln/>
        </p:spPr>
      </p:sp>
      <p:sp>
        <p:nvSpPr>
          <p:cNvPr id="17" name="Text 15"/>
          <p:cNvSpPr/>
          <p:nvPr/>
        </p:nvSpPr>
        <p:spPr>
          <a:xfrm>
            <a:off x="6309360" y="1261872"/>
            <a:ext cx="2496312" cy="27432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BFS — Breadth First Search</a:t>
            </a:r>
            <a:endParaRPr lang="en-US" sz="1250" dirty="0"/>
          </a:p>
        </p:txBody>
      </p:sp>
      <p:sp>
        <p:nvSpPr>
          <p:cNvPr id="18" name="Text 16"/>
          <p:cNvSpPr/>
          <p:nvPr/>
        </p:nvSpPr>
        <p:spPr>
          <a:xfrm>
            <a:off x="6309360" y="1572768"/>
            <a:ext cx="2496312" cy="1216152"/>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Explores layer by layer (all 1-hop nodes, then 2-hop…). Used to check: 'Is this hospital reachable from the patient location?' YES/NO answer only.</a:t>
            </a:r>
            <a:endParaRPr lang="en-US" sz="1050" dirty="0"/>
          </a:p>
        </p:txBody>
      </p:sp>
      <p:sp>
        <p:nvSpPr>
          <p:cNvPr id="19" name="Shape 17"/>
          <p:cNvSpPr/>
          <p:nvPr/>
        </p:nvSpPr>
        <p:spPr>
          <a:xfrm>
            <a:off x="320040" y="3063240"/>
            <a:ext cx="4160520" cy="1719072"/>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20" name="Shape 18"/>
          <p:cNvSpPr/>
          <p:nvPr/>
        </p:nvSpPr>
        <p:spPr>
          <a:xfrm>
            <a:off x="320040" y="3063240"/>
            <a:ext cx="64008" cy="1719072"/>
          </a:xfrm>
          <a:prstGeom prst="rect">
            <a:avLst/>
          </a:prstGeom>
          <a:solidFill>
            <a:srgbClr val="0077B6"/>
          </a:solidFill>
          <a:ln/>
        </p:spPr>
      </p:sp>
      <p:sp>
        <p:nvSpPr>
          <p:cNvPr id="21" name="Text 19"/>
          <p:cNvSpPr/>
          <p:nvPr/>
        </p:nvSpPr>
        <p:spPr>
          <a:xfrm>
            <a:off x="457200" y="3136392"/>
            <a:ext cx="3959352" cy="27432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DFS — Depth First Search</a:t>
            </a:r>
            <a:endParaRPr lang="en-US" sz="1250" dirty="0"/>
          </a:p>
        </p:txBody>
      </p:sp>
      <p:sp>
        <p:nvSpPr>
          <p:cNvPr id="22" name="Text 20"/>
          <p:cNvSpPr/>
          <p:nvPr/>
        </p:nvSpPr>
        <p:spPr>
          <a:xfrm>
            <a:off x="457200" y="3447288"/>
            <a:ext cx="3959352" cy="1216152"/>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Follows one path as deep as possible before backtracking. Used to list ALL hospitals reachable from a starting location. Good for connectivity analysis and understanding the full network.</a:t>
            </a:r>
            <a:endParaRPr lang="en-US" sz="1050" dirty="0"/>
          </a:p>
        </p:txBody>
      </p:sp>
      <p:sp>
        <p:nvSpPr>
          <p:cNvPr id="23" name="Shape 21"/>
          <p:cNvSpPr/>
          <p:nvPr/>
        </p:nvSpPr>
        <p:spPr>
          <a:xfrm>
            <a:off x="4754880" y="3063240"/>
            <a:ext cx="4343400" cy="1719072"/>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24" name="Shape 22"/>
          <p:cNvSpPr/>
          <p:nvPr/>
        </p:nvSpPr>
        <p:spPr>
          <a:xfrm>
            <a:off x="4754880" y="3063240"/>
            <a:ext cx="64008" cy="1719072"/>
          </a:xfrm>
          <a:prstGeom prst="rect">
            <a:avLst/>
          </a:prstGeom>
          <a:solidFill>
            <a:srgbClr val="0077B6"/>
          </a:solidFill>
          <a:ln/>
        </p:spPr>
      </p:sp>
      <p:sp>
        <p:nvSpPr>
          <p:cNvPr id="25" name="Text 23"/>
          <p:cNvSpPr/>
          <p:nvPr/>
        </p:nvSpPr>
        <p:spPr>
          <a:xfrm>
            <a:off x="4892040" y="3136392"/>
            <a:ext cx="4142232" cy="27432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Dijkstra's Algorithm — Shortest Path (Core Algorithm)</a:t>
            </a:r>
            <a:endParaRPr lang="en-US" sz="1250" dirty="0"/>
          </a:p>
        </p:txBody>
      </p:sp>
      <p:sp>
        <p:nvSpPr>
          <p:cNvPr id="26" name="Text 24"/>
          <p:cNvSpPr/>
          <p:nvPr/>
        </p:nvSpPr>
        <p:spPr>
          <a:xfrm>
            <a:off x="4892040" y="3447288"/>
            <a:ext cx="4142232" cy="1216152"/>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The heart of this project. Starts at patient location, expands using a Priority Queue (always picks the lowest-cost next road), and finds the shortest route to every valid hospital. The one with the lowest total cost wins.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D3A"/>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12B52"/>
          </a:solidFill>
          <a:ln/>
        </p:spPr>
      </p:sp>
      <p:sp>
        <p:nvSpPr>
          <p:cNvPr id="3" name="Shape 1"/>
          <p:cNvSpPr/>
          <p:nvPr/>
        </p:nvSpPr>
        <p:spPr>
          <a:xfrm>
            <a:off x="0" y="0"/>
            <a:ext cx="164592" cy="5143500"/>
          </a:xfrm>
          <a:prstGeom prst="rect">
            <a:avLst/>
          </a:prstGeom>
          <a:solidFill>
            <a:srgbClr val="00B4D8"/>
          </a:solidFill>
          <a:ln/>
        </p:spPr>
      </p:sp>
      <p:sp>
        <p:nvSpPr>
          <p:cNvPr id="4" name="Text 2"/>
          <p:cNvSpPr/>
          <p:nvPr/>
        </p:nvSpPr>
        <p:spPr>
          <a:xfrm>
            <a:off x="320040" y="64008"/>
            <a:ext cx="685800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System Architecture</a:t>
            </a:r>
            <a:endParaRPr lang="en-US" sz="2200" dirty="0"/>
          </a:p>
        </p:txBody>
      </p:sp>
      <p:sp>
        <p:nvSpPr>
          <p:cNvPr id="5" name="Text 3"/>
          <p:cNvSpPr/>
          <p:nvPr/>
        </p:nvSpPr>
        <p:spPr>
          <a:xfrm>
            <a:off x="320040" y="539496"/>
            <a:ext cx="7772400" cy="310896"/>
          </a:xfrm>
          <a:prstGeom prst="rect">
            <a:avLst/>
          </a:prstGeom>
          <a:noFill/>
          <a:ln/>
        </p:spPr>
        <p:txBody>
          <a:bodyPr wrap="square" lIns="0" tIns="0" rIns="0" bIns="0" rtlCol="0" anchor="ctr"/>
          <a:lstStyle/>
          <a:p>
            <a:pPr indent="0" marL="0">
              <a:buNone/>
            </a:pPr>
            <a:r>
              <a:rPr lang="en-US" sz="1150" i="1" dirty="0">
                <a:solidFill>
                  <a:srgbClr val="E0F0FF"/>
                </a:solidFill>
                <a:latin typeface="Calibri" pitchFamily="34" charset="0"/>
                <a:ea typeface="Calibri" pitchFamily="34" charset="-122"/>
                <a:cs typeface="Calibri" pitchFamily="34" charset="-120"/>
              </a:rPr>
              <a:t>Component interaction &amp; data flow — from patient form to ambulance animation</a:t>
            </a:r>
            <a:endParaRPr lang="en-US" sz="1150" dirty="0"/>
          </a:p>
        </p:txBody>
      </p:sp>
      <p:sp>
        <p:nvSpPr>
          <p:cNvPr id="6" name="Text 4"/>
          <p:cNvSpPr/>
          <p:nvPr/>
        </p:nvSpPr>
        <p:spPr>
          <a:xfrm>
            <a:off x="8321040" y="137160"/>
            <a:ext cx="640080" cy="640080"/>
          </a:xfrm>
          <a:prstGeom prst="rect">
            <a:avLst/>
          </a:prstGeom>
          <a:noFill/>
          <a:ln/>
        </p:spPr>
        <p:txBody>
          <a:bodyPr wrap="square" lIns="0" tIns="0" rIns="0" bIns="0" rtlCol="0" anchor="ctr"/>
          <a:lstStyle/>
          <a:p>
            <a:pPr algn="ctr" indent="0" marL="0">
              <a:buNone/>
            </a:pPr>
            <a:r>
              <a:rPr lang="en-US" sz="2600" dirty="0">
                <a:solidFill>
                  <a:srgbClr val="000000"/>
                </a:solidFill>
                <a:latin typeface="Segoe UI Emoji" pitchFamily="34" charset="0"/>
                <a:ea typeface="Segoe UI Emoji" pitchFamily="34" charset="-122"/>
                <a:cs typeface="Segoe UI Emoji" pitchFamily="34" charset="-120"/>
              </a:rPr>
              <a:t>🏗</a:t>
            </a:r>
            <a:endParaRPr lang="en-US" sz="2600" dirty="0"/>
          </a:p>
        </p:txBody>
      </p:sp>
      <p:pic>
        <p:nvPicPr>
          <p:cNvPr id="7" name="Image 0" descr="/Users/abhi/Desktop/insta/AMBULANCE/architecture_diagram.png">    </p:cNvPr>
          <p:cNvPicPr>
            <a:picLocks noChangeAspect="1"/>
          </p:cNvPicPr>
          <p:nvPr/>
        </p:nvPicPr>
        <p:blipFill>
          <a:blip r:embed="rId1"/>
          <a:stretch>
            <a:fillRect/>
          </a:stretch>
        </p:blipFill>
        <p:spPr>
          <a:xfrm>
            <a:off x="228600" y="1024128"/>
            <a:ext cx="4434840" cy="3950208"/>
          </a:xfrm>
          <a:prstGeom prst="rect">
            <a:avLst/>
          </a:prstGeom>
        </p:spPr>
      </p:pic>
      <p:sp>
        <p:nvSpPr>
          <p:cNvPr id="8" name="Shape 5"/>
          <p:cNvSpPr/>
          <p:nvPr/>
        </p:nvSpPr>
        <p:spPr>
          <a:xfrm>
            <a:off x="4892040" y="1024128"/>
            <a:ext cx="4023360" cy="640080"/>
          </a:xfrm>
          <a:prstGeom prst="rect">
            <a:avLst/>
          </a:prstGeom>
          <a:solidFill>
            <a:srgbClr val="1C3A5E"/>
          </a:solidFill>
          <a:ln w="19050">
            <a:solidFill>
              <a:srgbClr val="00B4D8"/>
            </a:solidFill>
            <a:prstDash val="solid"/>
          </a:ln>
        </p:spPr>
      </p:sp>
      <p:sp>
        <p:nvSpPr>
          <p:cNvPr id="9" name="Shape 6"/>
          <p:cNvSpPr/>
          <p:nvPr/>
        </p:nvSpPr>
        <p:spPr>
          <a:xfrm>
            <a:off x="4892040" y="1024128"/>
            <a:ext cx="804672" cy="640080"/>
          </a:xfrm>
          <a:prstGeom prst="rect">
            <a:avLst/>
          </a:prstGeom>
          <a:solidFill>
            <a:srgbClr val="00B4D8"/>
          </a:solidFill>
          <a:ln/>
        </p:spPr>
      </p:sp>
      <p:sp>
        <p:nvSpPr>
          <p:cNvPr id="10" name="Text 7"/>
          <p:cNvSpPr/>
          <p:nvPr/>
        </p:nvSpPr>
        <p:spPr>
          <a:xfrm>
            <a:off x="4910328" y="1024128"/>
            <a:ext cx="768096" cy="6400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UI LAYER</a:t>
            </a:r>
            <a:endParaRPr lang="en-US" sz="750" dirty="0"/>
          </a:p>
        </p:txBody>
      </p:sp>
      <p:sp>
        <p:nvSpPr>
          <p:cNvPr id="11" name="Shape 8"/>
          <p:cNvSpPr/>
          <p:nvPr/>
        </p:nvSpPr>
        <p:spPr>
          <a:xfrm>
            <a:off x="5769864" y="1133856"/>
            <a:ext cx="704088" cy="420624"/>
          </a:xfrm>
          <a:prstGeom prst="roundRect">
            <a:avLst>
              <a:gd name="adj" fmla="val 8696"/>
            </a:avLst>
          </a:prstGeom>
          <a:solidFill>
            <a:srgbClr val="0B1D3A"/>
          </a:solidFill>
          <a:ln/>
        </p:spPr>
      </p:sp>
      <p:sp>
        <p:nvSpPr>
          <p:cNvPr id="12" name="Text 9"/>
          <p:cNvSpPr/>
          <p:nvPr/>
        </p:nvSpPr>
        <p:spPr>
          <a:xfrm>
            <a:off x="5797296" y="1133856"/>
            <a:ext cx="649224" cy="420624"/>
          </a:xfrm>
          <a:prstGeom prst="rect">
            <a:avLst/>
          </a:prstGeom>
          <a:noFill/>
          <a:ln/>
        </p:spPr>
        <p:txBody>
          <a:bodyPr wrap="square" lIns="0" tIns="0" rIns="0" bIns="0" rtlCol="0" anchor="ctr"/>
          <a:lstStyle/>
          <a:p>
            <a:pPr algn="ctr" indent="0" marL="0">
              <a:buNone/>
            </a:pPr>
            <a:r>
              <a:rPr lang="en-US" sz="750" dirty="0">
                <a:solidFill>
                  <a:srgbClr val="E0F0FF"/>
                </a:solidFill>
                <a:latin typeface="Calibri" pitchFamily="34" charset="0"/>
                <a:ea typeface="Calibri" pitchFamily="34" charset="-122"/>
                <a:cs typeface="Calibri" pitchFamily="34" charset="-120"/>
              </a:rPr>
              <a:t>Dashboard</a:t>
            </a:r>
            <a:endParaRPr lang="en-US" sz="750" dirty="0"/>
          </a:p>
        </p:txBody>
      </p:sp>
      <p:sp>
        <p:nvSpPr>
          <p:cNvPr id="13" name="Shape 10"/>
          <p:cNvSpPr/>
          <p:nvPr/>
        </p:nvSpPr>
        <p:spPr>
          <a:xfrm>
            <a:off x="6547104" y="1133856"/>
            <a:ext cx="704088" cy="420624"/>
          </a:xfrm>
          <a:prstGeom prst="roundRect">
            <a:avLst>
              <a:gd name="adj" fmla="val 8696"/>
            </a:avLst>
          </a:prstGeom>
          <a:solidFill>
            <a:srgbClr val="0B1D3A"/>
          </a:solidFill>
          <a:ln/>
        </p:spPr>
      </p:sp>
      <p:sp>
        <p:nvSpPr>
          <p:cNvPr id="14" name="Text 11"/>
          <p:cNvSpPr/>
          <p:nvPr/>
        </p:nvSpPr>
        <p:spPr>
          <a:xfrm>
            <a:off x="6574536" y="1133856"/>
            <a:ext cx="649224" cy="420624"/>
          </a:xfrm>
          <a:prstGeom prst="rect">
            <a:avLst/>
          </a:prstGeom>
          <a:noFill/>
          <a:ln/>
        </p:spPr>
        <p:txBody>
          <a:bodyPr wrap="square" lIns="0" tIns="0" rIns="0" bIns="0" rtlCol="0" anchor="ctr"/>
          <a:lstStyle/>
          <a:p>
            <a:pPr algn="ctr" indent="0" marL="0">
              <a:buNone/>
            </a:pPr>
            <a:r>
              <a:rPr lang="en-US" sz="750" dirty="0">
                <a:solidFill>
                  <a:srgbClr val="E0F0FF"/>
                </a:solidFill>
                <a:latin typeface="Calibri" pitchFamily="34" charset="0"/>
                <a:ea typeface="Calibri" pitchFamily="34" charset="-122"/>
                <a:cs typeface="Calibri" pitchFamily="34" charset="-120"/>
              </a:rPr>
              <a:t>EmergencyEntry</a:t>
            </a:r>
            <a:endParaRPr lang="en-US" sz="750" dirty="0"/>
          </a:p>
        </p:txBody>
      </p:sp>
      <p:sp>
        <p:nvSpPr>
          <p:cNvPr id="15" name="Shape 12"/>
          <p:cNvSpPr/>
          <p:nvPr/>
        </p:nvSpPr>
        <p:spPr>
          <a:xfrm>
            <a:off x="7324344" y="1133856"/>
            <a:ext cx="704088" cy="420624"/>
          </a:xfrm>
          <a:prstGeom prst="roundRect">
            <a:avLst>
              <a:gd name="adj" fmla="val 8696"/>
            </a:avLst>
          </a:prstGeom>
          <a:solidFill>
            <a:srgbClr val="0B1D3A"/>
          </a:solidFill>
          <a:ln/>
        </p:spPr>
      </p:sp>
      <p:sp>
        <p:nvSpPr>
          <p:cNvPr id="16" name="Text 13"/>
          <p:cNvSpPr/>
          <p:nvPr/>
        </p:nvSpPr>
        <p:spPr>
          <a:xfrm>
            <a:off x="7351776" y="1133856"/>
            <a:ext cx="649224" cy="420624"/>
          </a:xfrm>
          <a:prstGeom prst="rect">
            <a:avLst/>
          </a:prstGeom>
          <a:noFill/>
          <a:ln/>
        </p:spPr>
        <p:txBody>
          <a:bodyPr wrap="square" lIns="0" tIns="0" rIns="0" bIns="0" rtlCol="0" anchor="ctr"/>
          <a:lstStyle/>
          <a:p>
            <a:pPr algn="ctr" indent="0" marL="0">
              <a:buNone/>
            </a:pPr>
            <a:r>
              <a:rPr lang="en-US" sz="750" dirty="0">
                <a:solidFill>
                  <a:srgbClr val="E0F0FF"/>
                </a:solidFill>
                <a:latin typeface="Calibri" pitchFamily="34" charset="0"/>
                <a:ea typeface="Calibri" pitchFamily="34" charset="-122"/>
                <a:cs typeface="Calibri" pitchFamily="34" charset="-120"/>
              </a:rPr>
              <a:t>MapView</a:t>
            </a:r>
            <a:endParaRPr lang="en-US" sz="750" dirty="0"/>
          </a:p>
        </p:txBody>
      </p:sp>
      <p:sp>
        <p:nvSpPr>
          <p:cNvPr id="17" name="Shape 14"/>
          <p:cNvSpPr/>
          <p:nvPr/>
        </p:nvSpPr>
        <p:spPr>
          <a:xfrm>
            <a:off x="8101584" y="1133856"/>
            <a:ext cx="704088" cy="420624"/>
          </a:xfrm>
          <a:prstGeom prst="roundRect">
            <a:avLst>
              <a:gd name="adj" fmla="val 8696"/>
            </a:avLst>
          </a:prstGeom>
          <a:solidFill>
            <a:srgbClr val="0B1D3A"/>
          </a:solidFill>
          <a:ln/>
        </p:spPr>
      </p:sp>
      <p:sp>
        <p:nvSpPr>
          <p:cNvPr id="18" name="Text 15"/>
          <p:cNvSpPr/>
          <p:nvPr/>
        </p:nvSpPr>
        <p:spPr>
          <a:xfrm>
            <a:off x="8129016" y="1133856"/>
            <a:ext cx="649224" cy="420624"/>
          </a:xfrm>
          <a:prstGeom prst="rect">
            <a:avLst/>
          </a:prstGeom>
          <a:noFill/>
          <a:ln/>
        </p:spPr>
        <p:txBody>
          <a:bodyPr wrap="square" lIns="0" tIns="0" rIns="0" bIns="0" rtlCol="0" anchor="ctr"/>
          <a:lstStyle/>
          <a:p>
            <a:pPr algn="ctr" indent="0" marL="0">
              <a:buNone/>
            </a:pPr>
            <a:r>
              <a:rPr lang="en-US" sz="750" dirty="0">
                <a:solidFill>
                  <a:srgbClr val="E0F0FF"/>
                </a:solidFill>
                <a:latin typeface="Calibri" pitchFamily="34" charset="0"/>
                <a:ea typeface="Calibri" pitchFamily="34" charset="-122"/>
                <a:cs typeface="Calibri" pitchFamily="34" charset="-120"/>
              </a:rPr>
              <a:t>Visualizer</a:t>
            </a:r>
            <a:endParaRPr lang="en-US" sz="750" dirty="0"/>
          </a:p>
        </p:txBody>
      </p:sp>
      <p:sp>
        <p:nvSpPr>
          <p:cNvPr id="19" name="Text 16"/>
          <p:cNvSpPr/>
          <p:nvPr/>
        </p:nvSpPr>
        <p:spPr>
          <a:xfrm>
            <a:off x="6766560" y="1664208"/>
            <a:ext cx="274320" cy="128016"/>
          </a:xfrm>
          <a:prstGeom prst="rect">
            <a:avLst/>
          </a:prstGeom>
          <a:noFill/>
          <a:ln/>
        </p:spPr>
        <p:txBody>
          <a:bodyPr wrap="square" lIns="0" tIns="0" rIns="0" bIns="0" rtlCol="0" anchor="ctr"/>
          <a:lstStyle/>
          <a:p>
            <a:pPr algn="ctr" indent="0" marL="0">
              <a:buNone/>
            </a:pPr>
            <a:r>
              <a:rPr lang="en-US" sz="800" dirty="0">
                <a:solidFill>
                  <a:srgbClr val="00B4D8"/>
                </a:solidFill>
                <a:latin typeface="Calibri" pitchFamily="34" charset="0"/>
                <a:ea typeface="Calibri" pitchFamily="34" charset="-122"/>
                <a:cs typeface="Calibri" pitchFamily="34" charset="-120"/>
              </a:rPr>
              <a:t>▼</a:t>
            </a:r>
            <a:endParaRPr lang="en-US" sz="800" dirty="0"/>
          </a:p>
        </p:txBody>
      </p:sp>
      <p:sp>
        <p:nvSpPr>
          <p:cNvPr id="20" name="Shape 17"/>
          <p:cNvSpPr/>
          <p:nvPr/>
        </p:nvSpPr>
        <p:spPr>
          <a:xfrm>
            <a:off x="4892040" y="1810512"/>
            <a:ext cx="4023360" cy="640080"/>
          </a:xfrm>
          <a:prstGeom prst="rect">
            <a:avLst/>
          </a:prstGeom>
          <a:solidFill>
            <a:srgbClr val="0D3320"/>
          </a:solidFill>
          <a:ln w="19050">
            <a:solidFill>
              <a:srgbClr val="10B981"/>
            </a:solidFill>
            <a:prstDash val="solid"/>
          </a:ln>
        </p:spPr>
      </p:sp>
      <p:sp>
        <p:nvSpPr>
          <p:cNvPr id="21" name="Shape 18"/>
          <p:cNvSpPr/>
          <p:nvPr/>
        </p:nvSpPr>
        <p:spPr>
          <a:xfrm>
            <a:off x="4892040" y="1810512"/>
            <a:ext cx="804672" cy="640080"/>
          </a:xfrm>
          <a:prstGeom prst="rect">
            <a:avLst/>
          </a:prstGeom>
          <a:solidFill>
            <a:srgbClr val="10B981"/>
          </a:solidFill>
          <a:ln/>
        </p:spPr>
      </p:sp>
      <p:sp>
        <p:nvSpPr>
          <p:cNvPr id="22" name="Text 19"/>
          <p:cNvSpPr/>
          <p:nvPr/>
        </p:nvSpPr>
        <p:spPr>
          <a:xfrm>
            <a:off x="4910328" y="1810512"/>
            <a:ext cx="768096" cy="6400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CONTEXT</a:t>
            </a:r>
            <a:endParaRPr lang="en-US" sz="750" dirty="0"/>
          </a:p>
        </p:txBody>
      </p:sp>
      <p:sp>
        <p:nvSpPr>
          <p:cNvPr id="23" name="Shape 20"/>
          <p:cNvSpPr/>
          <p:nvPr/>
        </p:nvSpPr>
        <p:spPr>
          <a:xfrm>
            <a:off x="5769864" y="1920240"/>
            <a:ext cx="963168" cy="420624"/>
          </a:xfrm>
          <a:prstGeom prst="roundRect">
            <a:avLst>
              <a:gd name="adj" fmla="val 8696"/>
            </a:avLst>
          </a:prstGeom>
          <a:solidFill>
            <a:srgbClr val="0B1D3A"/>
          </a:solidFill>
          <a:ln/>
        </p:spPr>
      </p:sp>
      <p:sp>
        <p:nvSpPr>
          <p:cNvPr id="24" name="Text 21"/>
          <p:cNvSpPr/>
          <p:nvPr/>
        </p:nvSpPr>
        <p:spPr>
          <a:xfrm>
            <a:off x="5797296" y="1920240"/>
            <a:ext cx="908304" cy="420624"/>
          </a:xfrm>
          <a:prstGeom prst="rect">
            <a:avLst/>
          </a:prstGeom>
          <a:noFill/>
          <a:ln/>
        </p:spPr>
        <p:txBody>
          <a:bodyPr wrap="square" lIns="0" tIns="0" rIns="0" bIns="0" rtlCol="0" anchor="ctr"/>
          <a:lstStyle/>
          <a:p>
            <a:pPr algn="ctr" indent="0" marL="0">
              <a:buNone/>
            </a:pPr>
            <a:r>
              <a:rPr lang="en-US" sz="750" dirty="0">
                <a:solidFill>
                  <a:srgbClr val="E0F0FF"/>
                </a:solidFill>
                <a:latin typeface="Calibri" pitchFamily="34" charset="0"/>
                <a:ea typeface="Calibri" pitchFamily="34" charset="-122"/>
                <a:cs typeface="Calibri" pitchFamily="34" charset="-120"/>
              </a:rPr>
              <a:t>AppContext.jsx</a:t>
            </a:r>
            <a:endParaRPr lang="en-US" sz="750" dirty="0"/>
          </a:p>
        </p:txBody>
      </p:sp>
      <p:sp>
        <p:nvSpPr>
          <p:cNvPr id="25" name="Shape 22"/>
          <p:cNvSpPr/>
          <p:nvPr/>
        </p:nvSpPr>
        <p:spPr>
          <a:xfrm>
            <a:off x="6806184" y="1920240"/>
            <a:ext cx="963168" cy="420624"/>
          </a:xfrm>
          <a:prstGeom prst="roundRect">
            <a:avLst>
              <a:gd name="adj" fmla="val 8696"/>
            </a:avLst>
          </a:prstGeom>
          <a:solidFill>
            <a:srgbClr val="0B1D3A"/>
          </a:solidFill>
          <a:ln/>
        </p:spPr>
      </p:sp>
      <p:sp>
        <p:nvSpPr>
          <p:cNvPr id="26" name="Text 23"/>
          <p:cNvSpPr/>
          <p:nvPr/>
        </p:nvSpPr>
        <p:spPr>
          <a:xfrm>
            <a:off x="6833616" y="1920240"/>
            <a:ext cx="908304" cy="420624"/>
          </a:xfrm>
          <a:prstGeom prst="rect">
            <a:avLst/>
          </a:prstGeom>
          <a:noFill/>
          <a:ln/>
        </p:spPr>
        <p:txBody>
          <a:bodyPr wrap="square" lIns="0" tIns="0" rIns="0" bIns="0" rtlCol="0" anchor="ctr"/>
          <a:lstStyle/>
          <a:p>
            <a:pPr algn="ctr" indent="0" marL="0">
              <a:buNone/>
            </a:pPr>
            <a:r>
              <a:rPr lang="en-US" sz="750" dirty="0">
                <a:solidFill>
                  <a:srgbClr val="E0F0FF"/>
                </a:solidFill>
                <a:latin typeface="Calibri" pitchFamily="34" charset="0"/>
                <a:ea typeface="Calibri" pitchFamily="34" charset="-122"/>
                <a:cs typeface="Calibri" pitchFamily="34" charset="-120"/>
              </a:rPr>
              <a:t>runRecommendation()</a:t>
            </a:r>
            <a:endParaRPr lang="en-US" sz="750" dirty="0"/>
          </a:p>
        </p:txBody>
      </p:sp>
      <p:sp>
        <p:nvSpPr>
          <p:cNvPr id="27" name="Shape 24"/>
          <p:cNvSpPr/>
          <p:nvPr/>
        </p:nvSpPr>
        <p:spPr>
          <a:xfrm>
            <a:off x="7842504" y="1920240"/>
            <a:ext cx="963168" cy="420624"/>
          </a:xfrm>
          <a:prstGeom prst="roundRect">
            <a:avLst>
              <a:gd name="adj" fmla="val 8696"/>
            </a:avLst>
          </a:prstGeom>
          <a:solidFill>
            <a:srgbClr val="0B1D3A"/>
          </a:solidFill>
          <a:ln/>
        </p:spPr>
      </p:sp>
      <p:sp>
        <p:nvSpPr>
          <p:cNvPr id="28" name="Text 25"/>
          <p:cNvSpPr/>
          <p:nvPr/>
        </p:nvSpPr>
        <p:spPr>
          <a:xfrm>
            <a:off x="7869936" y="1920240"/>
            <a:ext cx="908304" cy="420624"/>
          </a:xfrm>
          <a:prstGeom prst="rect">
            <a:avLst/>
          </a:prstGeom>
          <a:noFill/>
          <a:ln/>
        </p:spPr>
        <p:txBody>
          <a:bodyPr wrap="square" lIns="0" tIns="0" rIns="0" bIns="0" rtlCol="0" anchor="ctr"/>
          <a:lstStyle/>
          <a:p>
            <a:pPr algn="ctr" indent="0" marL="0">
              <a:buNone/>
            </a:pPr>
            <a:r>
              <a:rPr lang="en-US" sz="750" dirty="0">
                <a:solidFill>
                  <a:srgbClr val="E0F0FF"/>
                </a:solidFill>
                <a:latin typeface="Calibri" pitchFamily="34" charset="0"/>
                <a:ea typeface="Calibri" pitchFamily="34" charset="-122"/>
                <a:cs typeface="Calibri" pitchFamily="34" charset="-120"/>
              </a:rPr>
              <a:t>localStorage</a:t>
            </a:r>
            <a:endParaRPr lang="en-US" sz="750" dirty="0"/>
          </a:p>
        </p:txBody>
      </p:sp>
      <p:sp>
        <p:nvSpPr>
          <p:cNvPr id="29" name="Text 26"/>
          <p:cNvSpPr/>
          <p:nvPr/>
        </p:nvSpPr>
        <p:spPr>
          <a:xfrm>
            <a:off x="6766560" y="2450592"/>
            <a:ext cx="274320" cy="128016"/>
          </a:xfrm>
          <a:prstGeom prst="rect">
            <a:avLst/>
          </a:prstGeom>
          <a:noFill/>
          <a:ln/>
        </p:spPr>
        <p:txBody>
          <a:bodyPr wrap="square" lIns="0" tIns="0" rIns="0" bIns="0" rtlCol="0" anchor="ctr"/>
          <a:lstStyle/>
          <a:p>
            <a:pPr algn="ctr" indent="0" marL="0">
              <a:buNone/>
            </a:pPr>
            <a:r>
              <a:rPr lang="en-US" sz="800" dirty="0">
                <a:solidFill>
                  <a:srgbClr val="00B4D8"/>
                </a:solidFill>
                <a:latin typeface="Calibri" pitchFamily="34" charset="0"/>
                <a:ea typeface="Calibri" pitchFamily="34" charset="-122"/>
                <a:cs typeface="Calibri" pitchFamily="34" charset="-120"/>
              </a:rPr>
              <a:t>▼</a:t>
            </a:r>
            <a:endParaRPr lang="en-US" sz="800" dirty="0"/>
          </a:p>
        </p:txBody>
      </p:sp>
      <p:sp>
        <p:nvSpPr>
          <p:cNvPr id="30" name="Shape 27"/>
          <p:cNvSpPr/>
          <p:nvPr/>
        </p:nvSpPr>
        <p:spPr>
          <a:xfrm>
            <a:off x="4892040" y="2596896"/>
            <a:ext cx="4023360" cy="640080"/>
          </a:xfrm>
          <a:prstGeom prst="rect">
            <a:avLst/>
          </a:prstGeom>
          <a:solidFill>
            <a:srgbClr val="062A3A"/>
          </a:solidFill>
          <a:ln w="19050">
            <a:solidFill>
              <a:srgbClr val="00B4D8"/>
            </a:solidFill>
            <a:prstDash val="solid"/>
          </a:ln>
        </p:spPr>
      </p:sp>
      <p:sp>
        <p:nvSpPr>
          <p:cNvPr id="31" name="Shape 28"/>
          <p:cNvSpPr/>
          <p:nvPr/>
        </p:nvSpPr>
        <p:spPr>
          <a:xfrm>
            <a:off x="4892040" y="2596896"/>
            <a:ext cx="804672" cy="640080"/>
          </a:xfrm>
          <a:prstGeom prst="rect">
            <a:avLst/>
          </a:prstGeom>
          <a:solidFill>
            <a:srgbClr val="00B4D8"/>
          </a:solidFill>
          <a:ln/>
        </p:spPr>
      </p:sp>
      <p:sp>
        <p:nvSpPr>
          <p:cNvPr id="32" name="Text 29"/>
          <p:cNvSpPr/>
          <p:nvPr/>
        </p:nvSpPr>
        <p:spPr>
          <a:xfrm>
            <a:off x="4910328" y="2596896"/>
            <a:ext cx="768096" cy="6400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ENGINES</a:t>
            </a:r>
            <a:endParaRPr lang="en-US" sz="750" dirty="0"/>
          </a:p>
        </p:txBody>
      </p:sp>
      <p:sp>
        <p:nvSpPr>
          <p:cNvPr id="33" name="Shape 30"/>
          <p:cNvSpPr/>
          <p:nvPr/>
        </p:nvSpPr>
        <p:spPr>
          <a:xfrm>
            <a:off x="5769864" y="2706624"/>
            <a:ext cx="704088" cy="420624"/>
          </a:xfrm>
          <a:prstGeom prst="roundRect">
            <a:avLst>
              <a:gd name="adj" fmla="val 8696"/>
            </a:avLst>
          </a:prstGeom>
          <a:solidFill>
            <a:srgbClr val="0B1D3A"/>
          </a:solidFill>
          <a:ln/>
        </p:spPr>
      </p:sp>
      <p:sp>
        <p:nvSpPr>
          <p:cNvPr id="34" name="Text 31"/>
          <p:cNvSpPr/>
          <p:nvPr/>
        </p:nvSpPr>
        <p:spPr>
          <a:xfrm>
            <a:off x="5797296" y="2706624"/>
            <a:ext cx="649224" cy="420624"/>
          </a:xfrm>
          <a:prstGeom prst="rect">
            <a:avLst/>
          </a:prstGeom>
          <a:noFill/>
          <a:ln/>
        </p:spPr>
        <p:txBody>
          <a:bodyPr wrap="square" lIns="0" tIns="0" rIns="0" bIns="0" rtlCol="0" anchor="ctr"/>
          <a:lstStyle/>
          <a:p>
            <a:pPr algn="ctr" indent="0" marL="0">
              <a:buNone/>
            </a:pPr>
            <a:r>
              <a:rPr lang="en-US" sz="750" dirty="0">
                <a:solidFill>
                  <a:srgbClr val="E0F0FF"/>
                </a:solidFill>
                <a:latin typeface="Calibri" pitchFamily="34" charset="0"/>
                <a:ea typeface="Calibri" pitchFamily="34" charset="-122"/>
                <a:cs typeface="Calibri" pitchFamily="34" charset="-120"/>
              </a:rPr>
              <a:t>CityGraph</a:t>
            </a:r>
            <a:endParaRPr lang="en-US" sz="750" dirty="0"/>
          </a:p>
        </p:txBody>
      </p:sp>
      <p:sp>
        <p:nvSpPr>
          <p:cNvPr id="35" name="Shape 32"/>
          <p:cNvSpPr/>
          <p:nvPr/>
        </p:nvSpPr>
        <p:spPr>
          <a:xfrm>
            <a:off x="6547104" y="2706624"/>
            <a:ext cx="704088" cy="420624"/>
          </a:xfrm>
          <a:prstGeom prst="roundRect">
            <a:avLst>
              <a:gd name="adj" fmla="val 8696"/>
            </a:avLst>
          </a:prstGeom>
          <a:solidFill>
            <a:srgbClr val="0B1D3A"/>
          </a:solidFill>
          <a:ln/>
        </p:spPr>
      </p:sp>
      <p:sp>
        <p:nvSpPr>
          <p:cNvPr id="36" name="Text 33"/>
          <p:cNvSpPr/>
          <p:nvPr/>
        </p:nvSpPr>
        <p:spPr>
          <a:xfrm>
            <a:off x="6574536" y="2706624"/>
            <a:ext cx="649224" cy="420624"/>
          </a:xfrm>
          <a:prstGeom prst="rect">
            <a:avLst/>
          </a:prstGeom>
          <a:noFill/>
          <a:ln/>
        </p:spPr>
        <p:txBody>
          <a:bodyPr wrap="square" lIns="0" tIns="0" rIns="0" bIns="0" rtlCol="0" anchor="ctr"/>
          <a:lstStyle/>
          <a:p>
            <a:pPr algn="ctr" indent="0" marL="0">
              <a:buNone/>
            </a:pPr>
            <a:r>
              <a:rPr lang="en-US" sz="750" dirty="0">
                <a:solidFill>
                  <a:srgbClr val="E0F0FF"/>
                </a:solidFill>
                <a:latin typeface="Calibri" pitchFamily="34" charset="0"/>
                <a:ea typeface="Calibri" pitchFamily="34" charset="-122"/>
                <a:cs typeface="Calibri" pitchFamily="34" charset="-120"/>
              </a:rPr>
              <a:t>Dijkstra</a:t>
            </a:r>
            <a:endParaRPr lang="en-US" sz="750" dirty="0"/>
          </a:p>
        </p:txBody>
      </p:sp>
      <p:sp>
        <p:nvSpPr>
          <p:cNvPr id="37" name="Shape 34"/>
          <p:cNvSpPr/>
          <p:nvPr/>
        </p:nvSpPr>
        <p:spPr>
          <a:xfrm>
            <a:off x="7324344" y="2706624"/>
            <a:ext cx="704088" cy="420624"/>
          </a:xfrm>
          <a:prstGeom prst="roundRect">
            <a:avLst>
              <a:gd name="adj" fmla="val 8696"/>
            </a:avLst>
          </a:prstGeom>
          <a:solidFill>
            <a:srgbClr val="0B1D3A"/>
          </a:solidFill>
          <a:ln/>
        </p:spPr>
      </p:sp>
      <p:sp>
        <p:nvSpPr>
          <p:cNvPr id="38" name="Text 35"/>
          <p:cNvSpPr/>
          <p:nvPr/>
        </p:nvSpPr>
        <p:spPr>
          <a:xfrm>
            <a:off x="7351776" y="2706624"/>
            <a:ext cx="649224" cy="420624"/>
          </a:xfrm>
          <a:prstGeom prst="rect">
            <a:avLst/>
          </a:prstGeom>
          <a:noFill/>
          <a:ln/>
        </p:spPr>
        <p:txBody>
          <a:bodyPr wrap="square" lIns="0" tIns="0" rIns="0" bIns="0" rtlCol="0" anchor="ctr"/>
          <a:lstStyle/>
          <a:p>
            <a:pPr algn="ctr" indent="0" marL="0">
              <a:buNone/>
            </a:pPr>
            <a:r>
              <a:rPr lang="en-US" sz="750" dirty="0">
                <a:solidFill>
                  <a:srgbClr val="E0F0FF"/>
                </a:solidFill>
                <a:latin typeface="Calibri" pitchFamily="34" charset="0"/>
                <a:ea typeface="Calibri" pitchFamily="34" charset="-122"/>
                <a:cs typeface="Calibri" pitchFamily="34" charset="-120"/>
              </a:rPr>
              <a:t>A*</a:t>
            </a:r>
            <a:endParaRPr lang="en-US" sz="750" dirty="0"/>
          </a:p>
        </p:txBody>
      </p:sp>
      <p:sp>
        <p:nvSpPr>
          <p:cNvPr id="39" name="Shape 36"/>
          <p:cNvSpPr/>
          <p:nvPr/>
        </p:nvSpPr>
        <p:spPr>
          <a:xfrm>
            <a:off x="8101584" y="2706624"/>
            <a:ext cx="704088" cy="420624"/>
          </a:xfrm>
          <a:prstGeom prst="roundRect">
            <a:avLst>
              <a:gd name="adj" fmla="val 8696"/>
            </a:avLst>
          </a:prstGeom>
          <a:solidFill>
            <a:srgbClr val="0B1D3A"/>
          </a:solidFill>
          <a:ln/>
        </p:spPr>
      </p:sp>
      <p:sp>
        <p:nvSpPr>
          <p:cNvPr id="40" name="Text 37"/>
          <p:cNvSpPr/>
          <p:nvPr/>
        </p:nvSpPr>
        <p:spPr>
          <a:xfrm>
            <a:off x="8129016" y="2706624"/>
            <a:ext cx="649224" cy="420624"/>
          </a:xfrm>
          <a:prstGeom prst="rect">
            <a:avLst/>
          </a:prstGeom>
          <a:noFill/>
          <a:ln/>
        </p:spPr>
        <p:txBody>
          <a:bodyPr wrap="square" lIns="0" tIns="0" rIns="0" bIns="0" rtlCol="0" anchor="ctr"/>
          <a:lstStyle/>
          <a:p>
            <a:pPr algn="ctr" indent="0" marL="0">
              <a:buNone/>
            </a:pPr>
            <a:r>
              <a:rPr lang="en-US" sz="750" dirty="0">
                <a:solidFill>
                  <a:srgbClr val="E0F0FF"/>
                </a:solidFill>
                <a:latin typeface="Calibri" pitchFamily="34" charset="0"/>
                <a:ea typeface="Calibri" pitchFamily="34" charset="-122"/>
                <a:cs typeface="Calibri" pitchFamily="34" charset="-120"/>
              </a:rPr>
              <a:t>BFS/DFS</a:t>
            </a:r>
            <a:endParaRPr lang="en-US" sz="750" dirty="0"/>
          </a:p>
        </p:txBody>
      </p:sp>
      <p:sp>
        <p:nvSpPr>
          <p:cNvPr id="41" name="Text 38"/>
          <p:cNvSpPr/>
          <p:nvPr/>
        </p:nvSpPr>
        <p:spPr>
          <a:xfrm>
            <a:off x="6766560" y="3236976"/>
            <a:ext cx="274320" cy="128016"/>
          </a:xfrm>
          <a:prstGeom prst="rect">
            <a:avLst/>
          </a:prstGeom>
          <a:noFill/>
          <a:ln/>
        </p:spPr>
        <p:txBody>
          <a:bodyPr wrap="square" lIns="0" tIns="0" rIns="0" bIns="0" rtlCol="0" anchor="ctr"/>
          <a:lstStyle/>
          <a:p>
            <a:pPr algn="ctr" indent="0" marL="0">
              <a:buNone/>
            </a:pPr>
            <a:r>
              <a:rPr lang="en-US" sz="800" dirty="0">
                <a:solidFill>
                  <a:srgbClr val="00B4D8"/>
                </a:solidFill>
                <a:latin typeface="Calibri" pitchFamily="34" charset="0"/>
                <a:ea typeface="Calibri" pitchFamily="34" charset="-122"/>
                <a:cs typeface="Calibri" pitchFamily="34" charset="-120"/>
              </a:rPr>
              <a:t>▼</a:t>
            </a:r>
            <a:endParaRPr lang="en-US" sz="800" dirty="0"/>
          </a:p>
        </p:txBody>
      </p:sp>
      <p:sp>
        <p:nvSpPr>
          <p:cNvPr id="42" name="Shape 39"/>
          <p:cNvSpPr/>
          <p:nvPr/>
        </p:nvSpPr>
        <p:spPr>
          <a:xfrm>
            <a:off x="4892040" y="3383280"/>
            <a:ext cx="4023360" cy="548640"/>
          </a:xfrm>
          <a:prstGeom prst="rect">
            <a:avLst/>
          </a:prstGeom>
          <a:solidFill>
            <a:srgbClr val="1A0A35"/>
          </a:solidFill>
          <a:ln w="19050">
            <a:solidFill>
              <a:srgbClr val="8B5CF6"/>
            </a:solidFill>
            <a:prstDash val="solid"/>
          </a:ln>
        </p:spPr>
      </p:sp>
      <p:sp>
        <p:nvSpPr>
          <p:cNvPr id="43" name="Shape 40"/>
          <p:cNvSpPr/>
          <p:nvPr/>
        </p:nvSpPr>
        <p:spPr>
          <a:xfrm>
            <a:off x="4892040" y="3383280"/>
            <a:ext cx="804672" cy="548640"/>
          </a:xfrm>
          <a:prstGeom prst="rect">
            <a:avLst/>
          </a:prstGeom>
          <a:solidFill>
            <a:srgbClr val="8B5CF6"/>
          </a:solidFill>
          <a:ln/>
        </p:spPr>
      </p:sp>
      <p:sp>
        <p:nvSpPr>
          <p:cNvPr id="44" name="Text 41"/>
          <p:cNvSpPr/>
          <p:nvPr/>
        </p:nvSpPr>
        <p:spPr>
          <a:xfrm>
            <a:off x="4910328" y="3383280"/>
            <a:ext cx="768096" cy="54864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DATA</a:t>
            </a:r>
            <a:endParaRPr lang="en-US" sz="750" dirty="0"/>
          </a:p>
        </p:txBody>
      </p:sp>
      <p:sp>
        <p:nvSpPr>
          <p:cNvPr id="45" name="Shape 42"/>
          <p:cNvSpPr/>
          <p:nvPr/>
        </p:nvSpPr>
        <p:spPr>
          <a:xfrm>
            <a:off x="5769864" y="3493008"/>
            <a:ext cx="3035808" cy="329184"/>
          </a:xfrm>
          <a:prstGeom prst="roundRect">
            <a:avLst>
              <a:gd name="adj" fmla="val 11111"/>
            </a:avLst>
          </a:prstGeom>
          <a:solidFill>
            <a:srgbClr val="0B1D3A"/>
          </a:solidFill>
          <a:ln/>
        </p:spPr>
      </p:sp>
      <p:sp>
        <p:nvSpPr>
          <p:cNvPr id="46" name="Text 43"/>
          <p:cNvSpPr/>
          <p:nvPr/>
        </p:nvSpPr>
        <p:spPr>
          <a:xfrm>
            <a:off x="5797296" y="3493008"/>
            <a:ext cx="2980944" cy="329184"/>
          </a:xfrm>
          <a:prstGeom prst="rect">
            <a:avLst/>
          </a:prstGeom>
          <a:noFill/>
          <a:ln/>
        </p:spPr>
        <p:txBody>
          <a:bodyPr wrap="square" lIns="0" tIns="0" rIns="0" bIns="0" rtlCol="0" anchor="ctr"/>
          <a:lstStyle/>
          <a:p>
            <a:pPr algn="ctr" indent="0" marL="0">
              <a:buNone/>
            </a:pPr>
            <a:r>
              <a:rPr lang="en-US" sz="750" dirty="0">
                <a:solidFill>
                  <a:srgbClr val="E0F0FF"/>
                </a:solidFill>
                <a:latin typeface="Calibri" pitchFamily="34" charset="0"/>
                <a:ea typeface="Calibri" pitchFamily="34" charset="-122"/>
                <a:cs typeface="Calibri" pitchFamily="34" charset="-120"/>
              </a:rPr>
              <a:t>cityData.js  (13 nodes · 23 edges · 6 hospitals)</a:t>
            </a:r>
            <a:endParaRPr lang="en-US" sz="750" dirty="0"/>
          </a:p>
        </p:txBody>
      </p:sp>
      <p:sp>
        <p:nvSpPr>
          <p:cNvPr id="47" name="Shape 44"/>
          <p:cNvSpPr/>
          <p:nvPr/>
        </p:nvSpPr>
        <p:spPr>
          <a:xfrm>
            <a:off x="4892040" y="4041648"/>
            <a:ext cx="4023360" cy="804672"/>
          </a:xfrm>
          <a:prstGeom prst="rect">
            <a:avLst/>
          </a:prstGeom>
          <a:solidFill>
            <a:srgbClr val="112B52"/>
          </a:solidFill>
          <a:ln/>
          <a:effectLst>
            <a:outerShdw sx="100000" sy="100000" kx="0" ky="0" algn="bl" rotWithShape="0" blurRad="101600" dist="38100" dir="8100000">
              <a:srgbClr val="000000">
                <a:alpha val="12000"/>
              </a:srgbClr>
            </a:outerShdw>
          </a:effectLst>
        </p:spPr>
      </p:sp>
      <p:sp>
        <p:nvSpPr>
          <p:cNvPr id="48" name="Shape 45"/>
          <p:cNvSpPr/>
          <p:nvPr/>
        </p:nvSpPr>
        <p:spPr>
          <a:xfrm>
            <a:off x="4892040" y="4041648"/>
            <a:ext cx="4023360" cy="274320"/>
          </a:xfrm>
          <a:prstGeom prst="rect">
            <a:avLst/>
          </a:prstGeom>
          <a:solidFill>
            <a:srgbClr val="0077B6"/>
          </a:solidFill>
          <a:ln/>
        </p:spPr>
      </p:sp>
      <p:sp>
        <p:nvSpPr>
          <p:cNvPr id="49" name="Text 46"/>
          <p:cNvSpPr/>
          <p:nvPr/>
        </p:nvSpPr>
        <p:spPr>
          <a:xfrm>
            <a:off x="4983480" y="4050792"/>
            <a:ext cx="3840480" cy="256032"/>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Request Lifecycle</a:t>
            </a:r>
            <a:endParaRPr lang="en-US" sz="1050" dirty="0"/>
          </a:p>
        </p:txBody>
      </p:sp>
      <p:sp>
        <p:nvSpPr>
          <p:cNvPr id="50" name="Shape 47"/>
          <p:cNvSpPr/>
          <p:nvPr/>
        </p:nvSpPr>
        <p:spPr>
          <a:xfrm>
            <a:off x="4983480" y="4370832"/>
            <a:ext cx="137160" cy="137160"/>
          </a:xfrm>
          <a:prstGeom prst="oval">
            <a:avLst/>
          </a:prstGeom>
          <a:solidFill>
            <a:srgbClr val="00B4D8"/>
          </a:solidFill>
          <a:ln/>
        </p:spPr>
      </p:sp>
      <p:sp>
        <p:nvSpPr>
          <p:cNvPr id="51" name="Text 48"/>
          <p:cNvSpPr/>
          <p:nvPr/>
        </p:nvSpPr>
        <p:spPr>
          <a:xfrm>
            <a:off x="5184648" y="4352544"/>
            <a:ext cx="3657600" cy="164592"/>
          </a:xfrm>
          <a:prstGeom prst="rect">
            <a:avLst/>
          </a:prstGeom>
          <a:noFill/>
          <a:ln/>
        </p:spPr>
        <p:txBody>
          <a:bodyPr wrap="square" lIns="0" tIns="0" rIns="0" bIns="0" rtlCol="0" anchor="ctr"/>
          <a:lstStyle/>
          <a:p>
            <a:pPr indent="0" marL="0">
              <a:buNone/>
            </a:pPr>
            <a:r>
              <a:rPr lang="en-US" sz="800" dirty="0">
                <a:solidFill>
                  <a:srgbClr val="E0F0FF"/>
                </a:solidFill>
                <a:latin typeface="Calibri" pitchFamily="34" charset="0"/>
                <a:ea typeface="Calibri" pitchFamily="34" charset="-122"/>
                <a:cs typeface="Calibri" pitchFamily="34" charset="-120"/>
              </a:rPr>
              <a:t>Form Submit → AppContext.runRecommendation()</a:t>
            </a:r>
            <a:endParaRPr lang="en-US" sz="800" dirty="0"/>
          </a:p>
        </p:txBody>
      </p:sp>
      <p:sp>
        <p:nvSpPr>
          <p:cNvPr id="52" name="Shape 49"/>
          <p:cNvSpPr/>
          <p:nvPr/>
        </p:nvSpPr>
        <p:spPr>
          <a:xfrm>
            <a:off x="4983480" y="4526280"/>
            <a:ext cx="137160" cy="137160"/>
          </a:xfrm>
          <a:prstGeom prst="oval">
            <a:avLst/>
          </a:prstGeom>
          <a:solidFill>
            <a:srgbClr val="00B4D8"/>
          </a:solidFill>
          <a:ln/>
        </p:spPr>
      </p:sp>
      <p:sp>
        <p:nvSpPr>
          <p:cNvPr id="53" name="Text 50"/>
          <p:cNvSpPr/>
          <p:nvPr/>
        </p:nvSpPr>
        <p:spPr>
          <a:xfrm>
            <a:off x="5184648" y="4507992"/>
            <a:ext cx="3657600" cy="164592"/>
          </a:xfrm>
          <a:prstGeom prst="rect">
            <a:avLst/>
          </a:prstGeom>
          <a:noFill/>
          <a:ln/>
        </p:spPr>
        <p:txBody>
          <a:bodyPr wrap="square" lIns="0" tIns="0" rIns="0" bIns="0" rtlCol="0" anchor="ctr"/>
          <a:lstStyle/>
          <a:p>
            <a:pPr indent="0" marL="0">
              <a:buNone/>
            </a:pPr>
            <a:r>
              <a:rPr lang="en-US" sz="800" dirty="0">
                <a:solidFill>
                  <a:srgbClr val="E0F0FF"/>
                </a:solidFill>
                <a:latin typeface="Calibri" pitchFamily="34" charset="0"/>
                <a:ea typeface="Calibri" pitchFamily="34" charset="-122"/>
                <a:cs typeface="Calibri" pitchFamily="34" charset="-120"/>
              </a:rPr>
              <a:t>RecommendationService: filter type → beds → Dijkstra per hospital</a:t>
            </a:r>
            <a:endParaRPr lang="en-US" sz="800" dirty="0"/>
          </a:p>
        </p:txBody>
      </p:sp>
      <p:sp>
        <p:nvSpPr>
          <p:cNvPr id="54" name="Shape 51"/>
          <p:cNvSpPr/>
          <p:nvPr/>
        </p:nvSpPr>
        <p:spPr>
          <a:xfrm>
            <a:off x="4983480" y="4681728"/>
            <a:ext cx="137160" cy="137160"/>
          </a:xfrm>
          <a:prstGeom prst="oval">
            <a:avLst/>
          </a:prstGeom>
          <a:solidFill>
            <a:srgbClr val="00B4D8"/>
          </a:solidFill>
          <a:ln/>
        </p:spPr>
      </p:sp>
      <p:sp>
        <p:nvSpPr>
          <p:cNvPr id="55" name="Text 52"/>
          <p:cNvSpPr/>
          <p:nvPr/>
        </p:nvSpPr>
        <p:spPr>
          <a:xfrm>
            <a:off x="5184648" y="4663440"/>
            <a:ext cx="3657600" cy="164592"/>
          </a:xfrm>
          <a:prstGeom prst="rect">
            <a:avLst/>
          </a:prstGeom>
          <a:noFill/>
          <a:ln/>
        </p:spPr>
        <p:txBody>
          <a:bodyPr wrap="square" lIns="0" tIns="0" rIns="0" bIns="0" rtlCol="0" anchor="ctr"/>
          <a:lstStyle/>
          <a:p>
            <a:pPr indent="0" marL="0">
              <a:buNone/>
            </a:pPr>
            <a:r>
              <a:rPr lang="en-US" sz="800" dirty="0">
                <a:solidFill>
                  <a:srgbClr val="E0F0FF"/>
                </a:solidFill>
                <a:latin typeface="Calibri" pitchFamily="34" charset="0"/>
                <a:ea typeface="Calibri" pitchFamily="34" charset="-122"/>
                <a:cs typeface="Calibri" pitchFamily="34" charset="-120"/>
              </a:rPr>
              <a:t>Sorted results → MapView fetches Mapbox driving-traffic route → Animation</a:t>
            </a:r>
            <a:endParaRPr lang="en-US" sz="800" dirty="0"/>
          </a:p>
        </p:txBody>
      </p:sp>
      <p:sp>
        <p:nvSpPr>
          <p:cNvPr id="56" name="Shape 53"/>
          <p:cNvSpPr/>
          <p:nvPr/>
        </p:nvSpPr>
        <p:spPr>
          <a:xfrm>
            <a:off x="4892040" y="4882896"/>
            <a:ext cx="4023360" cy="219456"/>
          </a:xfrm>
          <a:prstGeom prst="rect">
            <a:avLst/>
          </a:prstGeom>
          <a:solidFill>
            <a:srgbClr val="062A3A"/>
          </a:solidFill>
          <a:ln/>
        </p:spPr>
      </p:sp>
      <p:sp>
        <p:nvSpPr>
          <p:cNvPr id="57" name="Text 54"/>
          <p:cNvSpPr/>
          <p:nvPr/>
        </p:nvSpPr>
        <p:spPr>
          <a:xfrm>
            <a:off x="4965192" y="4882896"/>
            <a:ext cx="3886200" cy="219456"/>
          </a:xfrm>
          <a:prstGeom prst="rect">
            <a:avLst/>
          </a:prstGeom>
          <a:noFill/>
          <a:ln/>
        </p:spPr>
        <p:txBody>
          <a:bodyPr wrap="square" lIns="0" tIns="0" rIns="0" bIns="0" rtlCol="0" anchor="ctr"/>
          <a:lstStyle/>
          <a:p>
            <a:pPr algn="ctr" indent="0" marL="0">
              <a:buNone/>
            </a:pPr>
            <a:r>
              <a:rPr lang="en-US" sz="750" b="1" dirty="0">
                <a:solidFill>
                  <a:srgbClr val="00B4D8"/>
                </a:solidFill>
                <a:latin typeface="Calibri" pitchFamily="34" charset="0"/>
                <a:ea typeface="Calibri" pitchFamily="34" charset="-122"/>
                <a:cs typeface="Calibri" pitchFamily="34" charset="-120"/>
              </a:rPr>
              <a:t>React 18  ·  Mapbox GL JS  ·  Turf.js  ·  Framer Motion  ·  Vite 5</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D3A"/>
        </a:solidFill>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12B52"/>
          </a:solidFill>
          <a:ln/>
        </p:spPr>
      </p:sp>
      <p:sp>
        <p:nvSpPr>
          <p:cNvPr id="3" name="Text 1"/>
          <p:cNvSpPr/>
          <p:nvPr/>
        </p:nvSpPr>
        <p:spPr>
          <a:xfrm>
            <a:off x="365760" y="91440"/>
            <a:ext cx="8412480" cy="82296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How All 4 Subjects Work Together</a:t>
            </a:r>
            <a:endParaRPr lang="en-US" sz="2400" dirty="0"/>
          </a:p>
        </p:txBody>
      </p:sp>
      <p:sp>
        <p:nvSpPr>
          <p:cNvPr id="4" name="Shape 2"/>
          <p:cNvSpPr/>
          <p:nvPr/>
        </p:nvSpPr>
        <p:spPr>
          <a:xfrm>
            <a:off x="274320" y="1143000"/>
            <a:ext cx="2011680" cy="3566160"/>
          </a:xfrm>
          <a:prstGeom prst="rect">
            <a:avLst/>
          </a:prstGeom>
          <a:solidFill>
            <a:srgbClr val="112B52"/>
          </a:solidFill>
          <a:ln/>
          <a:effectLst>
            <a:outerShdw sx="100000" sy="100000" kx="0" ky="0" algn="bl" rotWithShape="0" blurRad="101600" dist="38100" dir="8100000">
              <a:srgbClr val="000000">
                <a:alpha val="12000"/>
              </a:srgbClr>
            </a:outerShdw>
          </a:effectLst>
        </p:spPr>
      </p:sp>
      <p:sp>
        <p:nvSpPr>
          <p:cNvPr id="5" name="Shape 3"/>
          <p:cNvSpPr/>
          <p:nvPr/>
        </p:nvSpPr>
        <p:spPr>
          <a:xfrm>
            <a:off x="274320" y="1143000"/>
            <a:ext cx="2011680" cy="548640"/>
          </a:xfrm>
          <a:prstGeom prst="rect">
            <a:avLst/>
          </a:prstGeom>
          <a:solidFill>
            <a:srgbClr val="F59E0B"/>
          </a:solidFill>
          <a:ln/>
        </p:spPr>
      </p:sp>
      <p:sp>
        <p:nvSpPr>
          <p:cNvPr id="6" name="Text 4"/>
          <p:cNvSpPr/>
          <p:nvPr/>
        </p:nvSpPr>
        <p:spPr>
          <a:xfrm>
            <a:off x="274320" y="1161288"/>
            <a:ext cx="201168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BCS401</a:t>
            </a:r>
            <a:endParaRPr lang="en-US" sz="1300" dirty="0"/>
          </a:p>
        </p:txBody>
      </p:sp>
      <p:sp>
        <p:nvSpPr>
          <p:cNvPr id="7" name="Text 5"/>
          <p:cNvSpPr/>
          <p:nvPr/>
        </p:nvSpPr>
        <p:spPr>
          <a:xfrm>
            <a:off x="274320" y="1417320"/>
            <a:ext cx="2011680" cy="256032"/>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Algorithm Design</a:t>
            </a:r>
            <a:endParaRPr lang="en-US" sz="1000" dirty="0"/>
          </a:p>
        </p:txBody>
      </p:sp>
      <p:sp>
        <p:nvSpPr>
          <p:cNvPr id="8" name="Text 6"/>
          <p:cNvSpPr/>
          <p:nvPr/>
        </p:nvSpPr>
        <p:spPr>
          <a:xfrm>
            <a:off x="960120" y="1874520"/>
            <a:ext cx="594360" cy="594360"/>
          </a:xfrm>
          <a:prstGeom prst="rect">
            <a:avLst/>
          </a:prstGeom>
          <a:noFill/>
          <a:ln/>
        </p:spPr>
        <p:txBody>
          <a:bodyPr wrap="square" lIns="0" tIns="0" rIns="0" bIns="0" rtlCol="0" anchor="ctr"/>
          <a:lstStyle/>
          <a:p>
            <a:pPr algn="ctr" indent="0" marL="0">
              <a:buNone/>
            </a:pPr>
            <a:r>
              <a:rPr lang="en-US" sz="2800" dirty="0">
                <a:solidFill>
                  <a:srgbClr val="000000"/>
                </a:solidFill>
                <a:latin typeface="Segoe UI Emoji" pitchFamily="34" charset="0"/>
                <a:ea typeface="Segoe UI Emoji" pitchFamily="34" charset="-122"/>
                <a:cs typeface="Segoe UI Emoji" pitchFamily="34" charset="-120"/>
              </a:rPr>
              <a:t>📊</a:t>
            </a:r>
            <a:endParaRPr lang="en-US" sz="2800" dirty="0"/>
          </a:p>
        </p:txBody>
      </p:sp>
      <p:sp>
        <p:nvSpPr>
          <p:cNvPr id="9" name="Text 7"/>
          <p:cNvSpPr/>
          <p:nvPr/>
        </p:nvSpPr>
        <p:spPr>
          <a:xfrm>
            <a:off x="384048" y="2606040"/>
            <a:ext cx="1792224" cy="2011680"/>
          </a:xfrm>
          <a:prstGeom prst="rect">
            <a:avLst/>
          </a:prstGeom>
          <a:noFill/>
          <a:ln/>
        </p:spPr>
        <p:txBody>
          <a:bodyPr wrap="square" lIns="0" tIns="0" rIns="0" bIns="0" rtlCol="0" anchor="ctr"/>
          <a:lstStyle/>
          <a:p>
            <a:pPr algn="ctr" indent="0" marL="0">
              <a:buNone/>
            </a:pPr>
            <a:r>
              <a:rPr lang="en-US" sz="1050" dirty="0">
                <a:solidFill>
                  <a:srgbClr val="E0F0FF"/>
                </a:solidFill>
                <a:latin typeface="Calibri" pitchFamily="34" charset="0"/>
                <a:ea typeface="Calibri" pitchFamily="34" charset="-122"/>
                <a:cs typeface="Calibri" pitchFamily="34" charset="-120"/>
              </a:rPr>
              <a:t>Defines the PROBLEM and justifies WHY Dijkstra is used over brute-force search</a:t>
            </a:r>
            <a:endParaRPr lang="en-US" sz="1050" dirty="0"/>
          </a:p>
        </p:txBody>
      </p:sp>
      <p:sp>
        <p:nvSpPr>
          <p:cNvPr id="10" name="Shape 8"/>
          <p:cNvSpPr/>
          <p:nvPr/>
        </p:nvSpPr>
        <p:spPr>
          <a:xfrm>
            <a:off x="2487168" y="1143000"/>
            <a:ext cx="2011680" cy="3566160"/>
          </a:xfrm>
          <a:prstGeom prst="rect">
            <a:avLst/>
          </a:prstGeom>
          <a:solidFill>
            <a:srgbClr val="112B52"/>
          </a:solidFill>
          <a:ln/>
          <a:effectLst>
            <a:outerShdw sx="100000" sy="100000" kx="0" ky="0" algn="bl" rotWithShape="0" blurRad="101600" dist="38100" dir="8100000">
              <a:srgbClr val="000000">
                <a:alpha val="12000"/>
              </a:srgbClr>
            </a:outerShdw>
          </a:effectLst>
        </p:spPr>
      </p:sp>
      <p:sp>
        <p:nvSpPr>
          <p:cNvPr id="11" name="Shape 9"/>
          <p:cNvSpPr/>
          <p:nvPr/>
        </p:nvSpPr>
        <p:spPr>
          <a:xfrm>
            <a:off x="2487168" y="1143000"/>
            <a:ext cx="2011680" cy="548640"/>
          </a:xfrm>
          <a:prstGeom prst="rect">
            <a:avLst/>
          </a:prstGeom>
          <a:solidFill>
            <a:srgbClr val="8B5CF6"/>
          </a:solidFill>
          <a:ln/>
        </p:spPr>
      </p:sp>
      <p:sp>
        <p:nvSpPr>
          <p:cNvPr id="12" name="Text 10"/>
          <p:cNvSpPr/>
          <p:nvPr/>
        </p:nvSpPr>
        <p:spPr>
          <a:xfrm>
            <a:off x="2487168" y="1161288"/>
            <a:ext cx="201168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BCS403</a:t>
            </a:r>
            <a:endParaRPr lang="en-US" sz="1300" dirty="0"/>
          </a:p>
        </p:txBody>
      </p:sp>
      <p:sp>
        <p:nvSpPr>
          <p:cNvPr id="13" name="Text 11"/>
          <p:cNvSpPr/>
          <p:nvPr/>
        </p:nvSpPr>
        <p:spPr>
          <a:xfrm>
            <a:off x="2487168" y="1417320"/>
            <a:ext cx="2011680" cy="256032"/>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DBMS</a:t>
            </a:r>
            <a:endParaRPr lang="en-US" sz="1000" dirty="0"/>
          </a:p>
        </p:txBody>
      </p:sp>
      <p:sp>
        <p:nvSpPr>
          <p:cNvPr id="14" name="Text 12"/>
          <p:cNvSpPr/>
          <p:nvPr/>
        </p:nvSpPr>
        <p:spPr>
          <a:xfrm>
            <a:off x="3172968" y="1874520"/>
            <a:ext cx="594360" cy="594360"/>
          </a:xfrm>
          <a:prstGeom prst="rect">
            <a:avLst/>
          </a:prstGeom>
          <a:noFill/>
          <a:ln/>
        </p:spPr>
        <p:txBody>
          <a:bodyPr wrap="square" lIns="0" tIns="0" rIns="0" bIns="0" rtlCol="0" anchor="ctr"/>
          <a:lstStyle/>
          <a:p>
            <a:pPr algn="ctr" indent="0" marL="0">
              <a:buNone/>
            </a:pPr>
            <a:r>
              <a:rPr lang="en-US" sz="2800" dirty="0">
                <a:solidFill>
                  <a:srgbClr val="000000"/>
                </a:solidFill>
                <a:latin typeface="Segoe UI Emoji" pitchFamily="34" charset="0"/>
                <a:ea typeface="Segoe UI Emoji" pitchFamily="34" charset="-122"/>
                <a:cs typeface="Segoe UI Emoji" pitchFamily="34" charset="-120"/>
              </a:rPr>
              <a:t>🗄</a:t>
            </a:r>
            <a:endParaRPr lang="en-US" sz="2800" dirty="0"/>
          </a:p>
        </p:txBody>
      </p:sp>
      <p:sp>
        <p:nvSpPr>
          <p:cNvPr id="15" name="Text 13"/>
          <p:cNvSpPr/>
          <p:nvPr/>
        </p:nvSpPr>
        <p:spPr>
          <a:xfrm>
            <a:off x="2596896" y="2606040"/>
            <a:ext cx="1792224" cy="2011680"/>
          </a:xfrm>
          <a:prstGeom prst="rect">
            <a:avLst/>
          </a:prstGeom>
          <a:noFill/>
          <a:ln/>
        </p:spPr>
        <p:txBody>
          <a:bodyPr wrap="square" lIns="0" tIns="0" rIns="0" bIns="0" rtlCol="0" anchor="ctr"/>
          <a:lstStyle/>
          <a:p>
            <a:pPr algn="ctr" indent="0" marL="0">
              <a:buNone/>
            </a:pPr>
            <a:r>
              <a:rPr lang="en-US" sz="1050" dirty="0">
                <a:solidFill>
                  <a:srgbClr val="E0F0FF"/>
                </a:solidFill>
                <a:latin typeface="Calibri" pitchFamily="34" charset="0"/>
                <a:ea typeface="Calibri" pitchFamily="34" charset="-122"/>
                <a:cs typeface="Calibri" pitchFamily="34" charset="-120"/>
              </a:rPr>
              <a:t>Stores hospital data, roads, patients, and allocation history in a normalized schema</a:t>
            </a:r>
            <a:endParaRPr lang="en-US" sz="1050" dirty="0"/>
          </a:p>
        </p:txBody>
      </p:sp>
      <p:sp>
        <p:nvSpPr>
          <p:cNvPr id="16" name="Shape 14"/>
          <p:cNvSpPr/>
          <p:nvPr/>
        </p:nvSpPr>
        <p:spPr>
          <a:xfrm>
            <a:off x="4700016" y="1143000"/>
            <a:ext cx="2011680" cy="3566160"/>
          </a:xfrm>
          <a:prstGeom prst="rect">
            <a:avLst/>
          </a:prstGeom>
          <a:solidFill>
            <a:srgbClr val="112B52"/>
          </a:solidFill>
          <a:ln/>
          <a:effectLst>
            <a:outerShdw sx="100000" sy="100000" kx="0" ky="0" algn="bl" rotWithShape="0" blurRad="101600" dist="38100" dir="8100000">
              <a:srgbClr val="000000">
                <a:alpha val="12000"/>
              </a:srgbClr>
            </a:outerShdw>
          </a:effectLst>
        </p:spPr>
      </p:sp>
      <p:sp>
        <p:nvSpPr>
          <p:cNvPr id="17" name="Shape 15"/>
          <p:cNvSpPr/>
          <p:nvPr/>
        </p:nvSpPr>
        <p:spPr>
          <a:xfrm>
            <a:off x="4700016" y="1143000"/>
            <a:ext cx="2011680" cy="548640"/>
          </a:xfrm>
          <a:prstGeom prst="rect">
            <a:avLst/>
          </a:prstGeom>
          <a:solidFill>
            <a:srgbClr val="00B4D8"/>
          </a:solidFill>
          <a:ln/>
        </p:spPr>
      </p:sp>
      <p:sp>
        <p:nvSpPr>
          <p:cNvPr id="18" name="Text 16"/>
          <p:cNvSpPr/>
          <p:nvPr/>
        </p:nvSpPr>
        <p:spPr>
          <a:xfrm>
            <a:off x="4700016" y="1161288"/>
            <a:ext cx="201168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BCS405B</a:t>
            </a:r>
            <a:endParaRPr lang="en-US" sz="1300" dirty="0"/>
          </a:p>
        </p:txBody>
      </p:sp>
      <p:sp>
        <p:nvSpPr>
          <p:cNvPr id="19" name="Text 17"/>
          <p:cNvSpPr/>
          <p:nvPr/>
        </p:nvSpPr>
        <p:spPr>
          <a:xfrm>
            <a:off x="4700016" y="1417320"/>
            <a:ext cx="2011680" cy="256032"/>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Graph Theory</a:t>
            </a:r>
            <a:endParaRPr lang="en-US" sz="1000" dirty="0"/>
          </a:p>
        </p:txBody>
      </p:sp>
      <p:sp>
        <p:nvSpPr>
          <p:cNvPr id="20" name="Text 18"/>
          <p:cNvSpPr/>
          <p:nvPr/>
        </p:nvSpPr>
        <p:spPr>
          <a:xfrm>
            <a:off x="5385816" y="1874520"/>
            <a:ext cx="594360" cy="594360"/>
          </a:xfrm>
          <a:prstGeom prst="rect">
            <a:avLst/>
          </a:prstGeom>
          <a:noFill/>
          <a:ln/>
        </p:spPr>
        <p:txBody>
          <a:bodyPr wrap="square" lIns="0" tIns="0" rIns="0" bIns="0" rtlCol="0" anchor="ctr"/>
          <a:lstStyle/>
          <a:p>
            <a:pPr algn="ctr" indent="0" marL="0">
              <a:buNone/>
            </a:pPr>
            <a:r>
              <a:rPr lang="en-US" sz="2800" dirty="0">
                <a:solidFill>
                  <a:srgbClr val="000000"/>
                </a:solidFill>
                <a:latin typeface="Segoe UI Emoji" pitchFamily="34" charset="0"/>
                <a:ea typeface="Segoe UI Emoji" pitchFamily="34" charset="-122"/>
                <a:cs typeface="Segoe UI Emoji" pitchFamily="34" charset="-120"/>
              </a:rPr>
              <a:t>🕸</a:t>
            </a:r>
            <a:endParaRPr lang="en-US" sz="2800" dirty="0"/>
          </a:p>
        </p:txBody>
      </p:sp>
      <p:sp>
        <p:nvSpPr>
          <p:cNvPr id="21" name="Text 19"/>
          <p:cNvSpPr/>
          <p:nvPr/>
        </p:nvSpPr>
        <p:spPr>
          <a:xfrm>
            <a:off x="4809744" y="2606040"/>
            <a:ext cx="1792224" cy="2011680"/>
          </a:xfrm>
          <a:prstGeom prst="rect">
            <a:avLst/>
          </a:prstGeom>
          <a:noFill/>
          <a:ln/>
        </p:spPr>
        <p:txBody>
          <a:bodyPr wrap="square" lIns="0" tIns="0" rIns="0" bIns="0" rtlCol="0" anchor="ctr"/>
          <a:lstStyle/>
          <a:p>
            <a:pPr algn="ctr" indent="0" marL="0">
              <a:buNone/>
            </a:pPr>
            <a:r>
              <a:rPr lang="en-US" sz="1050" dirty="0">
                <a:solidFill>
                  <a:srgbClr val="E0F0FF"/>
                </a:solidFill>
                <a:latin typeface="Calibri" pitchFamily="34" charset="0"/>
                <a:ea typeface="Calibri" pitchFamily="34" charset="-122"/>
                <a:cs typeface="Calibri" pitchFamily="34" charset="-120"/>
              </a:rPr>
              <a:t>Models roads as a weighted graph. Runs BFS/DFS/Dijkstra to find the best route</a:t>
            </a:r>
            <a:endParaRPr lang="en-US" sz="1050" dirty="0"/>
          </a:p>
        </p:txBody>
      </p:sp>
      <p:sp>
        <p:nvSpPr>
          <p:cNvPr id="22" name="Shape 20"/>
          <p:cNvSpPr/>
          <p:nvPr/>
        </p:nvSpPr>
        <p:spPr>
          <a:xfrm>
            <a:off x="6912864" y="1143000"/>
            <a:ext cx="2011680" cy="3566160"/>
          </a:xfrm>
          <a:prstGeom prst="rect">
            <a:avLst/>
          </a:prstGeom>
          <a:solidFill>
            <a:srgbClr val="112B52"/>
          </a:solidFill>
          <a:ln/>
          <a:effectLst>
            <a:outerShdw sx="100000" sy="100000" kx="0" ky="0" algn="bl" rotWithShape="0" blurRad="101600" dist="38100" dir="8100000">
              <a:srgbClr val="000000">
                <a:alpha val="12000"/>
              </a:srgbClr>
            </a:outerShdw>
          </a:effectLst>
        </p:spPr>
      </p:sp>
      <p:sp>
        <p:nvSpPr>
          <p:cNvPr id="23" name="Shape 21"/>
          <p:cNvSpPr/>
          <p:nvPr/>
        </p:nvSpPr>
        <p:spPr>
          <a:xfrm>
            <a:off x="6912864" y="1143000"/>
            <a:ext cx="2011680" cy="548640"/>
          </a:xfrm>
          <a:prstGeom prst="rect">
            <a:avLst/>
          </a:prstGeom>
          <a:solidFill>
            <a:srgbClr val="10B981"/>
          </a:solidFill>
          <a:ln/>
        </p:spPr>
      </p:sp>
      <p:sp>
        <p:nvSpPr>
          <p:cNvPr id="24" name="Text 22"/>
          <p:cNvSpPr/>
          <p:nvPr/>
        </p:nvSpPr>
        <p:spPr>
          <a:xfrm>
            <a:off x="6912864" y="1161288"/>
            <a:ext cx="201168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BCS402</a:t>
            </a:r>
            <a:endParaRPr lang="en-US" sz="1300" dirty="0"/>
          </a:p>
        </p:txBody>
      </p:sp>
      <p:sp>
        <p:nvSpPr>
          <p:cNvPr id="25" name="Text 23"/>
          <p:cNvSpPr/>
          <p:nvPr/>
        </p:nvSpPr>
        <p:spPr>
          <a:xfrm>
            <a:off x="6912864" y="1417320"/>
            <a:ext cx="2011680" cy="256032"/>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Advanced Java</a:t>
            </a:r>
            <a:endParaRPr lang="en-US" sz="1000" dirty="0"/>
          </a:p>
        </p:txBody>
      </p:sp>
      <p:sp>
        <p:nvSpPr>
          <p:cNvPr id="26" name="Text 24"/>
          <p:cNvSpPr/>
          <p:nvPr/>
        </p:nvSpPr>
        <p:spPr>
          <a:xfrm>
            <a:off x="7598664" y="1874520"/>
            <a:ext cx="594360" cy="594360"/>
          </a:xfrm>
          <a:prstGeom prst="rect">
            <a:avLst/>
          </a:prstGeom>
          <a:noFill/>
          <a:ln/>
        </p:spPr>
        <p:txBody>
          <a:bodyPr wrap="square" lIns="0" tIns="0" rIns="0" bIns="0" rtlCol="0" anchor="ctr"/>
          <a:lstStyle/>
          <a:p>
            <a:pPr algn="ctr" indent="0" marL="0">
              <a:buNone/>
            </a:pPr>
            <a:r>
              <a:rPr lang="en-US" sz="2800" dirty="0">
                <a:solidFill>
                  <a:srgbClr val="000000"/>
                </a:solidFill>
                <a:latin typeface="Segoe UI Emoji" pitchFamily="34" charset="0"/>
                <a:ea typeface="Segoe UI Emoji" pitchFamily="34" charset="-122"/>
                <a:cs typeface="Segoe UI Emoji" pitchFamily="34" charset="-120"/>
              </a:rPr>
              <a:t>💻</a:t>
            </a:r>
            <a:endParaRPr lang="en-US" sz="2800" dirty="0"/>
          </a:p>
        </p:txBody>
      </p:sp>
      <p:sp>
        <p:nvSpPr>
          <p:cNvPr id="27" name="Text 25"/>
          <p:cNvSpPr/>
          <p:nvPr/>
        </p:nvSpPr>
        <p:spPr>
          <a:xfrm>
            <a:off x="7022592" y="2606040"/>
            <a:ext cx="1792224" cy="2011680"/>
          </a:xfrm>
          <a:prstGeom prst="rect">
            <a:avLst/>
          </a:prstGeom>
          <a:noFill/>
          <a:ln/>
        </p:spPr>
        <p:txBody>
          <a:bodyPr wrap="square" lIns="0" tIns="0" rIns="0" bIns="0" rtlCol="0" anchor="ctr"/>
          <a:lstStyle/>
          <a:p>
            <a:pPr algn="ctr" indent="0" marL="0">
              <a:buNone/>
            </a:pPr>
            <a:r>
              <a:rPr lang="en-US" sz="1050" dirty="0">
                <a:solidFill>
                  <a:srgbClr val="E0F0FF"/>
                </a:solidFill>
                <a:latin typeface="Calibri" pitchFamily="34" charset="0"/>
                <a:ea typeface="Calibri" pitchFamily="34" charset="-122"/>
                <a:cs typeface="Calibri" pitchFamily="34" charset="-120"/>
              </a:rPr>
              <a:t>Builds the full application — OOP classes, Swing UI, Collections, JDBC connector</a:t>
            </a:r>
            <a:endParaRPr lang="en-US" sz="1050" dirty="0"/>
          </a:p>
        </p:txBody>
      </p:sp>
      <p:sp>
        <p:nvSpPr>
          <p:cNvPr id="28" name="Shape 26"/>
          <p:cNvSpPr/>
          <p:nvPr/>
        </p:nvSpPr>
        <p:spPr>
          <a:xfrm>
            <a:off x="274320" y="4709160"/>
            <a:ext cx="8595360" cy="274320"/>
          </a:xfrm>
          <a:prstGeom prst="rect">
            <a:avLst/>
          </a:prstGeom>
          <a:solidFill>
            <a:srgbClr val="193050"/>
          </a:solidFill>
          <a:ln/>
        </p:spPr>
      </p:sp>
      <p:sp>
        <p:nvSpPr>
          <p:cNvPr id="29" name="Text 27"/>
          <p:cNvSpPr/>
          <p:nvPr/>
        </p:nvSpPr>
        <p:spPr>
          <a:xfrm>
            <a:off x="274320" y="4709160"/>
            <a:ext cx="8595360" cy="274320"/>
          </a:xfrm>
          <a:prstGeom prst="rect">
            <a:avLst/>
          </a:prstGeom>
          <a:noFill/>
          <a:ln/>
        </p:spPr>
        <p:txBody>
          <a:bodyPr wrap="square" lIns="0" tIns="0" rIns="0" bIns="0" rtlCol="0" anchor="ctr"/>
          <a:lstStyle/>
          <a:p>
            <a:pPr algn="ctr" indent="0" marL="0">
              <a:buNone/>
            </a:pPr>
            <a:r>
              <a:rPr lang="en-US" sz="1000" b="1" dirty="0">
                <a:solidFill>
                  <a:srgbClr val="00B4D8"/>
                </a:solidFill>
                <a:latin typeface="Calibri" pitchFamily="34" charset="0"/>
                <a:ea typeface="Calibri" pitchFamily="34" charset="-122"/>
                <a:cs typeface="Calibri" pitchFamily="34" charset="-120"/>
              </a:rPr>
              <a:t>Algorithm Design defines the WHY  ·  Graph Theory does the routing  ·  DBMS stores everything  ·  Advanced Java builds it all</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F"/>
        </a:solidFill>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0B1D3A"/>
          </a:solidFill>
          <a:ln/>
        </p:spPr>
      </p:sp>
      <p:sp>
        <p:nvSpPr>
          <p:cNvPr id="3" name="Text 1"/>
          <p:cNvSpPr/>
          <p:nvPr/>
        </p:nvSpPr>
        <p:spPr>
          <a:xfrm>
            <a:off x="365760" y="91440"/>
            <a:ext cx="8412480" cy="82296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3 Demo Cases to Explain During Presentation</a:t>
            </a:r>
            <a:endParaRPr lang="en-US" sz="2400" dirty="0"/>
          </a:p>
        </p:txBody>
      </p:sp>
      <p:sp>
        <p:nvSpPr>
          <p:cNvPr id="4" name="Shape 2"/>
          <p:cNvSpPr/>
          <p:nvPr/>
        </p:nvSpPr>
        <p:spPr>
          <a:xfrm>
            <a:off x="320040" y="1143000"/>
            <a:ext cx="8503920" cy="1115568"/>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5" name="Shape 3"/>
          <p:cNvSpPr/>
          <p:nvPr/>
        </p:nvSpPr>
        <p:spPr>
          <a:xfrm>
            <a:off x="320040" y="1143000"/>
            <a:ext cx="658368" cy="1115568"/>
          </a:xfrm>
          <a:prstGeom prst="rect">
            <a:avLst/>
          </a:prstGeom>
          <a:solidFill>
            <a:srgbClr val="10B981"/>
          </a:solidFill>
          <a:ln/>
        </p:spPr>
      </p:sp>
      <p:sp>
        <p:nvSpPr>
          <p:cNvPr id="6" name="Text 4"/>
          <p:cNvSpPr/>
          <p:nvPr/>
        </p:nvSpPr>
        <p:spPr>
          <a:xfrm>
            <a:off x="320040" y="1143000"/>
            <a:ext cx="658368" cy="1115568"/>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01</a:t>
            </a:r>
            <a:endParaRPr lang="en-US" sz="2800" dirty="0"/>
          </a:p>
        </p:txBody>
      </p:sp>
      <p:sp>
        <p:nvSpPr>
          <p:cNvPr id="7" name="Text 5"/>
          <p:cNvSpPr/>
          <p:nvPr/>
        </p:nvSpPr>
        <p:spPr>
          <a:xfrm>
            <a:off x="1078992" y="1216152"/>
            <a:ext cx="7205472" cy="274320"/>
          </a:xfrm>
          <a:prstGeom prst="rect">
            <a:avLst/>
          </a:prstGeom>
          <a:noFill/>
          <a:ln/>
        </p:spPr>
        <p:txBody>
          <a:bodyPr wrap="square" lIns="0" tIns="0" rIns="0" bIns="0" rtlCol="0" anchor="ctr"/>
          <a:lstStyle/>
          <a:p>
            <a:pPr indent="0" marL="0">
              <a:buNone/>
            </a:pPr>
            <a:r>
              <a:rPr lang="en-US" sz="1350" b="1" dirty="0">
                <a:solidFill>
                  <a:srgbClr val="1E293B"/>
                </a:solidFill>
                <a:latin typeface="Calibri" pitchFamily="34" charset="0"/>
                <a:ea typeface="Calibri" pitchFamily="34" charset="-122"/>
                <a:cs typeface="Calibri" pitchFamily="34" charset="-120"/>
              </a:rPr>
              <a:t>Nearest Hospital is Best</a:t>
            </a:r>
            <a:endParaRPr lang="en-US" sz="1350" dirty="0"/>
          </a:p>
        </p:txBody>
      </p:sp>
      <p:sp>
        <p:nvSpPr>
          <p:cNvPr id="8" name="Text 6"/>
          <p:cNvSpPr/>
          <p:nvPr/>
        </p:nvSpPr>
        <p:spPr>
          <a:xfrm>
            <a:off x="1078992" y="1490472"/>
            <a:ext cx="7205472" cy="201168"/>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Scenario: Patient at Node 1 (JSSATE)  |  Emergency: GENERAL  |  No ICU</a:t>
            </a:r>
            <a:endParaRPr lang="en-US" sz="950" dirty="0"/>
          </a:p>
        </p:txBody>
      </p:sp>
      <p:sp>
        <p:nvSpPr>
          <p:cNvPr id="9" name="Text 7"/>
          <p:cNvSpPr/>
          <p:nvPr/>
        </p:nvSpPr>
        <p:spPr>
          <a:xfrm>
            <a:off x="1078992" y="1691640"/>
            <a:ext cx="5394960" cy="502920"/>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Result: BGS Gleneagles (Node 5, 1.2 km) handles GENERAL, has beds, and is the shortest Dijkstra path. System recommends it.</a:t>
            </a:r>
            <a:endParaRPr lang="en-US" sz="1000" dirty="0"/>
          </a:p>
        </p:txBody>
      </p:sp>
      <p:sp>
        <p:nvSpPr>
          <p:cNvPr id="10" name="Shape 8"/>
          <p:cNvSpPr/>
          <p:nvPr/>
        </p:nvSpPr>
        <p:spPr>
          <a:xfrm>
            <a:off x="6720840" y="1673352"/>
            <a:ext cx="1938528" cy="438912"/>
          </a:xfrm>
          <a:prstGeom prst="roundRect">
            <a:avLst>
              <a:gd name="adj" fmla="val 10417"/>
            </a:avLst>
          </a:prstGeom>
          <a:solidFill>
            <a:srgbClr val="10B981"/>
          </a:solidFill>
          <a:ln/>
        </p:spPr>
      </p:sp>
      <p:sp>
        <p:nvSpPr>
          <p:cNvPr id="11" name="Text 9"/>
          <p:cNvSpPr/>
          <p:nvPr/>
        </p:nvSpPr>
        <p:spPr>
          <a:xfrm>
            <a:off x="6720840" y="1673352"/>
            <a:ext cx="1938528" cy="438912"/>
          </a:xfrm>
          <a:prstGeom prst="rect">
            <a:avLst/>
          </a:prstGeom>
          <a:noFill/>
          <a:ln/>
        </p:spPr>
        <p:txBody>
          <a:bodyPr wrap="square" lIns="38100" tIns="38100" rIns="38100" bIns="3810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Shows the system works correctly in the simple case.</a:t>
            </a:r>
            <a:endParaRPr lang="en-US" sz="850" dirty="0"/>
          </a:p>
        </p:txBody>
      </p:sp>
      <p:sp>
        <p:nvSpPr>
          <p:cNvPr id="12" name="Shape 10"/>
          <p:cNvSpPr/>
          <p:nvPr/>
        </p:nvSpPr>
        <p:spPr>
          <a:xfrm>
            <a:off x="320040" y="2404872"/>
            <a:ext cx="8503920" cy="1115568"/>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3" name="Shape 11"/>
          <p:cNvSpPr/>
          <p:nvPr/>
        </p:nvSpPr>
        <p:spPr>
          <a:xfrm>
            <a:off x="320040" y="2404872"/>
            <a:ext cx="658368" cy="1115568"/>
          </a:xfrm>
          <a:prstGeom prst="rect">
            <a:avLst/>
          </a:prstGeom>
          <a:solidFill>
            <a:srgbClr val="F59E0B"/>
          </a:solidFill>
          <a:ln/>
        </p:spPr>
      </p:sp>
      <p:sp>
        <p:nvSpPr>
          <p:cNvPr id="14" name="Text 12"/>
          <p:cNvSpPr/>
          <p:nvPr/>
        </p:nvSpPr>
        <p:spPr>
          <a:xfrm>
            <a:off x="320040" y="2404872"/>
            <a:ext cx="658368" cy="1115568"/>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02</a:t>
            </a:r>
            <a:endParaRPr lang="en-US" sz="2800" dirty="0"/>
          </a:p>
        </p:txBody>
      </p:sp>
      <p:sp>
        <p:nvSpPr>
          <p:cNvPr id="15" name="Text 13"/>
          <p:cNvSpPr/>
          <p:nvPr/>
        </p:nvSpPr>
        <p:spPr>
          <a:xfrm>
            <a:off x="1078992" y="2478024"/>
            <a:ext cx="7205472" cy="274320"/>
          </a:xfrm>
          <a:prstGeom prst="rect">
            <a:avLst/>
          </a:prstGeom>
          <a:noFill/>
          <a:ln/>
        </p:spPr>
        <p:txBody>
          <a:bodyPr wrap="square" lIns="0" tIns="0" rIns="0" bIns="0" rtlCol="0" anchor="ctr"/>
          <a:lstStyle/>
          <a:p>
            <a:pPr indent="0" marL="0">
              <a:buNone/>
            </a:pPr>
            <a:r>
              <a:rPr lang="en-US" sz="1350" b="1" dirty="0">
                <a:solidFill>
                  <a:srgbClr val="1E293B"/>
                </a:solidFill>
                <a:latin typeface="Calibri" pitchFamily="34" charset="0"/>
                <a:ea typeface="Calibri" pitchFamily="34" charset="-122"/>
                <a:cs typeface="Calibri" pitchFamily="34" charset="-120"/>
              </a:rPr>
              <a:t>Nearest Hospital Lacks ICU</a:t>
            </a:r>
            <a:endParaRPr lang="en-US" sz="1350" dirty="0"/>
          </a:p>
        </p:txBody>
      </p:sp>
      <p:sp>
        <p:nvSpPr>
          <p:cNvPr id="16" name="Text 14"/>
          <p:cNvSpPr/>
          <p:nvPr/>
        </p:nvSpPr>
        <p:spPr>
          <a:xfrm>
            <a:off x="1078992" y="2752344"/>
            <a:ext cx="7205472" cy="201168"/>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Scenario: Patient at Node 1 (JSSATE)  |  Emergency: TRAUMA  |  Needs ICU</a:t>
            </a:r>
            <a:endParaRPr lang="en-US" sz="950" dirty="0"/>
          </a:p>
        </p:txBody>
      </p:sp>
      <p:sp>
        <p:nvSpPr>
          <p:cNvPr id="17" name="Text 15"/>
          <p:cNvSpPr/>
          <p:nvPr/>
        </p:nvSpPr>
        <p:spPr>
          <a:xfrm>
            <a:off x="1078992" y="2953512"/>
            <a:ext cx="5394960" cy="502920"/>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Result: BGS (1.2 km) has CARDIAC not TRAUMA — filtered out. Sagar Hospital (Node 4, 7.7 km) handles TRAUMA and has ICU — selected.</a:t>
            </a:r>
            <a:endParaRPr lang="en-US" sz="1000" dirty="0"/>
          </a:p>
        </p:txBody>
      </p:sp>
      <p:sp>
        <p:nvSpPr>
          <p:cNvPr id="18" name="Shape 16"/>
          <p:cNvSpPr/>
          <p:nvPr/>
        </p:nvSpPr>
        <p:spPr>
          <a:xfrm>
            <a:off x="6720840" y="2935224"/>
            <a:ext cx="1938528" cy="438912"/>
          </a:xfrm>
          <a:prstGeom prst="roundRect">
            <a:avLst>
              <a:gd name="adj" fmla="val 10417"/>
            </a:avLst>
          </a:prstGeom>
          <a:solidFill>
            <a:srgbClr val="F59E0B"/>
          </a:solidFill>
          <a:ln/>
        </p:spPr>
      </p:sp>
      <p:sp>
        <p:nvSpPr>
          <p:cNvPr id="19" name="Text 17"/>
          <p:cNvSpPr/>
          <p:nvPr/>
        </p:nvSpPr>
        <p:spPr>
          <a:xfrm>
            <a:off x="6720840" y="2935224"/>
            <a:ext cx="1938528" cy="438912"/>
          </a:xfrm>
          <a:prstGeom prst="rect">
            <a:avLst/>
          </a:prstGeom>
          <a:noFill/>
          <a:ln/>
        </p:spPr>
        <p:txBody>
          <a:bodyPr wrap="square" lIns="38100" tIns="38100" rIns="38100" bIns="3810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Shows why nearest ≠ best. Resource + type check matters.</a:t>
            </a:r>
            <a:endParaRPr lang="en-US" sz="850" dirty="0"/>
          </a:p>
        </p:txBody>
      </p:sp>
      <p:sp>
        <p:nvSpPr>
          <p:cNvPr id="20" name="Shape 18"/>
          <p:cNvSpPr/>
          <p:nvPr/>
        </p:nvSpPr>
        <p:spPr>
          <a:xfrm>
            <a:off x="320040" y="3666744"/>
            <a:ext cx="8503920" cy="1115568"/>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21" name="Shape 19"/>
          <p:cNvSpPr/>
          <p:nvPr/>
        </p:nvSpPr>
        <p:spPr>
          <a:xfrm>
            <a:off x="320040" y="3666744"/>
            <a:ext cx="658368" cy="1115568"/>
          </a:xfrm>
          <a:prstGeom prst="rect">
            <a:avLst/>
          </a:prstGeom>
          <a:solidFill>
            <a:srgbClr val="00B4D8"/>
          </a:solidFill>
          <a:ln/>
        </p:spPr>
      </p:sp>
      <p:sp>
        <p:nvSpPr>
          <p:cNvPr id="22" name="Text 20"/>
          <p:cNvSpPr/>
          <p:nvPr/>
        </p:nvSpPr>
        <p:spPr>
          <a:xfrm>
            <a:off x="320040" y="3666744"/>
            <a:ext cx="658368" cy="1115568"/>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03</a:t>
            </a:r>
            <a:endParaRPr lang="en-US" sz="2800" dirty="0"/>
          </a:p>
        </p:txBody>
      </p:sp>
      <p:sp>
        <p:nvSpPr>
          <p:cNvPr id="23" name="Text 21"/>
          <p:cNvSpPr/>
          <p:nvPr/>
        </p:nvSpPr>
        <p:spPr>
          <a:xfrm>
            <a:off x="1078992" y="3739896"/>
            <a:ext cx="7205472" cy="274320"/>
          </a:xfrm>
          <a:prstGeom prst="rect">
            <a:avLst/>
          </a:prstGeom>
          <a:noFill/>
          <a:ln/>
        </p:spPr>
        <p:txBody>
          <a:bodyPr wrap="square" lIns="0" tIns="0" rIns="0" bIns="0" rtlCol="0" anchor="ctr"/>
          <a:lstStyle/>
          <a:p>
            <a:pPr indent="0" marL="0">
              <a:buNone/>
            </a:pPr>
            <a:r>
              <a:rPr lang="en-US" sz="1350" b="1" dirty="0">
                <a:solidFill>
                  <a:srgbClr val="1E293B"/>
                </a:solidFill>
                <a:latin typeface="Calibri" pitchFamily="34" charset="0"/>
                <a:ea typeface="Calibri" pitchFamily="34" charset="-122"/>
                <a:cs typeface="Calibri" pitchFamily="34" charset="-120"/>
              </a:rPr>
              <a:t>Multiple Valid Hospitals — Dijkstra Decides</a:t>
            </a:r>
            <a:endParaRPr lang="en-US" sz="1350" dirty="0"/>
          </a:p>
        </p:txBody>
      </p:sp>
      <p:sp>
        <p:nvSpPr>
          <p:cNvPr id="24" name="Text 22"/>
          <p:cNvSpPr/>
          <p:nvPr/>
        </p:nvSpPr>
        <p:spPr>
          <a:xfrm>
            <a:off x="1078992" y="4014216"/>
            <a:ext cx="7205472" cy="201168"/>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Scenario: Patient at Node 10 (BSK)  |  Emergency: CARDIAC  |  Needs ICU</a:t>
            </a:r>
            <a:endParaRPr lang="en-US" sz="950" dirty="0"/>
          </a:p>
        </p:txBody>
      </p:sp>
      <p:sp>
        <p:nvSpPr>
          <p:cNvPr id="25" name="Text 23"/>
          <p:cNvSpPr/>
          <p:nvPr/>
        </p:nvSpPr>
        <p:spPr>
          <a:xfrm>
            <a:off x="1078992" y="4215384"/>
            <a:ext cx="5394960" cy="502920"/>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Result: BGS (Node 5), Apollo (Node 11), and Fortis (Node 13) all handle CARDIAC with ICU. Dijkstra computes: BGS=9.2km, Apollo=5.5km, Fortis=5.8km. Apollo wins.</a:t>
            </a:r>
            <a:endParaRPr lang="en-US" sz="1000" dirty="0"/>
          </a:p>
        </p:txBody>
      </p:sp>
      <p:sp>
        <p:nvSpPr>
          <p:cNvPr id="26" name="Shape 24"/>
          <p:cNvSpPr/>
          <p:nvPr/>
        </p:nvSpPr>
        <p:spPr>
          <a:xfrm>
            <a:off x="6720840" y="4197096"/>
            <a:ext cx="1938528" cy="438912"/>
          </a:xfrm>
          <a:prstGeom prst="roundRect">
            <a:avLst>
              <a:gd name="adj" fmla="val 10417"/>
            </a:avLst>
          </a:prstGeom>
          <a:solidFill>
            <a:srgbClr val="00B4D8"/>
          </a:solidFill>
          <a:ln/>
        </p:spPr>
      </p:sp>
      <p:sp>
        <p:nvSpPr>
          <p:cNvPr id="27" name="Text 25"/>
          <p:cNvSpPr/>
          <p:nvPr/>
        </p:nvSpPr>
        <p:spPr>
          <a:xfrm>
            <a:off x="6720840" y="4197096"/>
            <a:ext cx="1938528" cy="438912"/>
          </a:xfrm>
          <a:prstGeom prst="rect">
            <a:avLst/>
          </a:prstGeom>
          <a:noFill/>
          <a:ln/>
        </p:spPr>
        <p:txBody>
          <a:bodyPr wrap="square" lIns="38100" tIns="38100" rIns="38100" bIns="3810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Shows Dijkstra's role clearly. Best use case for viva.</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D3A"/>
        </a:solidFill>
      </p:bgPr>
    </p:bg>
    <p:spTree>
      <p:nvGrpSpPr>
        <p:cNvPr id="1" name=""/>
        <p:cNvGrpSpPr/>
        <p:nvPr/>
      </p:nvGrpSpPr>
      <p:grpSpPr>
        <a:xfrm>
          <a:off x="0" y="0"/>
          <a:ext cx="0" cy="0"/>
          <a:chOff x="0" y="0"/>
          <a:chExt cx="0" cy="0"/>
        </a:xfrm>
      </p:grpSpPr>
      <p:sp>
        <p:nvSpPr>
          <p:cNvPr id="2" name="Shape 0"/>
          <p:cNvSpPr/>
          <p:nvPr/>
        </p:nvSpPr>
        <p:spPr>
          <a:xfrm>
            <a:off x="5943600" y="-914400"/>
            <a:ext cx="4572000" cy="4572000"/>
          </a:xfrm>
          <a:prstGeom prst="oval">
            <a:avLst/>
          </a:prstGeom>
          <a:solidFill>
            <a:srgbClr val="112B52"/>
          </a:solidFill>
          <a:ln w="19050">
            <a:solidFill>
              <a:srgbClr val="00B4D8"/>
            </a:solidFill>
            <a:prstDash val="solid"/>
          </a:ln>
        </p:spPr>
      </p:sp>
      <p:sp>
        <p:nvSpPr>
          <p:cNvPr id="3" name="Text 1"/>
          <p:cNvSpPr/>
          <p:nvPr/>
        </p:nvSpPr>
        <p:spPr>
          <a:xfrm>
            <a:off x="457200" y="457200"/>
            <a:ext cx="7315200" cy="548640"/>
          </a:xfrm>
          <a:prstGeom prst="rect">
            <a:avLst/>
          </a:prstGeom>
          <a:noFill/>
          <a:ln/>
        </p:spPr>
        <p:txBody>
          <a:bodyPr wrap="square" lIns="0" tIns="0" rIns="0" bIns="0" rtlCol="0" anchor="ctr"/>
          <a:lstStyle/>
          <a:p>
            <a:pPr indent="0" marL="0">
              <a:buNone/>
            </a:pPr>
            <a:r>
              <a:rPr lang="en-US" sz="1800" b="1" dirty="0">
                <a:solidFill>
                  <a:srgbClr val="00B4D8"/>
                </a:solidFill>
                <a:latin typeface="Calibri" pitchFamily="34" charset="0"/>
                <a:ea typeface="Calibri" pitchFamily="34" charset="-122"/>
                <a:cs typeface="Calibri" pitchFamily="34" charset="-120"/>
              </a:rPr>
              <a:t>One Line to Remember for Viva</a:t>
            </a:r>
            <a:endParaRPr lang="en-US" sz="1800" dirty="0"/>
          </a:p>
        </p:txBody>
      </p:sp>
      <p:sp>
        <p:nvSpPr>
          <p:cNvPr id="4" name="Shape 2"/>
          <p:cNvSpPr/>
          <p:nvPr/>
        </p:nvSpPr>
        <p:spPr>
          <a:xfrm>
            <a:off x="457200" y="1097280"/>
            <a:ext cx="7498080" cy="1371600"/>
          </a:xfrm>
          <a:prstGeom prst="rect">
            <a:avLst/>
          </a:prstGeom>
          <a:solidFill>
            <a:srgbClr val="112B52"/>
          </a:solidFill>
          <a:ln/>
          <a:effectLst>
            <a:outerShdw sx="100000" sy="100000" kx="0" ky="0" algn="bl" rotWithShape="0" blurRad="101600" dist="38100" dir="8100000">
              <a:srgbClr val="000000">
                <a:alpha val="12000"/>
              </a:srgbClr>
            </a:outerShdw>
          </a:effectLst>
        </p:spPr>
      </p:sp>
      <p:sp>
        <p:nvSpPr>
          <p:cNvPr id="5" name="Shape 3"/>
          <p:cNvSpPr/>
          <p:nvPr/>
        </p:nvSpPr>
        <p:spPr>
          <a:xfrm>
            <a:off x="457200" y="1097280"/>
            <a:ext cx="91440" cy="1371600"/>
          </a:xfrm>
          <a:prstGeom prst="rect">
            <a:avLst/>
          </a:prstGeom>
          <a:solidFill>
            <a:srgbClr val="00B4D8"/>
          </a:solidFill>
          <a:ln/>
        </p:spPr>
      </p:sp>
      <p:sp>
        <p:nvSpPr>
          <p:cNvPr id="6" name="Text 4"/>
          <p:cNvSpPr/>
          <p:nvPr/>
        </p:nvSpPr>
        <p:spPr>
          <a:xfrm>
            <a:off x="640080" y="1188720"/>
            <a:ext cx="7223760" cy="1234440"/>
          </a:xfrm>
          <a:prstGeom prst="rect">
            <a:avLst/>
          </a:prstGeom>
          <a:noFill/>
          <a:ln/>
        </p:spPr>
        <p:txBody>
          <a:bodyPr wrap="square" lIns="0" tIns="0" rIns="0" bIns="0" rtlCol="0" anchor="ctr"/>
          <a:lstStyle/>
          <a:p>
            <a:pPr indent="0" marL="0">
              <a:buNone/>
            </a:pPr>
            <a:r>
              <a:rPr lang="en-US" sz="1350" i="1" dirty="0">
                <a:solidFill>
                  <a:srgbClr val="E0F0FF"/>
                </a:solidFill>
                <a:latin typeface="Calibri" pitchFamily="34" charset="0"/>
                <a:ea typeface="Calibri" pitchFamily="34" charset="-122"/>
                <a:cs typeface="Calibri" pitchFamily="34" charset="-120"/>
              </a:rPr>
              <a:t>"This project uses DBMS to store hospitals and roads, Advanced Java to build the application, Graph Theory to model and solve routing, and Algorithm Design to compare and justify the recommendation strategy."</a:t>
            </a:r>
            <a:endParaRPr lang="en-US" sz="1350" dirty="0"/>
          </a:p>
        </p:txBody>
      </p:sp>
      <p:sp>
        <p:nvSpPr>
          <p:cNvPr id="7" name="Shape 5"/>
          <p:cNvSpPr/>
          <p:nvPr/>
        </p:nvSpPr>
        <p:spPr>
          <a:xfrm>
            <a:off x="457200" y="2834640"/>
            <a:ext cx="1920240" cy="640080"/>
          </a:xfrm>
          <a:prstGeom prst="rect">
            <a:avLst/>
          </a:prstGeom>
          <a:solidFill>
            <a:srgbClr val="F59E0B"/>
          </a:solidFill>
          <a:ln/>
          <a:effectLst>
            <a:outerShdw sx="100000" sy="100000" kx="0" ky="0" algn="bl" rotWithShape="0" blurRad="101600" dist="38100" dir="8100000">
              <a:srgbClr val="000000">
                <a:alpha val="12000"/>
              </a:srgbClr>
            </a:outerShdw>
          </a:effectLst>
        </p:spPr>
      </p:sp>
      <p:sp>
        <p:nvSpPr>
          <p:cNvPr id="8" name="Text 6"/>
          <p:cNvSpPr/>
          <p:nvPr/>
        </p:nvSpPr>
        <p:spPr>
          <a:xfrm>
            <a:off x="457200" y="2852928"/>
            <a:ext cx="19202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BCS401</a:t>
            </a:r>
            <a:endParaRPr lang="en-US" sz="1200" dirty="0"/>
          </a:p>
        </p:txBody>
      </p:sp>
      <p:sp>
        <p:nvSpPr>
          <p:cNvPr id="9" name="Text 7"/>
          <p:cNvSpPr/>
          <p:nvPr/>
        </p:nvSpPr>
        <p:spPr>
          <a:xfrm>
            <a:off x="457200" y="3127248"/>
            <a:ext cx="1920240" cy="256032"/>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Defined the Problem</a:t>
            </a:r>
            <a:endParaRPr lang="en-US" sz="1000" dirty="0"/>
          </a:p>
        </p:txBody>
      </p:sp>
      <p:sp>
        <p:nvSpPr>
          <p:cNvPr id="10" name="Shape 8"/>
          <p:cNvSpPr/>
          <p:nvPr/>
        </p:nvSpPr>
        <p:spPr>
          <a:xfrm>
            <a:off x="2560320" y="2834640"/>
            <a:ext cx="1920240" cy="640080"/>
          </a:xfrm>
          <a:prstGeom prst="rect">
            <a:avLst/>
          </a:prstGeom>
          <a:solidFill>
            <a:srgbClr val="10B981"/>
          </a:solidFill>
          <a:ln/>
          <a:effectLst>
            <a:outerShdw sx="100000" sy="100000" kx="0" ky="0" algn="bl" rotWithShape="0" blurRad="101600" dist="38100" dir="8100000">
              <a:srgbClr val="000000">
                <a:alpha val="12000"/>
              </a:srgbClr>
            </a:outerShdw>
          </a:effectLst>
        </p:spPr>
      </p:sp>
      <p:sp>
        <p:nvSpPr>
          <p:cNvPr id="11" name="Text 9"/>
          <p:cNvSpPr/>
          <p:nvPr/>
        </p:nvSpPr>
        <p:spPr>
          <a:xfrm>
            <a:off x="2560320" y="2852928"/>
            <a:ext cx="19202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BCS402</a:t>
            </a:r>
            <a:endParaRPr lang="en-US" sz="1200" dirty="0"/>
          </a:p>
        </p:txBody>
      </p:sp>
      <p:sp>
        <p:nvSpPr>
          <p:cNvPr id="12" name="Text 10"/>
          <p:cNvSpPr/>
          <p:nvPr/>
        </p:nvSpPr>
        <p:spPr>
          <a:xfrm>
            <a:off x="2560320" y="3127248"/>
            <a:ext cx="1920240" cy="256032"/>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Built the App</a:t>
            </a:r>
            <a:endParaRPr lang="en-US" sz="1000" dirty="0"/>
          </a:p>
        </p:txBody>
      </p:sp>
      <p:sp>
        <p:nvSpPr>
          <p:cNvPr id="13" name="Shape 11"/>
          <p:cNvSpPr/>
          <p:nvPr/>
        </p:nvSpPr>
        <p:spPr>
          <a:xfrm>
            <a:off x="4663440" y="2834640"/>
            <a:ext cx="1920240" cy="640080"/>
          </a:xfrm>
          <a:prstGeom prst="rect">
            <a:avLst/>
          </a:prstGeom>
          <a:solidFill>
            <a:srgbClr val="8B5CF6"/>
          </a:solidFill>
          <a:ln/>
          <a:effectLst>
            <a:outerShdw sx="100000" sy="100000" kx="0" ky="0" algn="bl" rotWithShape="0" blurRad="101600" dist="38100" dir="8100000">
              <a:srgbClr val="000000">
                <a:alpha val="12000"/>
              </a:srgbClr>
            </a:outerShdw>
          </a:effectLst>
        </p:spPr>
      </p:sp>
      <p:sp>
        <p:nvSpPr>
          <p:cNvPr id="14" name="Text 12"/>
          <p:cNvSpPr/>
          <p:nvPr/>
        </p:nvSpPr>
        <p:spPr>
          <a:xfrm>
            <a:off x="4663440" y="2852928"/>
            <a:ext cx="19202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BCS403</a:t>
            </a:r>
            <a:endParaRPr lang="en-US" sz="1200" dirty="0"/>
          </a:p>
        </p:txBody>
      </p:sp>
      <p:sp>
        <p:nvSpPr>
          <p:cNvPr id="15" name="Text 13"/>
          <p:cNvSpPr/>
          <p:nvPr/>
        </p:nvSpPr>
        <p:spPr>
          <a:xfrm>
            <a:off x="4663440" y="3127248"/>
            <a:ext cx="1920240" cy="256032"/>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Designed the DB</a:t>
            </a:r>
            <a:endParaRPr lang="en-US" sz="1000" dirty="0"/>
          </a:p>
        </p:txBody>
      </p:sp>
      <p:sp>
        <p:nvSpPr>
          <p:cNvPr id="16" name="Shape 14"/>
          <p:cNvSpPr/>
          <p:nvPr/>
        </p:nvSpPr>
        <p:spPr>
          <a:xfrm>
            <a:off x="6766560" y="2834640"/>
            <a:ext cx="1920240" cy="640080"/>
          </a:xfrm>
          <a:prstGeom prst="rect">
            <a:avLst/>
          </a:prstGeom>
          <a:solidFill>
            <a:srgbClr val="00B4D8"/>
          </a:solidFill>
          <a:ln/>
          <a:effectLst>
            <a:outerShdw sx="100000" sy="100000" kx="0" ky="0" algn="bl" rotWithShape="0" blurRad="101600" dist="38100" dir="8100000">
              <a:srgbClr val="000000">
                <a:alpha val="12000"/>
              </a:srgbClr>
            </a:outerShdw>
          </a:effectLst>
        </p:spPr>
      </p:sp>
      <p:sp>
        <p:nvSpPr>
          <p:cNvPr id="17" name="Text 15"/>
          <p:cNvSpPr/>
          <p:nvPr/>
        </p:nvSpPr>
        <p:spPr>
          <a:xfrm>
            <a:off x="6766560" y="2852928"/>
            <a:ext cx="19202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BCS405B</a:t>
            </a:r>
            <a:endParaRPr lang="en-US" sz="1200" dirty="0"/>
          </a:p>
        </p:txBody>
      </p:sp>
      <p:sp>
        <p:nvSpPr>
          <p:cNvPr id="18" name="Text 16"/>
          <p:cNvSpPr/>
          <p:nvPr/>
        </p:nvSpPr>
        <p:spPr>
          <a:xfrm>
            <a:off x="6766560" y="3127248"/>
            <a:ext cx="1920240" cy="256032"/>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Solved the Routing</a:t>
            </a:r>
            <a:endParaRPr lang="en-US" sz="1000" dirty="0"/>
          </a:p>
        </p:txBody>
      </p:sp>
      <p:sp>
        <p:nvSpPr>
          <p:cNvPr id="19" name="Text 17"/>
          <p:cNvSpPr/>
          <p:nvPr/>
        </p:nvSpPr>
        <p:spPr>
          <a:xfrm>
            <a:off x="457200" y="4480560"/>
            <a:ext cx="8229600" cy="365760"/>
          </a:xfrm>
          <a:prstGeom prst="rect">
            <a:avLst/>
          </a:prstGeom>
          <a:noFill/>
          <a:ln/>
        </p:spPr>
        <p:txBody>
          <a:bodyPr wrap="square" lIns="0" tIns="0" rIns="0" bIns="0" rtlCol="0" anchor="ctr"/>
          <a:lstStyle/>
          <a:p>
            <a:pPr algn="l" indent="0" marL="0">
              <a:buNone/>
            </a:pPr>
            <a:r>
              <a:rPr lang="en-US" sz="1000" i="1" dirty="0">
                <a:solidFill>
                  <a:srgbClr val="64748B"/>
                </a:solidFill>
                <a:latin typeface="Calibri" pitchFamily="34" charset="0"/>
                <a:ea typeface="Calibri" pitchFamily="34" charset="-122"/>
                <a:cs typeface="Calibri" pitchFamily="34" charset="-120"/>
              </a:rPr>
              <a:t>Smart Ambulance Routing &amp; Hospital Allocation System  ·  South Bangalore City Map  ·  13 Nodes  ·  6 Hospitals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Ambulance Routing &amp; Hospital Allocation System</dc:title>
  <dc:subject>PptxGenJS Presentation</dc:subject>
  <dc:creator>PptxGenJS</dc:creator>
  <cp:lastModifiedBy>PptxGenJS</cp:lastModifiedBy>
  <cp:revision>1</cp:revision>
  <dcterms:created xsi:type="dcterms:W3CDTF">2026-05-28T16:59:08Z</dcterms:created>
  <dcterms:modified xsi:type="dcterms:W3CDTF">2026-05-28T16:59:08Z</dcterms:modified>
</cp:coreProperties>
</file>