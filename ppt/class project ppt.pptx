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5" r:id="rId15"/>
    <p:sldId id="257" r:id="rId3"/>
    <p:sldId id="258" r:id="rId4"/>
    <p:sldId id="259" r:id="rId5"/>
    <p:sldId id="260" r:id="rId6"/>
    <p:sldId id="261" r:id="rId7"/>
    <p:sldId id="262" r:id="rId8"/>
    <p:sldId id="264"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73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938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p:spPr>
      </p:sp>
      <p:sp>
        <p:nvSpPr>
          <p:cNvPr id="3" name="Shape 1"/>
          <p:cNvSpPr/>
          <p:nvPr/>
        </p:nvSpPr>
        <p:spPr>
          <a:xfrm>
            <a:off x="6858000" y="-457200"/>
            <a:ext cx="3200400" cy="3200400"/>
          </a:xfrm>
          <a:prstGeom prst="ellipse">
            <a:avLst/>
          </a:prstGeom>
          <a:solidFill>
            <a:srgbClr val="112B52"/>
          </a:solidFill>
          <a:ln w="25400">
            <a:solidFill>
              <a:srgbClr val="00B4D8"/>
            </a:solidFill>
            <a:prstDash val="solid"/>
          </a:ln>
        </p:spPr>
      </p:sp>
      <p:pic>
        <p:nvPicPr>
          <p:cNvPr id="4" name="Image 0" descr="preencoded.png"/>
          <p:cNvPicPr>
            <a:picLocks noChangeAspect="1"/>
          </p:cNvPicPr>
          <p:nvPr/>
        </p:nvPicPr>
        <p:blipFill>
          <a:blip r:embed="rId3"/>
          <a:stretch>
            <a:fillRect/>
          </a:stretch>
        </p:blipFill>
        <p:spPr>
          <a:xfrm>
            <a:off x="7680960" y="274320"/>
            <a:ext cx="1371600" cy="1371600"/>
          </a:xfrm>
          <a:prstGeom prst="rect">
            <a:avLst/>
          </a:prstGeom>
        </p:spPr>
      </p:pic>
      <p:sp>
        <p:nvSpPr>
          <p:cNvPr id="5" name="Text 2"/>
          <p:cNvSpPr/>
          <p:nvPr/>
        </p:nvSpPr>
        <p:spPr>
          <a:xfrm>
            <a:off x="457200" y="1097280"/>
            <a:ext cx="7772400" cy="82296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Smart Ambulance Routing</a:t>
            </a:r>
            <a:endParaRPr lang="en-US" sz="3600" dirty="0"/>
          </a:p>
        </p:txBody>
      </p:sp>
      <p:sp>
        <p:nvSpPr>
          <p:cNvPr id="6" name="Text 3"/>
          <p:cNvSpPr/>
          <p:nvPr/>
        </p:nvSpPr>
        <p:spPr>
          <a:xfrm>
            <a:off x="457200" y="1874520"/>
            <a:ext cx="7772400" cy="640080"/>
          </a:xfrm>
          <a:prstGeom prst="rect">
            <a:avLst/>
          </a:prstGeom>
          <a:noFill/>
          <a:ln/>
        </p:spPr>
        <p:txBody>
          <a:bodyPr wrap="square" lIns="0" tIns="0" rIns="0" bIns="0" rtlCol="0" anchor="ctr"/>
          <a:lstStyle/>
          <a:p>
            <a:pPr marL="0" indent="0" algn="l">
              <a:buNone/>
            </a:pPr>
            <a:r>
              <a:rPr lang="en-US" sz="2800" dirty="0">
                <a:solidFill>
                  <a:srgbClr val="00B4D8"/>
                </a:solidFill>
                <a:latin typeface="Calibri" pitchFamily="34" charset="0"/>
                <a:ea typeface="Calibri" pitchFamily="34" charset="-122"/>
                <a:cs typeface="Calibri" pitchFamily="34" charset="-120"/>
              </a:rPr>
              <a:t>&amp; Hospital Allocation System</a:t>
            </a:r>
            <a:endParaRPr lang="en-US" sz="2800" dirty="0"/>
          </a:p>
        </p:txBody>
      </p:sp>
      <p:sp>
        <p:nvSpPr>
          <p:cNvPr id="7" name="Text 4"/>
          <p:cNvSpPr/>
          <p:nvPr/>
        </p:nvSpPr>
        <p:spPr>
          <a:xfrm>
            <a:off x="457200" y="2651760"/>
            <a:ext cx="8046720" cy="365760"/>
          </a:xfrm>
          <a:prstGeom prst="rect">
            <a:avLst/>
          </a:prstGeom>
          <a:noFill/>
          <a:ln/>
        </p:spPr>
        <p:txBody>
          <a:bodyPr wrap="square" lIns="0" tIns="0" rIns="0" bIns="0" rtlCol="0" anchor="ctr"/>
          <a:lstStyle/>
          <a:p>
            <a:pPr marL="0" indent="0" algn="l">
              <a:buNone/>
            </a:pPr>
            <a:r>
              <a:rPr lang="en-US" sz="1300" i="1" dirty="0">
                <a:solidFill>
                  <a:srgbClr val="E0F0FF"/>
                </a:solidFill>
                <a:latin typeface="Calibri" pitchFamily="34" charset="0"/>
                <a:ea typeface="Calibri" pitchFamily="34" charset="-122"/>
                <a:cs typeface="Calibri" pitchFamily="34" charset="-120"/>
              </a:rPr>
              <a:t>A Java-based project combining Graph Theory · DBMS · Advanced Java · Algorithm Design</a:t>
            </a:r>
            <a:endParaRPr lang="en-US" sz="1300" dirty="0"/>
          </a:p>
        </p:txBody>
      </p:sp>
      <p:sp>
        <p:nvSpPr>
          <p:cNvPr id="8" name="Shape 5"/>
          <p:cNvSpPr/>
          <p:nvPr/>
        </p:nvSpPr>
        <p:spPr>
          <a:xfrm>
            <a:off x="457200" y="3383280"/>
            <a:ext cx="1920240" cy="384048"/>
          </a:xfrm>
          <a:prstGeom prst="roundRect">
            <a:avLst>
              <a:gd name="adj" fmla="val 11905"/>
            </a:avLst>
          </a:prstGeom>
          <a:solidFill>
            <a:srgbClr val="F59E0B"/>
          </a:solidFill>
          <a:ln/>
        </p:spPr>
      </p:sp>
      <p:sp>
        <p:nvSpPr>
          <p:cNvPr id="9" name="Text 6"/>
          <p:cNvSpPr/>
          <p:nvPr/>
        </p:nvSpPr>
        <p:spPr>
          <a:xfrm>
            <a:off x="457200" y="3383280"/>
            <a:ext cx="19202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BCS401  Algorithm Design</a:t>
            </a:r>
            <a:endParaRPr lang="en-US" sz="950" dirty="0"/>
          </a:p>
        </p:txBody>
      </p:sp>
      <p:sp>
        <p:nvSpPr>
          <p:cNvPr id="10" name="Shape 7"/>
          <p:cNvSpPr/>
          <p:nvPr/>
        </p:nvSpPr>
        <p:spPr>
          <a:xfrm>
            <a:off x="2560320" y="3383280"/>
            <a:ext cx="1920240" cy="384048"/>
          </a:xfrm>
          <a:prstGeom prst="roundRect">
            <a:avLst>
              <a:gd name="adj" fmla="val 11905"/>
            </a:avLst>
          </a:prstGeom>
          <a:solidFill>
            <a:srgbClr val="10B981"/>
          </a:solidFill>
          <a:ln/>
        </p:spPr>
      </p:sp>
      <p:sp>
        <p:nvSpPr>
          <p:cNvPr id="11" name="Text 8"/>
          <p:cNvSpPr/>
          <p:nvPr/>
        </p:nvSpPr>
        <p:spPr>
          <a:xfrm>
            <a:off x="2560320" y="3383280"/>
            <a:ext cx="19202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BCS402  Advanced Java</a:t>
            </a:r>
            <a:endParaRPr lang="en-US" sz="950" dirty="0"/>
          </a:p>
        </p:txBody>
      </p:sp>
      <p:sp>
        <p:nvSpPr>
          <p:cNvPr id="12" name="Shape 9"/>
          <p:cNvSpPr/>
          <p:nvPr/>
        </p:nvSpPr>
        <p:spPr>
          <a:xfrm>
            <a:off x="4663440" y="3383280"/>
            <a:ext cx="1920240" cy="384048"/>
          </a:xfrm>
          <a:prstGeom prst="roundRect">
            <a:avLst>
              <a:gd name="adj" fmla="val 11905"/>
            </a:avLst>
          </a:prstGeom>
          <a:solidFill>
            <a:srgbClr val="8B5CF6"/>
          </a:solidFill>
          <a:ln/>
        </p:spPr>
      </p:sp>
      <p:sp>
        <p:nvSpPr>
          <p:cNvPr id="13" name="Text 10"/>
          <p:cNvSpPr/>
          <p:nvPr/>
        </p:nvSpPr>
        <p:spPr>
          <a:xfrm>
            <a:off x="4663440" y="3383280"/>
            <a:ext cx="19202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BCS403  DBMS</a:t>
            </a:r>
            <a:endParaRPr lang="en-US" sz="950" dirty="0"/>
          </a:p>
        </p:txBody>
      </p:sp>
      <p:sp>
        <p:nvSpPr>
          <p:cNvPr id="14" name="Shape 11"/>
          <p:cNvSpPr/>
          <p:nvPr/>
        </p:nvSpPr>
        <p:spPr>
          <a:xfrm>
            <a:off x="6766560" y="3383280"/>
            <a:ext cx="1920240" cy="384048"/>
          </a:xfrm>
          <a:prstGeom prst="roundRect">
            <a:avLst>
              <a:gd name="adj" fmla="val 11905"/>
            </a:avLst>
          </a:prstGeom>
          <a:solidFill>
            <a:srgbClr val="00B4D8"/>
          </a:solidFill>
          <a:ln/>
        </p:spPr>
      </p:sp>
      <p:sp>
        <p:nvSpPr>
          <p:cNvPr id="15" name="Text 12"/>
          <p:cNvSpPr/>
          <p:nvPr/>
        </p:nvSpPr>
        <p:spPr>
          <a:xfrm>
            <a:off x="6766560" y="3383280"/>
            <a:ext cx="19202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BCS405B  Graph Theory</a:t>
            </a:r>
            <a:endParaRPr lang="en-US" sz="950" dirty="0"/>
          </a:p>
        </p:txBody>
      </p:sp>
      <p:sp>
        <p:nvSpPr>
          <p:cNvPr id="16" name="Text 13"/>
          <p:cNvSpPr/>
          <p:nvPr/>
        </p:nvSpPr>
        <p:spPr>
          <a:xfrm>
            <a:off x="457200" y="4572000"/>
            <a:ext cx="8229600" cy="320040"/>
          </a:xfrm>
          <a:prstGeom prst="rect">
            <a:avLst/>
          </a:prstGeom>
          <a:noFill/>
          <a:ln/>
        </p:spPr>
        <p:txBody>
          <a:bodyPr wrap="square" lIns="0" tIns="0" rIns="0" bIns="0" rtlCol="0" anchor="ctr"/>
          <a:lstStyle/>
          <a:p>
            <a:pPr marL="0" indent="0" algn="l">
              <a:buNone/>
            </a:pPr>
            <a:r>
              <a:rPr lang="en-US" sz="1100" i="1" dirty="0">
                <a:solidFill>
                  <a:srgbClr val="64748B"/>
                </a:solidFill>
                <a:latin typeface="Calibri" pitchFamily="34" charset="0"/>
                <a:ea typeface="Calibri" pitchFamily="34" charset="-122"/>
                <a:cs typeface="Calibri" pitchFamily="34" charset="-120"/>
              </a:rPr>
              <a:t>4th Semester Project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D3A"/>
          </a:solidFill>
          <a:ln/>
        </p:spPr>
      </p:sp>
      <p:sp>
        <p:nvSpPr>
          <p:cNvPr id="3" name="Text 1"/>
          <p:cNvSpPr/>
          <p:nvPr/>
        </p:nvSpPr>
        <p:spPr>
          <a:xfrm>
            <a:off x="365760" y="91440"/>
            <a:ext cx="8229600" cy="82296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What This Project Does</a:t>
            </a:r>
            <a:endParaRPr lang="en-US" sz="2600" dirty="0"/>
          </a:p>
        </p:txBody>
      </p:sp>
      <p:sp>
        <p:nvSpPr>
          <p:cNvPr id="4" name="Shape 2"/>
          <p:cNvSpPr/>
          <p:nvPr/>
        </p:nvSpPr>
        <p:spPr>
          <a:xfrm>
            <a:off x="320040" y="1188720"/>
            <a:ext cx="4114800" cy="3383280"/>
          </a:xfrm>
          <a:prstGeom prst="rect">
            <a:avLst/>
          </a:prstGeom>
          <a:solidFill>
            <a:srgbClr val="112B52"/>
          </a:solidFill>
          <a:ln/>
          <a:effectLst>
            <a:outerShdw blurRad="101600" dist="38100" dir="8100000" algn="bl" rotWithShape="0">
              <a:srgbClr val="000000">
                <a:alpha val="12000"/>
              </a:srgbClr>
            </a:outerShdw>
          </a:effectLst>
        </p:spPr>
      </p:sp>
      <p:sp>
        <p:nvSpPr>
          <p:cNvPr id="5" name="Text 3"/>
          <p:cNvSpPr/>
          <p:nvPr/>
        </p:nvSpPr>
        <p:spPr>
          <a:xfrm>
            <a:off x="320040" y="1188720"/>
            <a:ext cx="4114800" cy="502920"/>
          </a:xfrm>
          <a:prstGeom prst="rect">
            <a:avLst/>
          </a:prstGeom>
          <a:noFill/>
          <a:ln/>
        </p:spPr>
        <p:txBody>
          <a:bodyPr wrap="square" lIns="0" tIns="0" rIns="0" bIns="0" rtlCol="0" anchor="ctr"/>
          <a:lstStyle/>
          <a:p>
            <a:pPr marL="0" indent="0" algn="ctr">
              <a:buNone/>
            </a:pPr>
            <a:r>
              <a:rPr lang="en-US" sz="1500" b="1" dirty="0">
                <a:solidFill>
                  <a:srgbClr val="00B4D8"/>
                </a:solidFill>
                <a:latin typeface="Calibri" pitchFamily="34" charset="0"/>
                <a:ea typeface="Calibri" pitchFamily="34" charset="-122"/>
                <a:cs typeface="Calibri" pitchFamily="34" charset="-120"/>
              </a:rPr>
              <a:t>The Problem</a:t>
            </a:r>
            <a:endParaRPr lang="en-US" sz="1500" dirty="0"/>
          </a:p>
        </p:txBody>
      </p:sp>
      <p:sp>
        <p:nvSpPr>
          <p:cNvPr id="6" name="Shape 4"/>
          <p:cNvSpPr/>
          <p:nvPr/>
        </p:nvSpPr>
        <p:spPr>
          <a:xfrm>
            <a:off x="502920" y="1874520"/>
            <a:ext cx="201168" cy="201168"/>
          </a:xfrm>
          <a:prstGeom prst="ellipse">
            <a:avLst/>
          </a:prstGeom>
          <a:solidFill>
            <a:srgbClr val="00B4D8"/>
          </a:solidFill>
          <a:ln/>
        </p:spPr>
      </p:sp>
      <p:sp>
        <p:nvSpPr>
          <p:cNvPr id="7" name="Text 5"/>
          <p:cNvSpPr/>
          <p:nvPr/>
        </p:nvSpPr>
        <p:spPr>
          <a:xfrm>
            <a:off x="777240" y="1828800"/>
            <a:ext cx="3474720" cy="457200"/>
          </a:xfrm>
          <a:prstGeom prst="rect">
            <a:avLst/>
          </a:prstGeom>
          <a:noFill/>
          <a:ln/>
        </p:spPr>
        <p:txBody>
          <a:bodyPr wrap="square" lIns="0" tIns="0" rIns="0" bIns="0" rtlCol="0" anchor="ctr"/>
          <a:lstStyle/>
          <a:p>
            <a:pPr marL="0" indent="0" algn="l">
              <a:buNone/>
            </a:pPr>
            <a:r>
              <a:rPr lang="en-US" sz="1200" dirty="0">
                <a:solidFill>
                  <a:srgbClr val="E0F0FF"/>
                </a:solidFill>
                <a:latin typeface="Calibri" pitchFamily="34" charset="0"/>
                <a:ea typeface="Calibri" pitchFamily="34" charset="-122"/>
                <a:cs typeface="Calibri" pitchFamily="34" charset="-120"/>
              </a:rPr>
              <a:t>In real emergencies, the nearest hospital is chosen — but it may not have ICU, beds, or the right specialization.</a:t>
            </a:r>
            <a:endParaRPr lang="en-US" sz="1200" dirty="0"/>
          </a:p>
        </p:txBody>
      </p:sp>
      <p:sp>
        <p:nvSpPr>
          <p:cNvPr id="8" name="Shape 6"/>
          <p:cNvSpPr/>
          <p:nvPr/>
        </p:nvSpPr>
        <p:spPr>
          <a:xfrm>
            <a:off x="502920" y="2715768"/>
            <a:ext cx="201168" cy="201168"/>
          </a:xfrm>
          <a:prstGeom prst="ellipse">
            <a:avLst/>
          </a:prstGeom>
          <a:solidFill>
            <a:srgbClr val="00B4D8"/>
          </a:solidFill>
          <a:ln/>
        </p:spPr>
      </p:sp>
      <p:sp>
        <p:nvSpPr>
          <p:cNvPr id="9" name="Text 7"/>
          <p:cNvSpPr/>
          <p:nvPr/>
        </p:nvSpPr>
        <p:spPr>
          <a:xfrm>
            <a:off x="777240" y="2670048"/>
            <a:ext cx="3474720" cy="457200"/>
          </a:xfrm>
          <a:prstGeom prst="rect">
            <a:avLst/>
          </a:prstGeom>
          <a:noFill/>
          <a:ln/>
        </p:spPr>
        <p:txBody>
          <a:bodyPr wrap="square" lIns="0" tIns="0" rIns="0" bIns="0" rtlCol="0" anchor="ctr"/>
          <a:lstStyle/>
          <a:p>
            <a:pPr marL="0" indent="0" algn="l">
              <a:buNone/>
            </a:pPr>
            <a:r>
              <a:rPr lang="en-US" sz="1200" dirty="0">
                <a:solidFill>
                  <a:srgbClr val="E0F0FF"/>
                </a:solidFill>
                <a:latin typeface="Calibri" pitchFamily="34" charset="0"/>
                <a:ea typeface="Calibri" pitchFamily="34" charset="-122"/>
                <a:cs typeface="Calibri" pitchFamily="34" charset="-120"/>
              </a:rPr>
              <a:t>This leads to delays, wrong allocation, and wasted time.</a:t>
            </a:r>
            <a:endParaRPr lang="en-US" sz="1200" dirty="0"/>
          </a:p>
        </p:txBody>
      </p:sp>
      <p:sp>
        <p:nvSpPr>
          <p:cNvPr id="10" name="Shape 8"/>
          <p:cNvSpPr/>
          <p:nvPr/>
        </p:nvSpPr>
        <p:spPr>
          <a:xfrm>
            <a:off x="502920" y="3557016"/>
            <a:ext cx="201168" cy="201168"/>
          </a:xfrm>
          <a:prstGeom prst="ellipse">
            <a:avLst/>
          </a:prstGeom>
          <a:solidFill>
            <a:srgbClr val="00B4D8"/>
          </a:solidFill>
          <a:ln/>
        </p:spPr>
      </p:sp>
      <p:sp>
        <p:nvSpPr>
          <p:cNvPr id="11" name="Text 9"/>
          <p:cNvSpPr/>
          <p:nvPr/>
        </p:nvSpPr>
        <p:spPr>
          <a:xfrm>
            <a:off x="777240" y="3511296"/>
            <a:ext cx="3474720" cy="457200"/>
          </a:xfrm>
          <a:prstGeom prst="rect">
            <a:avLst/>
          </a:prstGeom>
          <a:noFill/>
          <a:ln/>
        </p:spPr>
        <p:txBody>
          <a:bodyPr wrap="square" lIns="0" tIns="0" rIns="0" bIns="0" rtlCol="0" anchor="ctr"/>
          <a:lstStyle/>
          <a:p>
            <a:pPr marL="0" indent="0" algn="l">
              <a:buNone/>
            </a:pPr>
            <a:r>
              <a:rPr lang="en-US" sz="1200" dirty="0">
                <a:solidFill>
                  <a:srgbClr val="E0F0FF"/>
                </a:solidFill>
                <a:latin typeface="Calibri" pitchFamily="34" charset="0"/>
                <a:ea typeface="Calibri" pitchFamily="34" charset="-122"/>
                <a:cs typeface="Calibri" pitchFamily="34" charset="-120"/>
              </a:rPr>
              <a:t>The system should find the BEST hospital — not just the closest one.</a:t>
            </a:r>
            <a:endParaRPr lang="en-US" sz="1200" dirty="0"/>
          </a:p>
        </p:txBody>
      </p:sp>
      <p:sp>
        <p:nvSpPr>
          <p:cNvPr id="12" name="Shape 10"/>
          <p:cNvSpPr/>
          <p:nvPr/>
        </p:nvSpPr>
        <p:spPr>
          <a:xfrm>
            <a:off x="4754880" y="1188720"/>
            <a:ext cx="4069080" cy="338328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754880" y="1188720"/>
            <a:ext cx="4069080" cy="502920"/>
          </a:xfrm>
          <a:prstGeom prst="rect">
            <a:avLst/>
          </a:prstGeom>
          <a:solidFill>
            <a:srgbClr val="0077B6"/>
          </a:solidFill>
          <a:ln/>
        </p:spPr>
      </p:sp>
      <p:sp>
        <p:nvSpPr>
          <p:cNvPr id="14" name="Text 12"/>
          <p:cNvSpPr/>
          <p:nvPr/>
        </p:nvSpPr>
        <p:spPr>
          <a:xfrm>
            <a:off x="4754880" y="1188720"/>
            <a:ext cx="40690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Our Solution</a:t>
            </a:r>
            <a:endParaRPr lang="en-US" sz="1500" dirty="0"/>
          </a:p>
        </p:txBody>
      </p:sp>
      <p:pic>
        <p:nvPicPr>
          <p:cNvPr id="15" name="Image 0" descr="preencoded.png"/>
          <p:cNvPicPr>
            <a:picLocks noChangeAspect="1"/>
          </p:cNvPicPr>
          <p:nvPr/>
        </p:nvPicPr>
        <p:blipFill>
          <a:blip r:embed="rId3"/>
          <a:stretch>
            <a:fillRect/>
          </a:stretch>
        </p:blipFill>
        <p:spPr>
          <a:xfrm>
            <a:off x="4892040" y="1828800"/>
            <a:ext cx="256032" cy="256032"/>
          </a:xfrm>
          <a:prstGeom prst="rect">
            <a:avLst/>
          </a:prstGeom>
        </p:spPr>
      </p:pic>
      <p:sp>
        <p:nvSpPr>
          <p:cNvPr id="16" name="Text 13"/>
          <p:cNvSpPr/>
          <p:nvPr/>
        </p:nvSpPr>
        <p:spPr>
          <a:xfrm>
            <a:off x="5230368" y="1792224"/>
            <a:ext cx="3383280" cy="256032"/>
          </a:xfrm>
          <a:prstGeom prst="rect">
            <a:avLst/>
          </a:prstGeom>
          <a:noFill/>
          <a:ln/>
        </p:spPr>
        <p:txBody>
          <a:bodyPr wrap="square" lIns="0" tIns="0" rIns="0" bIns="0" rtlCol="0" anchor="ctr"/>
          <a:lstStyle/>
          <a:p>
            <a:pPr marL="0" indent="0" algn="l">
              <a:buNone/>
            </a:pPr>
            <a:r>
              <a:rPr lang="en-US" sz="1200" b="1" dirty="0">
                <a:solidFill>
                  <a:srgbClr val="0077B6"/>
                </a:solidFill>
                <a:latin typeface="Calibri" pitchFamily="34" charset="0"/>
                <a:ea typeface="Calibri" pitchFamily="34" charset="-122"/>
                <a:cs typeface="Calibri" pitchFamily="34" charset="-120"/>
              </a:rPr>
              <a:t>Match hospital</a:t>
            </a:r>
            <a:endParaRPr lang="en-US" sz="1200" dirty="0"/>
          </a:p>
        </p:txBody>
      </p:sp>
      <p:sp>
        <p:nvSpPr>
          <p:cNvPr id="17" name="Text 14"/>
          <p:cNvSpPr/>
          <p:nvPr/>
        </p:nvSpPr>
        <p:spPr>
          <a:xfrm>
            <a:off x="5230368" y="2029968"/>
            <a:ext cx="3383280" cy="27432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Check if the hospital handles the type of emergency (cardiac, trauma, etc.)</a:t>
            </a:r>
            <a:endParaRPr lang="en-US" sz="1050" dirty="0"/>
          </a:p>
        </p:txBody>
      </p:sp>
      <p:pic>
        <p:nvPicPr>
          <p:cNvPr id="18" name="Image 1" descr="preencoded.png"/>
          <p:cNvPicPr>
            <a:picLocks noChangeAspect="1"/>
          </p:cNvPicPr>
          <p:nvPr/>
        </p:nvPicPr>
        <p:blipFill>
          <a:blip r:embed="rId3"/>
          <a:stretch>
            <a:fillRect/>
          </a:stretch>
        </p:blipFill>
        <p:spPr>
          <a:xfrm>
            <a:off x="4892040" y="2532888"/>
            <a:ext cx="256032" cy="256032"/>
          </a:xfrm>
          <a:prstGeom prst="rect">
            <a:avLst/>
          </a:prstGeom>
        </p:spPr>
      </p:pic>
      <p:sp>
        <p:nvSpPr>
          <p:cNvPr id="19" name="Text 15"/>
          <p:cNvSpPr/>
          <p:nvPr/>
        </p:nvSpPr>
        <p:spPr>
          <a:xfrm>
            <a:off x="5230368" y="2496312"/>
            <a:ext cx="3383280" cy="256032"/>
          </a:xfrm>
          <a:prstGeom prst="rect">
            <a:avLst/>
          </a:prstGeom>
          <a:noFill/>
          <a:ln/>
        </p:spPr>
        <p:txBody>
          <a:bodyPr wrap="square" lIns="0" tIns="0" rIns="0" bIns="0" rtlCol="0" anchor="ctr"/>
          <a:lstStyle/>
          <a:p>
            <a:pPr marL="0" indent="0" algn="l">
              <a:buNone/>
            </a:pPr>
            <a:r>
              <a:rPr lang="en-US" sz="1200" b="1" dirty="0">
                <a:solidFill>
                  <a:srgbClr val="0077B6"/>
                </a:solidFill>
                <a:latin typeface="Calibri" pitchFamily="34" charset="0"/>
                <a:ea typeface="Calibri" pitchFamily="34" charset="-122"/>
                <a:cs typeface="Calibri" pitchFamily="34" charset="-120"/>
              </a:rPr>
              <a:t>Check resources</a:t>
            </a:r>
            <a:endParaRPr lang="en-US" sz="1200" dirty="0"/>
          </a:p>
        </p:txBody>
      </p:sp>
      <p:sp>
        <p:nvSpPr>
          <p:cNvPr id="20" name="Text 16"/>
          <p:cNvSpPr/>
          <p:nvPr/>
        </p:nvSpPr>
        <p:spPr>
          <a:xfrm>
            <a:off x="5230368" y="2734056"/>
            <a:ext cx="3383280" cy="27432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Confirm if ICU or general beds are available right now</a:t>
            </a:r>
            <a:endParaRPr lang="en-US" sz="1050" dirty="0"/>
          </a:p>
        </p:txBody>
      </p:sp>
      <p:pic>
        <p:nvPicPr>
          <p:cNvPr id="21" name="Image 2" descr="preencoded.png"/>
          <p:cNvPicPr>
            <a:picLocks noChangeAspect="1"/>
          </p:cNvPicPr>
          <p:nvPr/>
        </p:nvPicPr>
        <p:blipFill>
          <a:blip r:embed="rId3"/>
          <a:stretch>
            <a:fillRect/>
          </a:stretch>
        </p:blipFill>
        <p:spPr>
          <a:xfrm>
            <a:off x="4892040" y="3236976"/>
            <a:ext cx="256032" cy="256032"/>
          </a:xfrm>
          <a:prstGeom prst="rect">
            <a:avLst/>
          </a:prstGeom>
        </p:spPr>
      </p:pic>
      <p:sp>
        <p:nvSpPr>
          <p:cNvPr id="22" name="Text 17"/>
          <p:cNvSpPr/>
          <p:nvPr/>
        </p:nvSpPr>
        <p:spPr>
          <a:xfrm>
            <a:off x="5230368" y="3200400"/>
            <a:ext cx="3383280" cy="256032"/>
          </a:xfrm>
          <a:prstGeom prst="rect">
            <a:avLst/>
          </a:prstGeom>
          <a:noFill/>
          <a:ln/>
        </p:spPr>
        <p:txBody>
          <a:bodyPr wrap="square" lIns="0" tIns="0" rIns="0" bIns="0" rtlCol="0" anchor="ctr"/>
          <a:lstStyle/>
          <a:p>
            <a:pPr marL="0" indent="0" algn="l">
              <a:buNone/>
            </a:pPr>
            <a:r>
              <a:rPr lang="en-US" sz="1200" b="1" dirty="0">
                <a:solidFill>
                  <a:srgbClr val="0077B6"/>
                </a:solidFill>
                <a:latin typeface="Calibri" pitchFamily="34" charset="0"/>
                <a:ea typeface="Calibri" pitchFamily="34" charset="-122"/>
                <a:cs typeface="Calibri" pitchFamily="34" charset="-120"/>
              </a:rPr>
              <a:t>Find best route</a:t>
            </a:r>
            <a:endParaRPr lang="en-US" sz="1200" dirty="0"/>
          </a:p>
        </p:txBody>
      </p:sp>
      <p:sp>
        <p:nvSpPr>
          <p:cNvPr id="23" name="Text 18"/>
          <p:cNvSpPr/>
          <p:nvPr/>
        </p:nvSpPr>
        <p:spPr>
          <a:xfrm>
            <a:off x="5230368" y="3438144"/>
            <a:ext cx="3383280" cy="27432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Use graph algorithms to calculate shortest road path to that hospital</a:t>
            </a:r>
            <a:endParaRPr lang="en-US" sz="1050" dirty="0"/>
          </a:p>
        </p:txBody>
      </p:sp>
      <p:pic>
        <p:nvPicPr>
          <p:cNvPr id="24" name="Image 3" descr="preencoded.png"/>
          <p:cNvPicPr>
            <a:picLocks noChangeAspect="1"/>
          </p:cNvPicPr>
          <p:nvPr/>
        </p:nvPicPr>
        <p:blipFill>
          <a:blip r:embed="rId3"/>
          <a:stretch>
            <a:fillRect/>
          </a:stretch>
        </p:blipFill>
        <p:spPr>
          <a:xfrm>
            <a:off x="4892040" y="3941064"/>
            <a:ext cx="256032" cy="256032"/>
          </a:xfrm>
          <a:prstGeom prst="rect">
            <a:avLst/>
          </a:prstGeom>
        </p:spPr>
      </p:pic>
      <p:sp>
        <p:nvSpPr>
          <p:cNvPr id="25" name="Text 19"/>
          <p:cNvSpPr/>
          <p:nvPr/>
        </p:nvSpPr>
        <p:spPr>
          <a:xfrm>
            <a:off x="5230368" y="3904488"/>
            <a:ext cx="3383280" cy="256032"/>
          </a:xfrm>
          <a:prstGeom prst="rect">
            <a:avLst/>
          </a:prstGeom>
          <a:noFill/>
          <a:ln/>
        </p:spPr>
        <p:txBody>
          <a:bodyPr wrap="square" lIns="0" tIns="0" rIns="0" bIns="0" rtlCol="0" anchor="ctr"/>
          <a:lstStyle/>
          <a:p>
            <a:pPr marL="0" indent="0" algn="l">
              <a:buNone/>
            </a:pPr>
            <a:r>
              <a:rPr lang="en-US" sz="1200" b="1" dirty="0">
                <a:solidFill>
                  <a:srgbClr val="0077B6"/>
                </a:solidFill>
                <a:latin typeface="Calibri" pitchFamily="34" charset="0"/>
                <a:ea typeface="Calibri" pitchFamily="34" charset="-122"/>
                <a:cs typeface="Calibri" pitchFamily="34" charset="-120"/>
              </a:rPr>
              <a:t>Recommend</a:t>
            </a:r>
            <a:endParaRPr lang="en-US" sz="1200" dirty="0"/>
          </a:p>
        </p:txBody>
      </p:sp>
      <p:sp>
        <p:nvSpPr>
          <p:cNvPr id="26" name="Text 20"/>
          <p:cNvSpPr/>
          <p:nvPr/>
        </p:nvSpPr>
        <p:spPr>
          <a:xfrm>
            <a:off x="5230368" y="4142232"/>
            <a:ext cx="3383280" cy="274320"/>
          </a:xfrm>
          <a:prstGeom prst="rect">
            <a:avLst/>
          </a:prstGeom>
          <a:noFill/>
          <a:ln/>
        </p:spPr>
        <p:txBody>
          <a:bodyPr wrap="square" lIns="0" tIns="0" rIns="0" bIns="0" rtlCol="0" anchor="ctr"/>
          <a:lstStyle/>
          <a:p>
            <a:pPr marL="0" indent="0" algn="l">
              <a:buNone/>
            </a:pPr>
            <a:r>
              <a:rPr lang="en-US" sz="1050" dirty="0">
                <a:solidFill>
                  <a:srgbClr val="64748B"/>
                </a:solidFill>
                <a:latin typeface="Calibri" pitchFamily="34" charset="0"/>
                <a:ea typeface="Calibri" pitchFamily="34" charset="-122"/>
                <a:cs typeface="Calibri" pitchFamily="34" charset="-120"/>
              </a:rPr>
              <a:t>Pick the best hospital + a backup option for safety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p:spPr>
      </p:sp>
      <p:sp>
        <p:nvSpPr>
          <p:cNvPr id="3" name="Shape 1"/>
          <p:cNvSpPr/>
          <p:nvPr/>
        </p:nvSpPr>
        <p:spPr>
          <a:xfrm>
            <a:off x="164592" y="0"/>
            <a:ext cx="8979408" cy="1051560"/>
          </a:xfrm>
          <a:prstGeom prst="rect">
            <a:avLst/>
          </a:prstGeom>
          <a:solidFill>
            <a:srgbClr val="112B52"/>
          </a:solidFill>
          <a:ln/>
        </p:spPr>
      </p:sp>
      <p:sp>
        <p:nvSpPr>
          <p:cNvPr id="4" name="Text 2"/>
          <p:cNvSpPr/>
          <p:nvPr/>
        </p:nvSpPr>
        <p:spPr>
          <a:xfrm>
            <a:off x="320040" y="45720"/>
            <a:ext cx="7315200" cy="502920"/>
          </a:xfrm>
          <a:prstGeom prst="rect">
            <a:avLst/>
          </a:prstGeom>
          <a:noFill/>
          <a:ln/>
        </p:spPr>
        <p:txBody>
          <a:bodyPr wrap="square" lIns="0" tIns="0" rIns="0" bIns="0" rtlCol="0" anchor="ctr"/>
          <a:lstStyle/>
          <a:p>
            <a:pPr marL="0" indent="0">
              <a:buNone/>
            </a:pPr>
            <a:r>
              <a:rPr lang="en-US" sz="2200" b="1" dirty="0">
                <a:solidFill>
                  <a:srgbClr val="F59E0B"/>
                </a:solidFill>
                <a:latin typeface="Calibri" pitchFamily="34" charset="0"/>
                <a:ea typeface="Calibri" pitchFamily="34" charset="-122"/>
                <a:cs typeface="Calibri" pitchFamily="34" charset="-120"/>
              </a:rPr>
              <a:t>BCS401  ·  Algorithm Design &amp; Analysis</a:t>
            </a:r>
            <a:endParaRPr lang="en-US" sz="2200" dirty="0"/>
          </a:p>
        </p:txBody>
      </p:sp>
      <p:sp>
        <p:nvSpPr>
          <p:cNvPr id="5" name="Text 3"/>
          <p:cNvSpPr/>
          <p:nvPr/>
        </p:nvSpPr>
        <p:spPr>
          <a:xfrm>
            <a:off x="320040" y="548640"/>
            <a:ext cx="7772400" cy="365760"/>
          </a:xfrm>
          <a:prstGeom prst="rect">
            <a:avLst/>
          </a:prstGeom>
          <a:noFill/>
          <a:ln/>
        </p:spPr>
        <p:txBody>
          <a:bodyPr wrap="square" lIns="0" tIns="0" rIns="0" bIns="0" rtlCol="0" anchor="ctr"/>
          <a:lstStyle/>
          <a:p>
            <a:pPr marL="0" indent="0">
              <a:buNone/>
            </a:pPr>
            <a:r>
              <a:rPr lang="en-US" sz="1300" i="1" dirty="0">
                <a:solidFill>
                  <a:srgbClr val="E0F0FF"/>
                </a:solidFill>
                <a:latin typeface="Calibri" pitchFamily="34" charset="0"/>
                <a:ea typeface="Calibri" pitchFamily="34" charset="-122"/>
                <a:cs typeface="Calibri" pitchFamily="34" charset="-120"/>
              </a:rPr>
              <a:t>What concepts you used and how they appear in this project</a:t>
            </a:r>
            <a:endParaRPr lang="en-US" sz="1300" dirty="0"/>
          </a:p>
        </p:txBody>
      </p:sp>
      <p:pic>
        <p:nvPicPr>
          <p:cNvPr id="6" name="Image 0" descr="preencoded.png"/>
          <p:cNvPicPr>
            <a:picLocks noChangeAspect="1"/>
          </p:cNvPicPr>
          <p:nvPr/>
        </p:nvPicPr>
        <p:blipFill>
          <a:blip r:embed="rId3"/>
          <a:stretch>
            <a:fillRect/>
          </a:stretch>
        </p:blipFill>
        <p:spPr>
          <a:xfrm>
            <a:off x="8321040" y="182880"/>
            <a:ext cx="594360" cy="594360"/>
          </a:xfrm>
          <a:prstGeom prst="rect">
            <a:avLst/>
          </a:prstGeom>
        </p:spPr>
      </p:pic>
      <p:sp>
        <p:nvSpPr>
          <p:cNvPr id="7" name="Shape 4"/>
          <p:cNvSpPr/>
          <p:nvPr/>
        </p:nvSpPr>
        <p:spPr>
          <a:xfrm>
            <a:off x="320040" y="1188720"/>
            <a:ext cx="4160520" cy="1691640"/>
          </a:xfrm>
          <a:prstGeom prst="rect">
            <a:avLst/>
          </a:prstGeom>
          <a:solidFill>
            <a:srgbClr val="112B52"/>
          </a:solidFill>
          <a:ln/>
          <a:effectLst>
            <a:outerShdw blurRad="101600" dist="38100" dir="8100000" algn="bl" rotWithShape="0">
              <a:srgbClr val="000000">
                <a:alpha val="12000"/>
              </a:srgbClr>
            </a:outerShdw>
          </a:effectLst>
        </p:spPr>
      </p:sp>
      <p:sp>
        <p:nvSpPr>
          <p:cNvPr id="8" name="Shape 5"/>
          <p:cNvSpPr/>
          <p:nvPr/>
        </p:nvSpPr>
        <p:spPr>
          <a:xfrm>
            <a:off x="320040" y="1188720"/>
            <a:ext cx="4160520" cy="347472"/>
          </a:xfrm>
          <a:prstGeom prst="rect">
            <a:avLst/>
          </a:prstGeom>
          <a:solidFill>
            <a:srgbClr val="F59E0B"/>
          </a:solidFill>
          <a:ln/>
        </p:spPr>
      </p:sp>
      <p:sp>
        <p:nvSpPr>
          <p:cNvPr id="9" name="Text 6"/>
          <p:cNvSpPr/>
          <p:nvPr/>
        </p:nvSpPr>
        <p:spPr>
          <a:xfrm>
            <a:off x="393192" y="1216152"/>
            <a:ext cx="397764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Problem Definition</a:t>
            </a:r>
            <a:endParaRPr lang="en-US" sz="1250" dirty="0"/>
          </a:p>
        </p:txBody>
      </p:sp>
      <p:sp>
        <p:nvSpPr>
          <p:cNvPr id="10" name="Shape 7"/>
          <p:cNvSpPr/>
          <p:nvPr/>
        </p:nvSpPr>
        <p:spPr>
          <a:xfrm>
            <a:off x="411480" y="1645920"/>
            <a:ext cx="109728" cy="109728"/>
          </a:xfrm>
          <a:prstGeom prst="ellipse">
            <a:avLst/>
          </a:prstGeom>
          <a:solidFill>
            <a:srgbClr val="F59E0B"/>
          </a:solidFill>
          <a:ln/>
        </p:spPr>
      </p:sp>
      <p:sp>
        <p:nvSpPr>
          <p:cNvPr id="11" name="Text 8"/>
          <p:cNvSpPr/>
          <p:nvPr/>
        </p:nvSpPr>
        <p:spPr>
          <a:xfrm>
            <a:off x="576072" y="1591056"/>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We formally defined the problem: nearest hospital is NOT always the best</a:t>
            </a:r>
            <a:endParaRPr lang="en-US" sz="1000" dirty="0"/>
          </a:p>
        </p:txBody>
      </p:sp>
      <p:sp>
        <p:nvSpPr>
          <p:cNvPr id="12" name="Shape 9"/>
          <p:cNvSpPr/>
          <p:nvPr/>
        </p:nvSpPr>
        <p:spPr>
          <a:xfrm>
            <a:off x="411480" y="2039112"/>
            <a:ext cx="109728" cy="109728"/>
          </a:xfrm>
          <a:prstGeom prst="ellipse">
            <a:avLst/>
          </a:prstGeom>
          <a:solidFill>
            <a:srgbClr val="F59E0B"/>
          </a:solidFill>
          <a:ln/>
        </p:spPr>
      </p:sp>
      <p:sp>
        <p:nvSpPr>
          <p:cNvPr id="13" name="Text 10"/>
          <p:cNvSpPr/>
          <p:nvPr/>
        </p:nvSpPr>
        <p:spPr>
          <a:xfrm>
            <a:off x="576072" y="1984248"/>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We analyzed what factors matter: emergency type, ICU, beds, and road distance</a:t>
            </a:r>
            <a:endParaRPr lang="en-US" sz="1000" dirty="0"/>
          </a:p>
        </p:txBody>
      </p:sp>
      <p:sp>
        <p:nvSpPr>
          <p:cNvPr id="14" name="Shape 11"/>
          <p:cNvSpPr/>
          <p:nvPr/>
        </p:nvSpPr>
        <p:spPr>
          <a:xfrm>
            <a:off x="411480" y="2432304"/>
            <a:ext cx="109728" cy="109728"/>
          </a:xfrm>
          <a:prstGeom prst="ellipse">
            <a:avLst/>
          </a:prstGeom>
          <a:solidFill>
            <a:srgbClr val="F59E0B"/>
          </a:solidFill>
          <a:ln/>
        </p:spPr>
      </p:sp>
      <p:sp>
        <p:nvSpPr>
          <p:cNvPr id="15" name="Text 12"/>
          <p:cNvSpPr/>
          <p:nvPr/>
        </p:nvSpPr>
        <p:spPr>
          <a:xfrm>
            <a:off x="576072" y="2377440"/>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This is called Requirements Analysis in algorithm design</a:t>
            </a:r>
            <a:endParaRPr lang="en-US" sz="1000" dirty="0"/>
          </a:p>
        </p:txBody>
      </p:sp>
      <p:sp>
        <p:nvSpPr>
          <p:cNvPr id="16" name="Shape 13"/>
          <p:cNvSpPr/>
          <p:nvPr/>
        </p:nvSpPr>
        <p:spPr>
          <a:xfrm>
            <a:off x="4709160" y="1188720"/>
            <a:ext cx="4160520" cy="1691640"/>
          </a:xfrm>
          <a:prstGeom prst="rect">
            <a:avLst/>
          </a:prstGeom>
          <a:solidFill>
            <a:srgbClr val="112B52"/>
          </a:solidFill>
          <a:ln/>
          <a:effectLst>
            <a:outerShdw blurRad="101600" dist="38100" dir="8100000" algn="bl" rotWithShape="0">
              <a:srgbClr val="000000">
                <a:alpha val="12000"/>
              </a:srgbClr>
            </a:outerShdw>
          </a:effectLst>
        </p:spPr>
      </p:sp>
      <p:sp>
        <p:nvSpPr>
          <p:cNvPr id="17" name="Shape 14"/>
          <p:cNvSpPr/>
          <p:nvPr/>
        </p:nvSpPr>
        <p:spPr>
          <a:xfrm>
            <a:off x="4709160" y="1188720"/>
            <a:ext cx="4160520" cy="347472"/>
          </a:xfrm>
          <a:prstGeom prst="rect">
            <a:avLst/>
          </a:prstGeom>
          <a:solidFill>
            <a:srgbClr val="F59E0B"/>
          </a:solidFill>
          <a:ln/>
        </p:spPr>
      </p:sp>
      <p:sp>
        <p:nvSpPr>
          <p:cNvPr id="18" name="Text 15"/>
          <p:cNvSpPr/>
          <p:nvPr/>
        </p:nvSpPr>
        <p:spPr>
          <a:xfrm>
            <a:off x="4782312" y="1216152"/>
            <a:ext cx="397764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Brute-Force vs. Smart Search</a:t>
            </a:r>
            <a:endParaRPr lang="en-US" sz="1250" dirty="0"/>
          </a:p>
        </p:txBody>
      </p:sp>
      <p:sp>
        <p:nvSpPr>
          <p:cNvPr id="19" name="Shape 16"/>
          <p:cNvSpPr/>
          <p:nvPr/>
        </p:nvSpPr>
        <p:spPr>
          <a:xfrm>
            <a:off x="4800600" y="1645920"/>
            <a:ext cx="109728" cy="109728"/>
          </a:xfrm>
          <a:prstGeom prst="ellipse">
            <a:avLst/>
          </a:prstGeom>
          <a:solidFill>
            <a:srgbClr val="F59E0B"/>
          </a:solidFill>
          <a:ln/>
        </p:spPr>
      </p:sp>
      <p:sp>
        <p:nvSpPr>
          <p:cNvPr id="20" name="Text 17"/>
          <p:cNvSpPr/>
          <p:nvPr/>
        </p:nvSpPr>
        <p:spPr>
          <a:xfrm>
            <a:off x="4965192" y="1591056"/>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Brute-force: check every hospital one by one — works, but slow</a:t>
            </a:r>
            <a:endParaRPr lang="en-US" sz="1000" dirty="0"/>
          </a:p>
        </p:txBody>
      </p:sp>
      <p:sp>
        <p:nvSpPr>
          <p:cNvPr id="21" name="Shape 18"/>
          <p:cNvSpPr/>
          <p:nvPr/>
        </p:nvSpPr>
        <p:spPr>
          <a:xfrm>
            <a:off x="4800600" y="2039112"/>
            <a:ext cx="109728" cy="109728"/>
          </a:xfrm>
          <a:prstGeom prst="ellipse">
            <a:avLst/>
          </a:prstGeom>
          <a:solidFill>
            <a:srgbClr val="F59E0B"/>
          </a:solidFill>
          <a:ln/>
        </p:spPr>
      </p:sp>
      <p:sp>
        <p:nvSpPr>
          <p:cNvPr id="22" name="Text 19"/>
          <p:cNvSpPr/>
          <p:nvPr/>
        </p:nvSpPr>
        <p:spPr>
          <a:xfrm>
            <a:off x="4965192" y="1984248"/>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Our system filters hospitals first, then finds the best route — smarter approach</a:t>
            </a:r>
            <a:endParaRPr lang="en-US" sz="1000" dirty="0"/>
          </a:p>
        </p:txBody>
      </p:sp>
      <p:sp>
        <p:nvSpPr>
          <p:cNvPr id="23" name="Shape 20"/>
          <p:cNvSpPr/>
          <p:nvPr/>
        </p:nvSpPr>
        <p:spPr>
          <a:xfrm>
            <a:off x="4800600" y="2432304"/>
            <a:ext cx="109728" cy="109728"/>
          </a:xfrm>
          <a:prstGeom prst="ellipse">
            <a:avLst/>
          </a:prstGeom>
          <a:solidFill>
            <a:srgbClr val="F59E0B"/>
          </a:solidFill>
          <a:ln/>
        </p:spPr>
      </p:sp>
      <p:sp>
        <p:nvSpPr>
          <p:cNvPr id="24" name="Text 21"/>
          <p:cNvSpPr/>
          <p:nvPr/>
        </p:nvSpPr>
        <p:spPr>
          <a:xfrm>
            <a:off x="4965192" y="2377440"/>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This comparison shows  algorithm efficiency</a:t>
            </a:r>
            <a:endParaRPr lang="en-US" sz="1000" dirty="0"/>
          </a:p>
        </p:txBody>
      </p:sp>
      <p:sp>
        <p:nvSpPr>
          <p:cNvPr id="25" name="Shape 22"/>
          <p:cNvSpPr/>
          <p:nvPr/>
        </p:nvSpPr>
        <p:spPr>
          <a:xfrm>
            <a:off x="320040" y="3017520"/>
            <a:ext cx="4160520" cy="1691640"/>
          </a:xfrm>
          <a:prstGeom prst="rect">
            <a:avLst/>
          </a:prstGeom>
          <a:solidFill>
            <a:srgbClr val="112B52"/>
          </a:solidFill>
          <a:ln/>
          <a:effectLst>
            <a:outerShdw blurRad="101600" dist="38100" dir="8100000" algn="bl" rotWithShape="0">
              <a:srgbClr val="000000">
                <a:alpha val="12000"/>
              </a:srgbClr>
            </a:outerShdw>
          </a:effectLst>
        </p:spPr>
      </p:sp>
      <p:sp>
        <p:nvSpPr>
          <p:cNvPr id="26" name="Shape 23"/>
          <p:cNvSpPr/>
          <p:nvPr/>
        </p:nvSpPr>
        <p:spPr>
          <a:xfrm>
            <a:off x="320040" y="3024894"/>
            <a:ext cx="4160520" cy="347472"/>
          </a:xfrm>
          <a:prstGeom prst="rect">
            <a:avLst/>
          </a:prstGeom>
          <a:solidFill>
            <a:srgbClr val="F59E0B"/>
          </a:solidFill>
          <a:ln/>
        </p:spPr>
      </p:sp>
      <p:sp>
        <p:nvSpPr>
          <p:cNvPr id="27" name="Text 24"/>
          <p:cNvSpPr/>
          <p:nvPr/>
        </p:nvSpPr>
        <p:spPr>
          <a:xfrm>
            <a:off x="393192" y="3044952"/>
            <a:ext cx="397764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Why Dijkstra? (Algorithm Justification)</a:t>
            </a:r>
            <a:endParaRPr lang="en-US" sz="1250" dirty="0"/>
          </a:p>
        </p:txBody>
      </p:sp>
      <p:sp>
        <p:nvSpPr>
          <p:cNvPr id="28" name="Shape 25"/>
          <p:cNvSpPr/>
          <p:nvPr/>
        </p:nvSpPr>
        <p:spPr>
          <a:xfrm>
            <a:off x="411480" y="3474720"/>
            <a:ext cx="109728" cy="109728"/>
          </a:xfrm>
          <a:prstGeom prst="ellipse">
            <a:avLst/>
          </a:prstGeom>
          <a:solidFill>
            <a:srgbClr val="F59E0B"/>
          </a:solidFill>
          <a:ln/>
        </p:spPr>
      </p:sp>
      <p:sp>
        <p:nvSpPr>
          <p:cNvPr id="29" name="Text 26"/>
          <p:cNvSpPr/>
          <p:nvPr/>
        </p:nvSpPr>
        <p:spPr>
          <a:xfrm>
            <a:off x="576072" y="3419856"/>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Roads have different distances (weights) — so you need a weighted path algorithm</a:t>
            </a:r>
            <a:endParaRPr lang="en-US" sz="1000" dirty="0"/>
          </a:p>
        </p:txBody>
      </p:sp>
      <p:sp>
        <p:nvSpPr>
          <p:cNvPr id="30" name="Shape 27"/>
          <p:cNvSpPr/>
          <p:nvPr/>
        </p:nvSpPr>
        <p:spPr>
          <a:xfrm>
            <a:off x="411480" y="3867912"/>
            <a:ext cx="109728" cy="109728"/>
          </a:xfrm>
          <a:prstGeom prst="ellipse">
            <a:avLst/>
          </a:prstGeom>
          <a:solidFill>
            <a:srgbClr val="F59E0B"/>
          </a:solidFill>
          <a:ln/>
        </p:spPr>
      </p:sp>
      <p:sp>
        <p:nvSpPr>
          <p:cNvPr id="31" name="Text 28"/>
          <p:cNvSpPr/>
          <p:nvPr/>
        </p:nvSpPr>
        <p:spPr>
          <a:xfrm>
            <a:off x="576072" y="3813048"/>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Dijkstra always finds the shortest path in a weighted graph</a:t>
            </a:r>
            <a:endParaRPr lang="en-US" sz="1000" dirty="0"/>
          </a:p>
        </p:txBody>
      </p:sp>
      <p:sp>
        <p:nvSpPr>
          <p:cNvPr id="32" name="Shape 29"/>
          <p:cNvSpPr/>
          <p:nvPr/>
        </p:nvSpPr>
        <p:spPr>
          <a:xfrm>
            <a:off x="411480" y="4261104"/>
            <a:ext cx="109728" cy="109728"/>
          </a:xfrm>
          <a:prstGeom prst="ellipse">
            <a:avLst/>
          </a:prstGeom>
          <a:solidFill>
            <a:srgbClr val="F59E0B"/>
          </a:solidFill>
          <a:ln/>
        </p:spPr>
      </p:sp>
      <p:sp>
        <p:nvSpPr>
          <p:cNvPr id="33" name="Text 30"/>
          <p:cNvSpPr/>
          <p:nvPr/>
        </p:nvSpPr>
        <p:spPr>
          <a:xfrm>
            <a:off x="576072" y="4206240"/>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BFS works on unweighted graphs; Dijkstra works when weights matter — like real roads</a:t>
            </a:r>
            <a:endParaRPr lang="en-US" sz="1000" dirty="0"/>
          </a:p>
        </p:txBody>
      </p:sp>
      <p:sp>
        <p:nvSpPr>
          <p:cNvPr id="34" name="Shape 31"/>
          <p:cNvSpPr/>
          <p:nvPr/>
        </p:nvSpPr>
        <p:spPr>
          <a:xfrm>
            <a:off x="4709160" y="3017520"/>
            <a:ext cx="4160520" cy="1691640"/>
          </a:xfrm>
          <a:prstGeom prst="rect">
            <a:avLst/>
          </a:prstGeom>
          <a:solidFill>
            <a:srgbClr val="112B52"/>
          </a:solidFill>
          <a:ln/>
          <a:effectLst>
            <a:outerShdw blurRad="101600" dist="38100" dir="8100000" algn="bl" rotWithShape="0">
              <a:srgbClr val="000000">
                <a:alpha val="12000"/>
              </a:srgbClr>
            </a:outerShdw>
          </a:effectLst>
        </p:spPr>
      </p:sp>
      <p:sp>
        <p:nvSpPr>
          <p:cNvPr id="35" name="Shape 32"/>
          <p:cNvSpPr/>
          <p:nvPr/>
        </p:nvSpPr>
        <p:spPr>
          <a:xfrm>
            <a:off x="4709160" y="3017520"/>
            <a:ext cx="4160520" cy="347472"/>
          </a:xfrm>
          <a:prstGeom prst="rect">
            <a:avLst/>
          </a:prstGeom>
          <a:solidFill>
            <a:srgbClr val="F59E0B"/>
          </a:solidFill>
          <a:ln/>
        </p:spPr>
      </p:sp>
      <p:sp>
        <p:nvSpPr>
          <p:cNvPr id="36" name="Text 33"/>
          <p:cNvSpPr/>
          <p:nvPr/>
        </p:nvSpPr>
        <p:spPr>
          <a:xfrm>
            <a:off x="4782312" y="3044952"/>
            <a:ext cx="397764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Time Complexity Discussion</a:t>
            </a:r>
            <a:endParaRPr lang="en-US" sz="1250" dirty="0"/>
          </a:p>
        </p:txBody>
      </p:sp>
      <p:sp>
        <p:nvSpPr>
          <p:cNvPr id="37" name="Shape 34"/>
          <p:cNvSpPr/>
          <p:nvPr/>
        </p:nvSpPr>
        <p:spPr>
          <a:xfrm>
            <a:off x="4800600" y="3474720"/>
            <a:ext cx="109728" cy="109728"/>
          </a:xfrm>
          <a:prstGeom prst="ellipse">
            <a:avLst/>
          </a:prstGeom>
          <a:solidFill>
            <a:srgbClr val="F59E0B"/>
          </a:solidFill>
          <a:ln/>
        </p:spPr>
      </p:sp>
      <p:sp>
        <p:nvSpPr>
          <p:cNvPr id="38" name="Text 35"/>
          <p:cNvSpPr/>
          <p:nvPr/>
        </p:nvSpPr>
        <p:spPr>
          <a:xfrm>
            <a:off x="4965192" y="3419856"/>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BFS / DFS: O(V + E) — visits every node and edge once</a:t>
            </a:r>
            <a:endParaRPr lang="en-US" sz="1000" dirty="0"/>
          </a:p>
        </p:txBody>
      </p:sp>
      <p:sp>
        <p:nvSpPr>
          <p:cNvPr id="39" name="Shape 36"/>
          <p:cNvSpPr/>
          <p:nvPr/>
        </p:nvSpPr>
        <p:spPr>
          <a:xfrm>
            <a:off x="4800600" y="3867912"/>
            <a:ext cx="109728" cy="109728"/>
          </a:xfrm>
          <a:prstGeom prst="ellipse">
            <a:avLst/>
          </a:prstGeom>
          <a:solidFill>
            <a:srgbClr val="F59E0B"/>
          </a:solidFill>
          <a:ln/>
        </p:spPr>
      </p:sp>
      <p:sp>
        <p:nvSpPr>
          <p:cNvPr id="40" name="Text 37"/>
          <p:cNvSpPr/>
          <p:nvPr/>
        </p:nvSpPr>
        <p:spPr>
          <a:xfrm>
            <a:off x="4965192" y="3813048"/>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Dijkstra: O((V + E) log V) with a priority queue</a:t>
            </a:r>
            <a:endParaRPr lang="en-US" sz="1000" dirty="0"/>
          </a:p>
        </p:txBody>
      </p:sp>
      <p:sp>
        <p:nvSpPr>
          <p:cNvPr id="41" name="Shape 38"/>
          <p:cNvSpPr/>
          <p:nvPr/>
        </p:nvSpPr>
        <p:spPr>
          <a:xfrm>
            <a:off x="4800600" y="4261104"/>
            <a:ext cx="109728" cy="109728"/>
          </a:xfrm>
          <a:prstGeom prst="ellipse">
            <a:avLst/>
          </a:prstGeom>
          <a:solidFill>
            <a:srgbClr val="F59E0B"/>
          </a:solidFill>
          <a:ln/>
        </p:spPr>
      </p:sp>
      <p:sp>
        <p:nvSpPr>
          <p:cNvPr id="42" name="Text 39"/>
          <p:cNvSpPr/>
          <p:nvPr/>
        </p:nvSpPr>
        <p:spPr>
          <a:xfrm>
            <a:off x="4965192" y="4206240"/>
            <a:ext cx="3822192" cy="329184"/>
          </a:xfrm>
          <a:prstGeom prst="rect">
            <a:avLst/>
          </a:prstGeom>
          <a:noFill/>
          <a:ln/>
        </p:spPr>
        <p:txBody>
          <a:bodyPr wrap="square" lIns="0" tIns="0" rIns="0" bIns="0" rtlCol="0" anchor="ctr"/>
          <a:lstStyle/>
          <a:p>
            <a:pPr marL="0" indent="0">
              <a:buNone/>
            </a:pPr>
            <a:r>
              <a:rPr lang="en-US" sz="1000" dirty="0">
                <a:solidFill>
                  <a:srgbClr val="E0F0FF"/>
                </a:solidFill>
                <a:latin typeface="Calibri" pitchFamily="34" charset="0"/>
                <a:ea typeface="Calibri" pitchFamily="34" charset="-122"/>
                <a:cs typeface="Calibri" pitchFamily="34" charset="-120"/>
              </a:rPr>
              <a:t>This shows  algorithmic thinking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2D1E"/>
          </a:solidFill>
          <a:ln/>
        </p:spPr>
      </p:sp>
      <p:sp>
        <p:nvSpPr>
          <p:cNvPr id="3" name="Shape 1"/>
          <p:cNvSpPr/>
          <p:nvPr/>
        </p:nvSpPr>
        <p:spPr>
          <a:xfrm>
            <a:off x="0" y="0"/>
            <a:ext cx="164592" cy="5143500"/>
          </a:xfrm>
          <a:prstGeom prst="rect">
            <a:avLst/>
          </a:prstGeom>
          <a:solidFill>
            <a:srgbClr val="10B981"/>
          </a:solidFill>
          <a:ln/>
        </p:spPr>
      </p:sp>
      <p:sp>
        <p:nvSpPr>
          <p:cNvPr id="4" name="Text 2"/>
          <p:cNvSpPr/>
          <p:nvPr/>
        </p:nvSpPr>
        <p:spPr>
          <a:xfrm>
            <a:off x="320040" y="45720"/>
            <a:ext cx="7315200" cy="502920"/>
          </a:xfrm>
          <a:prstGeom prst="rect">
            <a:avLst/>
          </a:prstGeom>
          <a:noFill/>
          <a:ln/>
        </p:spPr>
        <p:txBody>
          <a:bodyPr wrap="square" lIns="0" tIns="0" rIns="0" bIns="0" rtlCol="0" anchor="ctr"/>
          <a:lstStyle/>
          <a:p>
            <a:pPr marL="0" indent="0">
              <a:buNone/>
            </a:pPr>
            <a:r>
              <a:rPr lang="en-US" sz="2200" b="1" dirty="0">
                <a:solidFill>
                  <a:srgbClr val="10B981"/>
                </a:solidFill>
                <a:latin typeface="Calibri" pitchFamily="34" charset="0"/>
                <a:ea typeface="Calibri" pitchFamily="34" charset="-122"/>
                <a:cs typeface="Calibri" pitchFamily="34" charset="-120"/>
              </a:rPr>
              <a:t>BCS402  ·  Advanced Java</a:t>
            </a:r>
            <a:endParaRPr lang="en-US" sz="2200" dirty="0"/>
          </a:p>
        </p:txBody>
      </p:sp>
      <p:sp>
        <p:nvSpPr>
          <p:cNvPr id="5" name="Text 3"/>
          <p:cNvSpPr/>
          <p:nvPr/>
        </p:nvSpPr>
        <p:spPr>
          <a:xfrm>
            <a:off x="320040" y="566928"/>
            <a:ext cx="7772400" cy="347472"/>
          </a:xfrm>
          <a:prstGeom prst="rect">
            <a:avLst/>
          </a:prstGeom>
          <a:noFill/>
          <a:ln/>
        </p:spPr>
        <p:txBody>
          <a:bodyPr wrap="square" lIns="0" tIns="0" rIns="0" bIns="0" rtlCol="0" anchor="ctr"/>
          <a:lstStyle/>
          <a:p>
            <a:pPr marL="0" indent="0">
              <a:buNone/>
            </a:pPr>
            <a:r>
              <a:rPr lang="en-US" sz="1300" i="1" dirty="0">
                <a:solidFill>
                  <a:srgbClr val="E0F0FF"/>
                </a:solidFill>
                <a:latin typeface="Calibri" pitchFamily="34" charset="0"/>
                <a:ea typeface="Calibri" pitchFamily="34" charset="-122"/>
                <a:cs typeface="Calibri" pitchFamily="34" charset="-120"/>
              </a:rPr>
              <a:t>What concepts you used and how they appear in this project</a:t>
            </a:r>
            <a:endParaRPr lang="en-US" sz="1300" dirty="0"/>
          </a:p>
        </p:txBody>
      </p:sp>
      <p:pic>
        <p:nvPicPr>
          <p:cNvPr id="6" name="Image 0" descr="preencoded.png"/>
          <p:cNvPicPr>
            <a:picLocks noChangeAspect="1"/>
          </p:cNvPicPr>
          <p:nvPr/>
        </p:nvPicPr>
        <p:blipFill>
          <a:blip r:embed="rId3"/>
          <a:stretch>
            <a:fillRect/>
          </a:stretch>
        </p:blipFill>
        <p:spPr>
          <a:xfrm>
            <a:off x="8321040" y="182880"/>
            <a:ext cx="594360" cy="594360"/>
          </a:xfrm>
          <a:prstGeom prst="rect">
            <a:avLst/>
          </a:prstGeom>
        </p:spPr>
      </p:pic>
      <p:sp>
        <p:nvSpPr>
          <p:cNvPr id="7" name="Shape 4"/>
          <p:cNvSpPr/>
          <p:nvPr/>
        </p:nvSpPr>
        <p:spPr>
          <a:xfrm>
            <a:off x="320040" y="1188720"/>
            <a:ext cx="8503920" cy="822960"/>
          </a:xfrm>
          <a:prstGeom prst="rect">
            <a:avLst/>
          </a:prstGeom>
          <a:solidFill>
            <a:srgbClr val="FFFFFF"/>
          </a:solidFill>
          <a:ln/>
          <a:effectLst>
            <a:outerShdw blurRad="101600" dist="38100" dir="8100000" algn="bl" rotWithShape="0">
              <a:srgbClr val="000000">
                <a:alpha val="12000"/>
              </a:srgbClr>
            </a:outerShdw>
          </a:effectLst>
        </p:spPr>
      </p:sp>
      <p:sp>
        <p:nvSpPr>
          <p:cNvPr id="8" name="Shape 5"/>
          <p:cNvSpPr/>
          <p:nvPr/>
        </p:nvSpPr>
        <p:spPr>
          <a:xfrm>
            <a:off x="320040" y="1188720"/>
            <a:ext cx="64008" cy="822960"/>
          </a:xfrm>
          <a:prstGeom prst="rect">
            <a:avLst/>
          </a:prstGeom>
          <a:solidFill>
            <a:srgbClr val="10B981"/>
          </a:solidFill>
          <a:ln/>
        </p:spPr>
      </p:sp>
      <p:sp>
        <p:nvSpPr>
          <p:cNvPr id="9" name="Text 6"/>
          <p:cNvSpPr/>
          <p:nvPr/>
        </p:nvSpPr>
        <p:spPr>
          <a:xfrm>
            <a:off x="475488" y="1261872"/>
            <a:ext cx="5486400" cy="274320"/>
          </a:xfrm>
          <a:prstGeom prst="rect">
            <a:avLst/>
          </a:prstGeom>
          <a:noFill/>
          <a:ln/>
        </p:spPr>
        <p:txBody>
          <a:bodyPr wrap="square" lIns="0" tIns="0" rIns="0" bIns="0" rtlCol="0" anchor="ctr"/>
          <a:lstStyle/>
          <a:p>
            <a:pPr marL="0" indent="0">
              <a:buNone/>
            </a:pPr>
            <a:r>
              <a:rPr lang="en-US" sz="1300" b="1" dirty="0">
                <a:solidFill>
                  <a:srgbClr val="0F2D1E"/>
                </a:solidFill>
                <a:latin typeface="Calibri" pitchFamily="34" charset="0"/>
                <a:ea typeface="Calibri" pitchFamily="34" charset="-122"/>
                <a:cs typeface="Calibri" pitchFamily="34" charset="-120"/>
              </a:rPr>
              <a:t>Object-Oriented Programming (OOP)</a:t>
            </a:r>
            <a:endParaRPr lang="en-US" sz="1300" dirty="0"/>
          </a:p>
        </p:txBody>
      </p:sp>
      <p:sp>
        <p:nvSpPr>
          <p:cNvPr id="10" name="Text 7"/>
          <p:cNvSpPr/>
          <p:nvPr/>
        </p:nvSpPr>
        <p:spPr>
          <a:xfrm>
            <a:off x="475488" y="1554480"/>
            <a:ext cx="539496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We will build project with proper classes and packages. Patient, Hospital, EmergencyRequest, CityGraph — each class has one clear job. This is OOP encapsulation and separation of concerns.</a:t>
            </a:r>
            <a:endParaRPr lang="en-US" sz="1050" dirty="0"/>
          </a:p>
        </p:txBody>
      </p:sp>
      <p:sp>
        <p:nvSpPr>
          <p:cNvPr id="11" name="Shape 8"/>
          <p:cNvSpPr/>
          <p:nvPr/>
        </p:nvSpPr>
        <p:spPr>
          <a:xfrm>
            <a:off x="6126480" y="1353312"/>
            <a:ext cx="2560320" cy="457200"/>
          </a:xfrm>
          <a:prstGeom prst="roundRect">
            <a:avLst>
              <a:gd name="adj" fmla="val 12000"/>
            </a:avLst>
          </a:prstGeom>
          <a:solidFill>
            <a:srgbClr val="10B981"/>
          </a:solidFill>
          <a:ln/>
        </p:spPr>
      </p:sp>
      <p:sp>
        <p:nvSpPr>
          <p:cNvPr id="12" name="Text 9"/>
          <p:cNvSpPr/>
          <p:nvPr/>
        </p:nvSpPr>
        <p:spPr>
          <a:xfrm>
            <a:off x="6126480" y="1353312"/>
            <a:ext cx="25603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Classes · Packages · Encapsulation</a:t>
            </a:r>
            <a:endParaRPr lang="en-US" sz="900" dirty="0"/>
          </a:p>
        </p:txBody>
      </p:sp>
      <p:sp>
        <p:nvSpPr>
          <p:cNvPr id="13" name="Shape 10"/>
          <p:cNvSpPr/>
          <p:nvPr/>
        </p:nvSpPr>
        <p:spPr>
          <a:xfrm>
            <a:off x="320040" y="2121408"/>
            <a:ext cx="8503920" cy="822960"/>
          </a:xfrm>
          <a:prstGeom prst="rect">
            <a:avLst/>
          </a:prstGeom>
          <a:solidFill>
            <a:srgbClr val="FFFFFF"/>
          </a:solidFill>
          <a:ln/>
          <a:effectLst>
            <a:outerShdw blurRad="101600" dist="38100" dir="8100000" algn="bl" rotWithShape="0">
              <a:srgbClr val="000000">
                <a:alpha val="12000"/>
              </a:srgbClr>
            </a:outerShdw>
          </a:effectLst>
        </p:spPr>
      </p:sp>
      <p:sp>
        <p:nvSpPr>
          <p:cNvPr id="14" name="Shape 11"/>
          <p:cNvSpPr/>
          <p:nvPr/>
        </p:nvSpPr>
        <p:spPr>
          <a:xfrm>
            <a:off x="320040" y="2121408"/>
            <a:ext cx="64008" cy="822960"/>
          </a:xfrm>
          <a:prstGeom prst="rect">
            <a:avLst/>
          </a:prstGeom>
          <a:solidFill>
            <a:srgbClr val="10B981"/>
          </a:solidFill>
          <a:ln/>
        </p:spPr>
      </p:sp>
      <p:sp>
        <p:nvSpPr>
          <p:cNvPr id="15" name="Text 12"/>
          <p:cNvSpPr/>
          <p:nvPr/>
        </p:nvSpPr>
        <p:spPr>
          <a:xfrm>
            <a:off x="475488" y="2194560"/>
            <a:ext cx="5486400" cy="274320"/>
          </a:xfrm>
          <a:prstGeom prst="rect">
            <a:avLst/>
          </a:prstGeom>
          <a:noFill/>
          <a:ln/>
        </p:spPr>
        <p:txBody>
          <a:bodyPr wrap="square" lIns="0" tIns="0" rIns="0" bIns="0" rtlCol="0" anchor="ctr"/>
          <a:lstStyle/>
          <a:p>
            <a:pPr marL="0" indent="0">
              <a:buNone/>
            </a:pPr>
            <a:r>
              <a:rPr lang="en-US" sz="1300" b="1" dirty="0">
                <a:solidFill>
                  <a:srgbClr val="0F2D1E"/>
                </a:solidFill>
                <a:latin typeface="Calibri" pitchFamily="34" charset="0"/>
                <a:ea typeface="Calibri" pitchFamily="34" charset="-122"/>
                <a:cs typeface="Calibri" pitchFamily="34" charset="-120"/>
              </a:rPr>
              <a:t>Java Collections Framework</a:t>
            </a:r>
            <a:endParaRPr lang="en-US" sz="1300" dirty="0"/>
          </a:p>
        </p:txBody>
      </p:sp>
      <p:sp>
        <p:nvSpPr>
          <p:cNvPr id="16" name="Text 13"/>
          <p:cNvSpPr/>
          <p:nvPr/>
        </p:nvSpPr>
        <p:spPr>
          <a:xfrm>
            <a:off x="475488" y="2487168"/>
            <a:ext cx="539496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The graph uses an adjacency list built with HashMap and ArrayList. The recommendation engine uses PriorityQueue for Dijkstra. These are real-world Java Collections in action.</a:t>
            </a:r>
            <a:endParaRPr lang="en-US" sz="1050" dirty="0"/>
          </a:p>
        </p:txBody>
      </p:sp>
      <p:sp>
        <p:nvSpPr>
          <p:cNvPr id="17" name="Shape 14"/>
          <p:cNvSpPr/>
          <p:nvPr/>
        </p:nvSpPr>
        <p:spPr>
          <a:xfrm>
            <a:off x="6126480" y="2286000"/>
            <a:ext cx="2560320" cy="457200"/>
          </a:xfrm>
          <a:prstGeom prst="roundRect">
            <a:avLst>
              <a:gd name="adj" fmla="val 12000"/>
            </a:avLst>
          </a:prstGeom>
          <a:solidFill>
            <a:srgbClr val="10B981"/>
          </a:solidFill>
          <a:ln/>
        </p:spPr>
      </p:sp>
      <p:sp>
        <p:nvSpPr>
          <p:cNvPr id="18" name="Text 15"/>
          <p:cNvSpPr/>
          <p:nvPr/>
        </p:nvSpPr>
        <p:spPr>
          <a:xfrm>
            <a:off x="6126480" y="2286000"/>
            <a:ext cx="25603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HashMap · ArrayList · PriorityQueue</a:t>
            </a:r>
            <a:endParaRPr lang="en-US" sz="900" dirty="0"/>
          </a:p>
        </p:txBody>
      </p:sp>
      <p:sp>
        <p:nvSpPr>
          <p:cNvPr id="19" name="Shape 16"/>
          <p:cNvSpPr/>
          <p:nvPr/>
        </p:nvSpPr>
        <p:spPr>
          <a:xfrm>
            <a:off x="320040" y="3054096"/>
            <a:ext cx="8503920" cy="822960"/>
          </a:xfrm>
          <a:prstGeom prst="rect">
            <a:avLst/>
          </a:prstGeom>
          <a:solidFill>
            <a:srgbClr val="FFFFFF"/>
          </a:solidFill>
          <a:ln/>
          <a:effectLst>
            <a:outerShdw blurRad="101600" dist="38100" dir="8100000" algn="bl" rotWithShape="0">
              <a:srgbClr val="000000">
                <a:alpha val="12000"/>
              </a:srgbClr>
            </a:outerShdw>
          </a:effectLst>
        </p:spPr>
      </p:sp>
      <p:sp>
        <p:nvSpPr>
          <p:cNvPr id="20" name="Shape 17"/>
          <p:cNvSpPr/>
          <p:nvPr/>
        </p:nvSpPr>
        <p:spPr>
          <a:xfrm>
            <a:off x="320040" y="3054096"/>
            <a:ext cx="64008" cy="822960"/>
          </a:xfrm>
          <a:prstGeom prst="rect">
            <a:avLst/>
          </a:prstGeom>
          <a:solidFill>
            <a:srgbClr val="10B981"/>
          </a:solidFill>
          <a:ln/>
        </p:spPr>
      </p:sp>
      <p:sp>
        <p:nvSpPr>
          <p:cNvPr id="21" name="Text 18"/>
          <p:cNvSpPr/>
          <p:nvPr/>
        </p:nvSpPr>
        <p:spPr>
          <a:xfrm>
            <a:off x="475488" y="3127248"/>
            <a:ext cx="5486400" cy="274320"/>
          </a:xfrm>
          <a:prstGeom prst="rect">
            <a:avLst/>
          </a:prstGeom>
          <a:noFill/>
          <a:ln/>
        </p:spPr>
        <p:txBody>
          <a:bodyPr wrap="square" lIns="0" tIns="0" rIns="0" bIns="0" rtlCol="0" anchor="ctr"/>
          <a:lstStyle/>
          <a:p>
            <a:pPr marL="0" indent="0">
              <a:buNone/>
            </a:pPr>
            <a:r>
              <a:rPr lang="en-US" sz="1300" b="1" dirty="0">
                <a:solidFill>
                  <a:srgbClr val="0F2D1E"/>
                </a:solidFill>
                <a:latin typeface="Calibri" pitchFamily="34" charset="0"/>
                <a:ea typeface="Calibri" pitchFamily="34" charset="-122"/>
                <a:cs typeface="Calibri" pitchFamily="34" charset="-120"/>
              </a:rPr>
              <a:t>Swing UI (Graphical User Interface)</a:t>
            </a:r>
            <a:endParaRPr lang="en-US" sz="1300" dirty="0"/>
          </a:p>
        </p:txBody>
      </p:sp>
      <p:sp>
        <p:nvSpPr>
          <p:cNvPr id="22" name="Text 19"/>
          <p:cNvSpPr/>
          <p:nvPr/>
        </p:nvSpPr>
        <p:spPr>
          <a:xfrm>
            <a:off x="475488" y="3419856"/>
            <a:ext cx="539496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MainFrame is the Swing window. It has input fields for patient, dropdowns for emergency type and location, and a results panel. This is event-driven Java GUI programming.</a:t>
            </a:r>
            <a:endParaRPr lang="en-US" sz="1050" dirty="0"/>
          </a:p>
        </p:txBody>
      </p:sp>
      <p:sp>
        <p:nvSpPr>
          <p:cNvPr id="23" name="Shape 20"/>
          <p:cNvSpPr/>
          <p:nvPr/>
        </p:nvSpPr>
        <p:spPr>
          <a:xfrm>
            <a:off x="6126480" y="3218688"/>
            <a:ext cx="2560320" cy="457200"/>
          </a:xfrm>
          <a:prstGeom prst="roundRect">
            <a:avLst>
              <a:gd name="adj" fmla="val 12000"/>
            </a:avLst>
          </a:prstGeom>
          <a:solidFill>
            <a:srgbClr val="10B981"/>
          </a:solidFill>
          <a:ln/>
        </p:spPr>
      </p:sp>
      <p:sp>
        <p:nvSpPr>
          <p:cNvPr id="24" name="Text 21"/>
          <p:cNvSpPr/>
          <p:nvPr/>
        </p:nvSpPr>
        <p:spPr>
          <a:xfrm>
            <a:off x="6126480" y="3218688"/>
            <a:ext cx="25603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JFrame · JPanel · ActionListener · Event Handling</a:t>
            </a:r>
            <a:endParaRPr lang="en-US" sz="900" dirty="0"/>
          </a:p>
        </p:txBody>
      </p:sp>
      <p:sp>
        <p:nvSpPr>
          <p:cNvPr id="25" name="Shape 22"/>
          <p:cNvSpPr/>
          <p:nvPr/>
        </p:nvSpPr>
        <p:spPr>
          <a:xfrm>
            <a:off x="320040" y="3986784"/>
            <a:ext cx="8503920" cy="822960"/>
          </a:xfrm>
          <a:prstGeom prst="rect">
            <a:avLst/>
          </a:prstGeom>
          <a:solidFill>
            <a:srgbClr val="FFFFFF"/>
          </a:solidFill>
          <a:ln/>
          <a:effectLst>
            <a:outerShdw blurRad="101600" dist="38100" dir="8100000" algn="bl" rotWithShape="0">
              <a:srgbClr val="000000">
                <a:alpha val="12000"/>
              </a:srgbClr>
            </a:outerShdw>
          </a:effectLst>
        </p:spPr>
      </p:sp>
      <p:sp>
        <p:nvSpPr>
          <p:cNvPr id="26" name="Shape 23"/>
          <p:cNvSpPr/>
          <p:nvPr/>
        </p:nvSpPr>
        <p:spPr>
          <a:xfrm>
            <a:off x="320040" y="3986784"/>
            <a:ext cx="64008" cy="822960"/>
          </a:xfrm>
          <a:prstGeom prst="rect">
            <a:avLst/>
          </a:prstGeom>
          <a:solidFill>
            <a:srgbClr val="10B981"/>
          </a:solidFill>
          <a:ln/>
        </p:spPr>
      </p:sp>
      <p:sp>
        <p:nvSpPr>
          <p:cNvPr id="27" name="Text 24"/>
          <p:cNvSpPr/>
          <p:nvPr/>
        </p:nvSpPr>
        <p:spPr>
          <a:xfrm>
            <a:off x="475488" y="4059936"/>
            <a:ext cx="5486400" cy="274320"/>
          </a:xfrm>
          <a:prstGeom prst="rect">
            <a:avLst/>
          </a:prstGeom>
          <a:noFill/>
          <a:ln/>
        </p:spPr>
        <p:txBody>
          <a:bodyPr wrap="square" lIns="0" tIns="0" rIns="0" bIns="0" rtlCol="0" anchor="ctr"/>
          <a:lstStyle/>
          <a:p>
            <a:pPr marL="0" indent="0">
              <a:buNone/>
            </a:pPr>
            <a:r>
              <a:rPr lang="en-US" sz="1300" b="1" dirty="0">
                <a:solidFill>
                  <a:srgbClr val="0F2D1E"/>
                </a:solidFill>
                <a:latin typeface="Calibri" pitchFamily="34" charset="0"/>
                <a:ea typeface="Calibri" pitchFamily="34" charset="-122"/>
                <a:cs typeface="Calibri" pitchFamily="34" charset="-120"/>
              </a:rPr>
              <a:t>JDBC – Database Connector</a:t>
            </a:r>
            <a:endParaRPr lang="en-US" sz="1300" dirty="0"/>
          </a:p>
        </p:txBody>
      </p:sp>
      <p:sp>
        <p:nvSpPr>
          <p:cNvPr id="28" name="Text 25"/>
          <p:cNvSpPr/>
          <p:nvPr/>
        </p:nvSpPr>
        <p:spPr>
          <a:xfrm>
            <a:off x="475488" y="4352544"/>
            <a:ext cx="5394960" cy="384048"/>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You prepared a JDBC connector class so the project can talk to a MySQL database later. For now, SampleDataFactory provides test data — JDBC replaces it in the next version.</a:t>
            </a:r>
            <a:endParaRPr lang="en-US" sz="1050" dirty="0"/>
          </a:p>
        </p:txBody>
      </p:sp>
      <p:sp>
        <p:nvSpPr>
          <p:cNvPr id="29" name="Shape 26"/>
          <p:cNvSpPr/>
          <p:nvPr/>
        </p:nvSpPr>
        <p:spPr>
          <a:xfrm>
            <a:off x="6126480" y="4151376"/>
            <a:ext cx="2560320" cy="457200"/>
          </a:xfrm>
          <a:prstGeom prst="roundRect">
            <a:avLst>
              <a:gd name="adj" fmla="val 12000"/>
            </a:avLst>
          </a:prstGeom>
          <a:solidFill>
            <a:srgbClr val="10B981"/>
          </a:solidFill>
          <a:ln/>
        </p:spPr>
      </p:sp>
      <p:sp>
        <p:nvSpPr>
          <p:cNvPr id="30" name="Text 27"/>
          <p:cNvSpPr/>
          <p:nvPr/>
        </p:nvSpPr>
        <p:spPr>
          <a:xfrm>
            <a:off x="6126480" y="4151376"/>
            <a:ext cx="256032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JDBC · PreparedStatement · Connection · ResultSet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5CF6"/>
          </a:solidFill>
          <a:ln/>
        </p:spPr>
      </p:sp>
      <p:sp>
        <p:nvSpPr>
          <p:cNvPr id="3" name="Shape 1"/>
          <p:cNvSpPr/>
          <p:nvPr/>
        </p:nvSpPr>
        <p:spPr>
          <a:xfrm>
            <a:off x="164592" y="0"/>
            <a:ext cx="8979408" cy="1051560"/>
          </a:xfrm>
          <a:prstGeom prst="rect">
            <a:avLst/>
          </a:prstGeom>
          <a:solidFill>
            <a:srgbClr val="1A0A35"/>
          </a:solidFill>
          <a:ln/>
        </p:spPr>
      </p:sp>
      <p:sp>
        <p:nvSpPr>
          <p:cNvPr id="4" name="Text 2"/>
          <p:cNvSpPr/>
          <p:nvPr/>
        </p:nvSpPr>
        <p:spPr>
          <a:xfrm>
            <a:off x="320040" y="45720"/>
            <a:ext cx="7772400" cy="502920"/>
          </a:xfrm>
          <a:prstGeom prst="rect">
            <a:avLst/>
          </a:prstGeom>
          <a:noFill/>
          <a:ln/>
        </p:spPr>
        <p:txBody>
          <a:bodyPr wrap="square" lIns="0" tIns="0" rIns="0" bIns="0" rtlCol="0" anchor="ctr"/>
          <a:lstStyle/>
          <a:p>
            <a:pPr marL="0" indent="0">
              <a:buNone/>
            </a:pPr>
            <a:r>
              <a:rPr lang="en-US" sz="2200" b="1" dirty="0">
                <a:solidFill>
                  <a:srgbClr val="8B5CF6"/>
                </a:solidFill>
                <a:latin typeface="Calibri" pitchFamily="34" charset="0"/>
                <a:ea typeface="Calibri" pitchFamily="34" charset="-122"/>
                <a:cs typeface="Calibri" pitchFamily="34" charset="-120"/>
              </a:rPr>
              <a:t>BCS403  ·  Database Management System (DBMS)</a:t>
            </a:r>
            <a:endParaRPr lang="en-US" sz="2200" dirty="0"/>
          </a:p>
        </p:txBody>
      </p:sp>
      <p:sp>
        <p:nvSpPr>
          <p:cNvPr id="5" name="Text 3"/>
          <p:cNvSpPr/>
          <p:nvPr/>
        </p:nvSpPr>
        <p:spPr>
          <a:xfrm>
            <a:off x="320040" y="566928"/>
            <a:ext cx="7772400" cy="347472"/>
          </a:xfrm>
          <a:prstGeom prst="rect">
            <a:avLst/>
          </a:prstGeom>
          <a:noFill/>
          <a:ln/>
        </p:spPr>
        <p:txBody>
          <a:bodyPr wrap="square" lIns="0" tIns="0" rIns="0" bIns="0" rtlCol="0" anchor="ctr"/>
          <a:lstStyle/>
          <a:p>
            <a:pPr marL="0" indent="0">
              <a:buNone/>
            </a:pPr>
            <a:r>
              <a:rPr lang="en-US" sz="1300" i="1" dirty="0">
                <a:solidFill>
                  <a:srgbClr val="E0F0FF"/>
                </a:solidFill>
                <a:latin typeface="Calibri" pitchFamily="34" charset="0"/>
                <a:ea typeface="Calibri" pitchFamily="34" charset="-122"/>
                <a:cs typeface="Calibri" pitchFamily="34" charset="-120"/>
              </a:rPr>
              <a:t>What concepts you used and how they appear in this project</a:t>
            </a:r>
            <a:endParaRPr lang="en-US" sz="1300" dirty="0"/>
          </a:p>
        </p:txBody>
      </p:sp>
      <p:pic>
        <p:nvPicPr>
          <p:cNvPr id="6" name="Image 0" descr="preencoded.png"/>
          <p:cNvPicPr>
            <a:picLocks noChangeAspect="1"/>
          </p:cNvPicPr>
          <p:nvPr/>
        </p:nvPicPr>
        <p:blipFill>
          <a:blip r:embed="rId3"/>
          <a:stretch>
            <a:fillRect/>
          </a:stretch>
        </p:blipFill>
        <p:spPr>
          <a:xfrm>
            <a:off x="8321040" y="182880"/>
            <a:ext cx="594360" cy="594360"/>
          </a:xfrm>
          <a:prstGeom prst="rect">
            <a:avLst/>
          </a:prstGeom>
        </p:spPr>
      </p:pic>
      <p:sp>
        <p:nvSpPr>
          <p:cNvPr id="7" name="Shape 4"/>
          <p:cNvSpPr/>
          <p:nvPr/>
        </p:nvSpPr>
        <p:spPr>
          <a:xfrm>
            <a:off x="320040" y="1234440"/>
            <a:ext cx="4114800" cy="1097280"/>
          </a:xfrm>
          <a:prstGeom prst="rect">
            <a:avLst/>
          </a:prstGeom>
          <a:solidFill>
            <a:srgbClr val="1A0A35"/>
          </a:solidFill>
          <a:ln/>
          <a:effectLst>
            <a:outerShdw blurRad="101600" dist="38100" dir="8100000" algn="bl" rotWithShape="0">
              <a:srgbClr val="000000">
                <a:alpha val="12000"/>
              </a:srgbClr>
            </a:outerShdw>
          </a:effectLst>
        </p:spPr>
      </p:sp>
      <p:sp>
        <p:nvSpPr>
          <p:cNvPr id="8" name="Shape 5"/>
          <p:cNvSpPr/>
          <p:nvPr/>
        </p:nvSpPr>
        <p:spPr>
          <a:xfrm>
            <a:off x="320040" y="1234440"/>
            <a:ext cx="4114800" cy="365760"/>
          </a:xfrm>
          <a:prstGeom prst="rect">
            <a:avLst/>
          </a:prstGeom>
          <a:solidFill>
            <a:srgbClr val="8B5CF6"/>
          </a:solidFill>
          <a:ln/>
        </p:spPr>
      </p:sp>
      <p:sp>
        <p:nvSpPr>
          <p:cNvPr id="9" name="Text 6"/>
          <p:cNvSpPr/>
          <p:nvPr/>
        </p:nvSpPr>
        <p:spPr>
          <a:xfrm>
            <a:off x="411480" y="128930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ER Diagram</a:t>
            </a:r>
            <a:endParaRPr lang="en-US" sz="1300" dirty="0"/>
          </a:p>
        </p:txBody>
      </p:sp>
      <p:sp>
        <p:nvSpPr>
          <p:cNvPr id="10" name="Text 7"/>
          <p:cNvSpPr/>
          <p:nvPr/>
        </p:nvSpPr>
        <p:spPr>
          <a:xfrm>
            <a:off x="411480" y="1645920"/>
            <a:ext cx="3931920" cy="621792"/>
          </a:xfrm>
          <a:prstGeom prst="rect">
            <a:avLst/>
          </a:prstGeom>
          <a:noFill/>
          <a:ln/>
        </p:spPr>
        <p:txBody>
          <a:bodyPr wrap="square" lIns="0" tIns="0" rIns="0" bIns="0" rtlCol="0" anchor="ctr"/>
          <a:lstStyle/>
          <a:p>
            <a:pPr marL="0" indent="0">
              <a:buNone/>
            </a:pPr>
            <a:r>
              <a:rPr lang="en-US" sz="1050" dirty="0">
                <a:solidFill>
                  <a:srgbClr val="E0F0FF"/>
                </a:solidFill>
                <a:latin typeface="Calibri" pitchFamily="34" charset="0"/>
                <a:ea typeface="Calibri" pitchFamily="34" charset="-122"/>
                <a:cs typeface="Calibri" pitchFamily="34" charset="-120"/>
              </a:rPr>
              <a:t>We draw an Entity-Relationship diagram showing Patient, Hospital, EmergencyCase, and how they connect. This is the foundation of database design.</a:t>
            </a:r>
            <a:endParaRPr lang="en-US" sz="1050" dirty="0"/>
          </a:p>
        </p:txBody>
      </p:sp>
      <p:sp>
        <p:nvSpPr>
          <p:cNvPr id="11" name="Shape 8"/>
          <p:cNvSpPr/>
          <p:nvPr/>
        </p:nvSpPr>
        <p:spPr>
          <a:xfrm>
            <a:off x="320040" y="2496312"/>
            <a:ext cx="4114800" cy="1097280"/>
          </a:xfrm>
          <a:prstGeom prst="rect">
            <a:avLst/>
          </a:prstGeom>
          <a:solidFill>
            <a:srgbClr val="1A0A35"/>
          </a:solidFill>
          <a:ln/>
          <a:effectLst>
            <a:outerShdw blurRad="101600" dist="38100" dir="8100000" algn="bl" rotWithShape="0">
              <a:srgbClr val="000000">
                <a:alpha val="12000"/>
              </a:srgbClr>
            </a:outerShdw>
          </a:effectLst>
        </p:spPr>
      </p:sp>
      <p:sp>
        <p:nvSpPr>
          <p:cNvPr id="12" name="Shape 9"/>
          <p:cNvSpPr/>
          <p:nvPr/>
        </p:nvSpPr>
        <p:spPr>
          <a:xfrm>
            <a:off x="320040" y="2496312"/>
            <a:ext cx="4114800" cy="365760"/>
          </a:xfrm>
          <a:prstGeom prst="rect">
            <a:avLst/>
          </a:prstGeom>
          <a:solidFill>
            <a:srgbClr val="8B5CF6"/>
          </a:solidFill>
          <a:ln/>
        </p:spPr>
      </p:sp>
      <p:sp>
        <p:nvSpPr>
          <p:cNvPr id="13" name="Text 10"/>
          <p:cNvSpPr/>
          <p:nvPr/>
        </p:nvSpPr>
        <p:spPr>
          <a:xfrm>
            <a:off x="411480" y="2551176"/>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Relational Schema &amp; Normalization</a:t>
            </a:r>
            <a:endParaRPr lang="en-US" sz="1300" dirty="0"/>
          </a:p>
        </p:txBody>
      </p:sp>
      <p:sp>
        <p:nvSpPr>
          <p:cNvPr id="14" name="Text 11"/>
          <p:cNvSpPr/>
          <p:nvPr/>
        </p:nvSpPr>
        <p:spPr>
          <a:xfrm>
            <a:off x="411480" y="2907792"/>
            <a:ext cx="3931920" cy="621792"/>
          </a:xfrm>
          <a:prstGeom prst="rect">
            <a:avLst/>
          </a:prstGeom>
          <a:noFill/>
          <a:ln/>
        </p:spPr>
        <p:txBody>
          <a:bodyPr wrap="square" lIns="0" tIns="0" rIns="0" bIns="0" rtlCol="0" anchor="ctr"/>
          <a:lstStyle/>
          <a:p>
            <a:pPr marL="0" indent="0">
              <a:buNone/>
            </a:pPr>
            <a:r>
              <a:rPr lang="en-US" sz="1050" dirty="0">
                <a:solidFill>
                  <a:srgbClr val="E0F0FF"/>
                </a:solidFill>
                <a:latin typeface="Calibri" pitchFamily="34" charset="0"/>
                <a:ea typeface="Calibri" pitchFamily="34" charset="-122"/>
                <a:cs typeface="Calibri" pitchFamily="34" charset="-120"/>
              </a:rPr>
              <a:t>We convert the ER diagram into tables. Then normalized them up to 3NF — removing duplicate data and keeping each table focused on one topic.</a:t>
            </a:r>
            <a:endParaRPr lang="en-US" sz="1050" dirty="0"/>
          </a:p>
        </p:txBody>
      </p:sp>
      <p:sp>
        <p:nvSpPr>
          <p:cNvPr id="15" name="Shape 12"/>
          <p:cNvSpPr/>
          <p:nvPr/>
        </p:nvSpPr>
        <p:spPr>
          <a:xfrm>
            <a:off x="320040" y="3758184"/>
            <a:ext cx="4114800" cy="1097280"/>
          </a:xfrm>
          <a:prstGeom prst="rect">
            <a:avLst/>
          </a:prstGeom>
          <a:solidFill>
            <a:srgbClr val="1A0A35"/>
          </a:solidFill>
          <a:ln/>
          <a:effectLst>
            <a:outerShdw blurRad="101600" dist="38100" dir="8100000" algn="bl" rotWithShape="0">
              <a:srgbClr val="000000">
                <a:alpha val="12000"/>
              </a:srgbClr>
            </a:outerShdw>
          </a:effectLst>
        </p:spPr>
      </p:sp>
      <p:sp>
        <p:nvSpPr>
          <p:cNvPr id="16" name="Shape 13"/>
          <p:cNvSpPr/>
          <p:nvPr/>
        </p:nvSpPr>
        <p:spPr>
          <a:xfrm>
            <a:off x="320040" y="3758184"/>
            <a:ext cx="4114800" cy="365760"/>
          </a:xfrm>
          <a:prstGeom prst="rect">
            <a:avLst/>
          </a:prstGeom>
          <a:solidFill>
            <a:srgbClr val="8B5CF6"/>
          </a:solidFill>
          <a:ln/>
        </p:spPr>
      </p:sp>
      <p:sp>
        <p:nvSpPr>
          <p:cNvPr id="17" name="Text 14"/>
          <p:cNvSpPr/>
          <p:nvPr/>
        </p:nvSpPr>
        <p:spPr>
          <a:xfrm>
            <a:off x="411480" y="3813048"/>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SQL Queries</a:t>
            </a:r>
            <a:endParaRPr lang="en-US" sz="1300" dirty="0"/>
          </a:p>
        </p:txBody>
      </p:sp>
      <p:sp>
        <p:nvSpPr>
          <p:cNvPr id="18" name="Text 15"/>
          <p:cNvSpPr/>
          <p:nvPr/>
        </p:nvSpPr>
        <p:spPr>
          <a:xfrm>
            <a:off x="411480" y="4169664"/>
            <a:ext cx="3931920" cy="621792"/>
          </a:xfrm>
          <a:prstGeom prst="rect">
            <a:avLst/>
          </a:prstGeom>
          <a:noFill/>
          <a:ln/>
        </p:spPr>
        <p:txBody>
          <a:bodyPr wrap="square" lIns="0" tIns="0" rIns="0" bIns="0" rtlCol="0" anchor="ctr"/>
          <a:lstStyle/>
          <a:p>
            <a:pPr marL="0" indent="0">
              <a:buNone/>
            </a:pPr>
            <a:r>
              <a:rPr lang="en-US" sz="1050" dirty="0">
                <a:solidFill>
                  <a:srgbClr val="E0F0FF"/>
                </a:solidFill>
                <a:latin typeface="Calibri" pitchFamily="34" charset="0"/>
                <a:ea typeface="Calibri" pitchFamily="34" charset="-122"/>
                <a:cs typeface="Calibri" pitchFamily="34" charset="-120"/>
              </a:rPr>
              <a:t>Sample queries: SELECT hospitals by specialization, UPDATE bed count after allocation, INSERT a new emergency case. These show real database usage.</a:t>
            </a:r>
            <a:endParaRPr lang="en-US" sz="1050" dirty="0"/>
          </a:p>
        </p:txBody>
      </p:sp>
      <p:sp>
        <p:nvSpPr>
          <p:cNvPr id="19" name="Shape 16"/>
          <p:cNvSpPr/>
          <p:nvPr/>
        </p:nvSpPr>
        <p:spPr>
          <a:xfrm>
            <a:off x="4754880" y="1234440"/>
            <a:ext cx="4069080" cy="3593592"/>
          </a:xfrm>
          <a:prstGeom prst="rect">
            <a:avLst/>
          </a:prstGeom>
          <a:solidFill>
            <a:srgbClr val="1A0A35"/>
          </a:solidFill>
          <a:ln/>
          <a:effectLst>
            <a:outerShdw blurRad="101600" dist="38100" dir="8100000" algn="bl" rotWithShape="0">
              <a:srgbClr val="000000">
                <a:alpha val="12000"/>
              </a:srgbClr>
            </a:outerShdw>
          </a:effectLst>
        </p:spPr>
      </p:sp>
      <p:sp>
        <p:nvSpPr>
          <p:cNvPr id="20" name="Shape 17"/>
          <p:cNvSpPr/>
          <p:nvPr/>
        </p:nvSpPr>
        <p:spPr>
          <a:xfrm>
            <a:off x="4754880" y="1234440"/>
            <a:ext cx="4069080" cy="365760"/>
          </a:xfrm>
          <a:prstGeom prst="rect">
            <a:avLst/>
          </a:prstGeom>
          <a:solidFill>
            <a:srgbClr val="8B5CF6"/>
          </a:solidFill>
          <a:ln/>
        </p:spPr>
      </p:sp>
      <p:sp>
        <p:nvSpPr>
          <p:cNvPr id="21" name="Text 18"/>
          <p:cNvSpPr/>
          <p:nvPr/>
        </p:nvSpPr>
        <p:spPr>
          <a:xfrm>
            <a:off x="4846320" y="1261872"/>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Database Tables Designed</a:t>
            </a:r>
            <a:endParaRPr lang="en-US" sz="1300" dirty="0"/>
          </a:p>
        </p:txBody>
      </p:sp>
      <p:sp>
        <p:nvSpPr>
          <p:cNvPr id="22" name="Shape 19"/>
          <p:cNvSpPr/>
          <p:nvPr/>
        </p:nvSpPr>
        <p:spPr>
          <a:xfrm>
            <a:off x="4892040" y="1719072"/>
            <a:ext cx="1371600" cy="256032"/>
          </a:xfrm>
          <a:prstGeom prst="roundRect">
            <a:avLst>
              <a:gd name="adj" fmla="val 14286"/>
            </a:avLst>
          </a:prstGeom>
          <a:solidFill>
            <a:srgbClr val="8B5CF6"/>
          </a:solidFill>
          <a:ln/>
        </p:spPr>
      </p:sp>
      <p:sp>
        <p:nvSpPr>
          <p:cNvPr id="23" name="Text 20"/>
          <p:cNvSpPr/>
          <p:nvPr/>
        </p:nvSpPr>
        <p:spPr>
          <a:xfrm>
            <a:off x="4892040" y="1719072"/>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patients</a:t>
            </a:r>
            <a:endParaRPr lang="en-US" sz="950" dirty="0"/>
          </a:p>
        </p:txBody>
      </p:sp>
      <p:sp>
        <p:nvSpPr>
          <p:cNvPr id="24" name="Text 21"/>
          <p:cNvSpPr/>
          <p:nvPr/>
        </p:nvSpPr>
        <p:spPr>
          <a:xfrm>
            <a:off x="6355080" y="1719072"/>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Stores patient name and emergency details</a:t>
            </a:r>
            <a:endParaRPr lang="en-US" sz="950" dirty="0"/>
          </a:p>
        </p:txBody>
      </p:sp>
      <p:sp>
        <p:nvSpPr>
          <p:cNvPr id="25" name="Shape 22"/>
          <p:cNvSpPr/>
          <p:nvPr/>
        </p:nvSpPr>
        <p:spPr>
          <a:xfrm>
            <a:off x="4892040" y="2093976"/>
            <a:ext cx="1371600" cy="256032"/>
          </a:xfrm>
          <a:prstGeom prst="roundRect">
            <a:avLst>
              <a:gd name="adj" fmla="val 14286"/>
            </a:avLst>
          </a:prstGeom>
          <a:solidFill>
            <a:srgbClr val="8B5CF6"/>
          </a:solidFill>
          <a:ln/>
        </p:spPr>
      </p:sp>
      <p:sp>
        <p:nvSpPr>
          <p:cNvPr id="26" name="Text 23"/>
          <p:cNvSpPr/>
          <p:nvPr/>
        </p:nvSpPr>
        <p:spPr>
          <a:xfrm>
            <a:off x="4892040" y="2093976"/>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emergency_cases</a:t>
            </a:r>
            <a:endParaRPr lang="en-US" sz="950" dirty="0"/>
          </a:p>
        </p:txBody>
      </p:sp>
      <p:sp>
        <p:nvSpPr>
          <p:cNvPr id="27" name="Text 24"/>
          <p:cNvSpPr/>
          <p:nvPr/>
        </p:nvSpPr>
        <p:spPr>
          <a:xfrm>
            <a:off x="6355080" y="2093976"/>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Records each ambulance call</a:t>
            </a:r>
            <a:endParaRPr lang="en-US" sz="950" dirty="0"/>
          </a:p>
        </p:txBody>
      </p:sp>
      <p:sp>
        <p:nvSpPr>
          <p:cNvPr id="28" name="Shape 25"/>
          <p:cNvSpPr/>
          <p:nvPr/>
        </p:nvSpPr>
        <p:spPr>
          <a:xfrm>
            <a:off x="4892040" y="2468880"/>
            <a:ext cx="1371600" cy="256032"/>
          </a:xfrm>
          <a:prstGeom prst="roundRect">
            <a:avLst>
              <a:gd name="adj" fmla="val 14286"/>
            </a:avLst>
          </a:prstGeom>
          <a:solidFill>
            <a:srgbClr val="8B5CF6"/>
          </a:solidFill>
          <a:ln/>
        </p:spPr>
      </p:sp>
      <p:sp>
        <p:nvSpPr>
          <p:cNvPr id="29" name="Text 26"/>
          <p:cNvSpPr/>
          <p:nvPr/>
        </p:nvSpPr>
        <p:spPr>
          <a:xfrm>
            <a:off x="4892040" y="2468880"/>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hospitals</a:t>
            </a:r>
            <a:endParaRPr lang="en-US" sz="950" dirty="0"/>
          </a:p>
        </p:txBody>
      </p:sp>
      <p:sp>
        <p:nvSpPr>
          <p:cNvPr id="30" name="Text 27"/>
          <p:cNvSpPr/>
          <p:nvPr/>
        </p:nvSpPr>
        <p:spPr>
          <a:xfrm>
            <a:off x="6355080" y="2468880"/>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Hospital info and location</a:t>
            </a:r>
            <a:endParaRPr lang="en-US" sz="950" dirty="0"/>
          </a:p>
        </p:txBody>
      </p:sp>
      <p:sp>
        <p:nvSpPr>
          <p:cNvPr id="31" name="Shape 28"/>
          <p:cNvSpPr/>
          <p:nvPr/>
        </p:nvSpPr>
        <p:spPr>
          <a:xfrm>
            <a:off x="4892040" y="2843784"/>
            <a:ext cx="1371600" cy="256032"/>
          </a:xfrm>
          <a:prstGeom prst="roundRect">
            <a:avLst>
              <a:gd name="adj" fmla="val 14286"/>
            </a:avLst>
          </a:prstGeom>
          <a:solidFill>
            <a:srgbClr val="8B5CF6"/>
          </a:solidFill>
          <a:ln/>
        </p:spPr>
      </p:sp>
      <p:sp>
        <p:nvSpPr>
          <p:cNvPr id="32" name="Text 29"/>
          <p:cNvSpPr/>
          <p:nvPr/>
        </p:nvSpPr>
        <p:spPr>
          <a:xfrm>
            <a:off x="4892040" y="2843784"/>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hospital_specializations</a:t>
            </a:r>
            <a:endParaRPr lang="en-US" sz="950" dirty="0"/>
          </a:p>
        </p:txBody>
      </p:sp>
      <p:sp>
        <p:nvSpPr>
          <p:cNvPr id="33" name="Text 30"/>
          <p:cNvSpPr/>
          <p:nvPr/>
        </p:nvSpPr>
        <p:spPr>
          <a:xfrm>
            <a:off x="6355080" y="2843784"/>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What each hospital can treat</a:t>
            </a:r>
            <a:endParaRPr lang="en-US" sz="950" dirty="0"/>
          </a:p>
        </p:txBody>
      </p:sp>
      <p:sp>
        <p:nvSpPr>
          <p:cNvPr id="34" name="Shape 31"/>
          <p:cNvSpPr/>
          <p:nvPr/>
        </p:nvSpPr>
        <p:spPr>
          <a:xfrm>
            <a:off x="4892040" y="3218688"/>
            <a:ext cx="1371600" cy="256032"/>
          </a:xfrm>
          <a:prstGeom prst="roundRect">
            <a:avLst>
              <a:gd name="adj" fmla="val 14286"/>
            </a:avLst>
          </a:prstGeom>
          <a:solidFill>
            <a:srgbClr val="8B5CF6"/>
          </a:solidFill>
          <a:ln/>
        </p:spPr>
      </p:sp>
      <p:sp>
        <p:nvSpPr>
          <p:cNvPr id="35" name="Text 32"/>
          <p:cNvSpPr/>
          <p:nvPr/>
        </p:nvSpPr>
        <p:spPr>
          <a:xfrm>
            <a:off x="4892040" y="3218688"/>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hospital_resources</a:t>
            </a:r>
            <a:endParaRPr lang="en-US" sz="950" dirty="0"/>
          </a:p>
        </p:txBody>
      </p:sp>
      <p:sp>
        <p:nvSpPr>
          <p:cNvPr id="36" name="Text 33"/>
          <p:cNvSpPr/>
          <p:nvPr/>
        </p:nvSpPr>
        <p:spPr>
          <a:xfrm>
            <a:off x="6355080" y="3218688"/>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Bed and ICU availability</a:t>
            </a:r>
            <a:endParaRPr lang="en-US" sz="950" dirty="0"/>
          </a:p>
        </p:txBody>
      </p:sp>
      <p:sp>
        <p:nvSpPr>
          <p:cNvPr id="37" name="Shape 34"/>
          <p:cNvSpPr/>
          <p:nvPr/>
        </p:nvSpPr>
        <p:spPr>
          <a:xfrm>
            <a:off x="4892040" y="3593592"/>
            <a:ext cx="1371600" cy="256032"/>
          </a:xfrm>
          <a:prstGeom prst="roundRect">
            <a:avLst>
              <a:gd name="adj" fmla="val 14286"/>
            </a:avLst>
          </a:prstGeom>
          <a:solidFill>
            <a:srgbClr val="8B5CF6"/>
          </a:solidFill>
          <a:ln/>
        </p:spPr>
      </p:sp>
      <p:sp>
        <p:nvSpPr>
          <p:cNvPr id="38" name="Text 35"/>
          <p:cNvSpPr/>
          <p:nvPr/>
        </p:nvSpPr>
        <p:spPr>
          <a:xfrm>
            <a:off x="4892040" y="3593592"/>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location_nodes</a:t>
            </a:r>
            <a:endParaRPr lang="en-US" sz="950" dirty="0"/>
          </a:p>
        </p:txBody>
      </p:sp>
      <p:sp>
        <p:nvSpPr>
          <p:cNvPr id="39" name="Text 36"/>
          <p:cNvSpPr/>
          <p:nvPr/>
        </p:nvSpPr>
        <p:spPr>
          <a:xfrm>
            <a:off x="6355080" y="3593592"/>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Places/intersections on the map</a:t>
            </a:r>
            <a:endParaRPr lang="en-US" sz="950" dirty="0"/>
          </a:p>
        </p:txBody>
      </p:sp>
      <p:sp>
        <p:nvSpPr>
          <p:cNvPr id="40" name="Shape 37"/>
          <p:cNvSpPr/>
          <p:nvPr/>
        </p:nvSpPr>
        <p:spPr>
          <a:xfrm>
            <a:off x="4892040" y="3968496"/>
            <a:ext cx="1371600" cy="256032"/>
          </a:xfrm>
          <a:prstGeom prst="roundRect">
            <a:avLst>
              <a:gd name="adj" fmla="val 14286"/>
            </a:avLst>
          </a:prstGeom>
          <a:solidFill>
            <a:srgbClr val="8B5CF6"/>
          </a:solidFill>
          <a:ln/>
        </p:spPr>
      </p:sp>
      <p:sp>
        <p:nvSpPr>
          <p:cNvPr id="41" name="Text 38"/>
          <p:cNvSpPr/>
          <p:nvPr/>
        </p:nvSpPr>
        <p:spPr>
          <a:xfrm>
            <a:off x="4892040" y="3968496"/>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road_edges</a:t>
            </a:r>
            <a:endParaRPr lang="en-US" sz="950" dirty="0"/>
          </a:p>
        </p:txBody>
      </p:sp>
      <p:sp>
        <p:nvSpPr>
          <p:cNvPr id="42" name="Text 39"/>
          <p:cNvSpPr/>
          <p:nvPr/>
        </p:nvSpPr>
        <p:spPr>
          <a:xfrm>
            <a:off x="6355080" y="3968496"/>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Roads between locations with distance</a:t>
            </a:r>
            <a:endParaRPr lang="en-US" sz="950" dirty="0"/>
          </a:p>
        </p:txBody>
      </p:sp>
      <p:sp>
        <p:nvSpPr>
          <p:cNvPr id="43" name="Shape 40"/>
          <p:cNvSpPr/>
          <p:nvPr/>
        </p:nvSpPr>
        <p:spPr>
          <a:xfrm>
            <a:off x="4892040" y="4343400"/>
            <a:ext cx="1371600" cy="256032"/>
          </a:xfrm>
          <a:prstGeom prst="roundRect">
            <a:avLst>
              <a:gd name="adj" fmla="val 14286"/>
            </a:avLst>
          </a:prstGeom>
          <a:solidFill>
            <a:srgbClr val="8B5CF6"/>
          </a:solidFill>
          <a:ln/>
        </p:spPr>
      </p:sp>
      <p:sp>
        <p:nvSpPr>
          <p:cNvPr id="44" name="Text 41"/>
          <p:cNvSpPr/>
          <p:nvPr/>
        </p:nvSpPr>
        <p:spPr>
          <a:xfrm>
            <a:off x="4892040" y="4343400"/>
            <a:ext cx="13716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allocations</a:t>
            </a:r>
            <a:endParaRPr lang="en-US" sz="950" dirty="0"/>
          </a:p>
        </p:txBody>
      </p:sp>
      <p:sp>
        <p:nvSpPr>
          <p:cNvPr id="45" name="Text 42"/>
          <p:cNvSpPr/>
          <p:nvPr/>
        </p:nvSpPr>
        <p:spPr>
          <a:xfrm>
            <a:off x="6355080" y="4343400"/>
            <a:ext cx="2331720" cy="256032"/>
          </a:xfrm>
          <a:prstGeom prst="rect">
            <a:avLst/>
          </a:prstGeom>
          <a:noFill/>
          <a:ln/>
        </p:spPr>
        <p:txBody>
          <a:bodyPr wrap="square" lIns="0" tIns="0" rIns="0" bIns="0" rtlCol="0" anchor="ctr"/>
          <a:lstStyle/>
          <a:p>
            <a:pPr marL="0" indent="0">
              <a:buNone/>
            </a:pPr>
            <a:r>
              <a:rPr lang="en-US" sz="950" dirty="0">
                <a:solidFill>
                  <a:srgbClr val="E0F0FF"/>
                </a:solidFill>
                <a:latin typeface="Calibri" pitchFamily="34" charset="0"/>
                <a:ea typeface="Calibri" pitchFamily="34" charset="-122"/>
                <a:cs typeface="Calibri" pitchFamily="34" charset="-120"/>
              </a:rPr>
              <a:t>Records which hospital was assigned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62A3A"/>
          </a:solidFill>
          <a:ln/>
        </p:spPr>
      </p:sp>
      <p:sp>
        <p:nvSpPr>
          <p:cNvPr id="3" name="Shape 1"/>
          <p:cNvSpPr/>
          <p:nvPr/>
        </p:nvSpPr>
        <p:spPr>
          <a:xfrm>
            <a:off x="0" y="0"/>
            <a:ext cx="164592" cy="5143500"/>
          </a:xfrm>
          <a:prstGeom prst="rect">
            <a:avLst/>
          </a:prstGeom>
          <a:solidFill>
            <a:srgbClr val="00B4D8"/>
          </a:solidFill>
          <a:ln/>
        </p:spPr>
      </p:sp>
      <p:sp>
        <p:nvSpPr>
          <p:cNvPr id="4" name="Text 2"/>
          <p:cNvSpPr/>
          <p:nvPr/>
        </p:nvSpPr>
        <p:spPr>
          <a:xfrm>
            <a:off x="320040" y="45720"/>
            <a:ext cx="7315200" cy="502920"/>
          </a:xfrm>
          <a:prstGeom prst="rect">
            <a:avLst/>
          </a:prstGeom>
          <a:noFill/>
          <a:ln/>
        </p:spPr>
        <p:txBody>
          <a:bodyPr wrap="square" lIns="0" tIns="0" rIns="0" bIns="0" rtlCol="0" anchor="ctr"/>
          <a:lstStyle/>
          <a:p>
            <a:pPr marL="0" indent="0">
              <a:buNone/>
            </a:pPr>
            <a:r>
              <a:rPr lang="en-US" sz="2200" b="1" dirty="0">
                <a:solidFill>
                  <a:srgbClr val="00B4D8"/>
                </a:solidFill>
                <a:latin typeface="Calibri" pitchFamily="34" charset="0"/>
                <a:ea typeface="Calibri" pitchFamily="34" charset="-122"/>
                <a:cs typeface="Calibri" pitchFamily="34" charset="-120"/>
              </a:rPr>
              <a:t>BCS405B  ·  Graph Theory</a:t>
            </a:r>
            <a:endParaRPr lang="en-US" sz="2200" dirty="0"/>
          </a:p>
        </p:txBody>
      </p:sp>
      <p:sp>
        <p:nvSpPr>
          <p:cNvPr id="5" name="Text 3"/>
          <p:cNvSpPr/>
          <p:nvPr/>
        </p:nvSpPr>
        <p:spPr>
          <a:xfrm>
            <a:off x="320040" y="566928"/>
            <a:ext cx="7772400" cy="347472"/>
          </a:xfrm>
          <a:prstGeom prst="rect">
            <a:avLst/>
          </a:prstGeom>
          <a:noFill/>
          <a:ln/>
        </p:spPr>
        <p:txBody>
          <a:bodyPr wrap="square" lIns="0" tIns="0" rIns="0" bIns="0" rtlCol="0" anchor="ctr"/>
          <a:lstStyle/>
          <a:p>
            <a:pPr marL="0" indent="0">
              <a:buNone/>
            </a:pPr>
            <a:r>
              <a:rPr lang="en-US" sz="1300" i="1" dirty="0">
                <a:solidFill>
                  <a:srgbClr val="E0F0FF"/>
                </a:solidFill>
                <a:latin typeface="Calibri" pitchFamily="34" charset="0"/>
                <a:ea typeface="Calibri" pitchFamily="34" charset="-122"/>
                <a:cs typeface="Calibri" pitchFamily="34" charset="-120"/>
              </a:rPr>
              <a:t>What concepts you used and how they appear in this project</a:t>
            </a:r>
            <a:endParaRPr lang="en-US" sz="1300" dirty="0"/>
          </a:p>
        </p:txBody>
      </p:sp>
      <p:pic>
        <p:nvPicPr>
          <p:cNvPr id="6" name="Image 0" descr="preencoded.png"/>
          <p:cNvPicPr>
            <a:picLocks noChangeAspect="1"/>
          </p:cNvPicPr>
          <p:nvPr/>
        </p:nvPicPr>
        <p:blipFill>
          <a:blip r:embed="rId3"/>
          <a:stretch>
            <a:fillRect/>
          </a:stretch>
        </p:blipFill>
        <p:spPr>
          <a:xfrm>
            <a:off x="8321040" y="182880"/>
            <a:ext cx="594360" cy="594360"/>
          </a:xfrm>
          <a:prstGeom prst="rect">
            <a:avLst/>
          </a:prstGeom>
        </p:spPr>
      </p:pic>
      <p:sp>
        <p:nvSpPr>
          <p:cNvPr id="7" name="Shape 4"/>
          <p:cNvSpPr/>
          <p:nvPr/>
        </p:nvSpPr>
        <p:spPr>
          <a:xfrm>
            <a:off x="320040" y="1188720"/>
            <a:ext cx="2697480" cy="1719072"/>
          </a:xfrm>
          <a:prstGeom prst="rect">
            <a:avLst/>
          </a:prstGeom>
          <a:solidFill>
            <a:srgbClr val="FFFFFF"/>
          </a:solidFill>
          <a:ln/>
          <a:effectLst>
            <a:outerShdw blurRad="101600" dist="38100" dir="8100000" algn="bl" rotWithShape="0">
              <a:srgbClr val="000000">
                <a:alpha val="12000"/>
              </a:srgbClr>
            </a:outerShdw>
          </a:effectLst>
        </p:spPr>
      </p:sp>
      <p:sp>
        <p:nvSpPr>
          <p:cNvPr id="8" name="Shape 5"/>
          <p:cNvSpPr/>
          <p:nvPr/>
        </p:nvSpPr>
        <p:spPr>
          <a:xfrm>
            <a:off x="320040" y="1188720"/>
            <a:ext cx="2697480" cy="347472"/>
          </a:xfrm>
          <a:prstGeom prst="rect">
            <a:avLst/>
          </a:prstGeom>
          <a:solidFill>
            <a:srgbClr val="00B4D8"/>
          </a:solidFill>
          <a:ln/>
        </p:spPr>
      </p:sp>
      <p:sp>
        <p:nvSpPr>
          <p:cNvPr id="9" name="Text 6"/>
          <p:cNvSpPr/>
          <p:nvPr/>
        </p:nvSpPr>
        <p:spPr>
          <a:xfrm>
            <a:off x="411480" y="1225296"/>
            <a:ext cx="2514600"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Weighted Graph (City Model)</a:t>
            </a:r>
            <a:endParaRPr lang="en-US" sz="1150" dirty="0"/>
          </a:p>
        </p:txBody>
      </p:sp>
      <p:sp>
        <p:nvSpPr>
          <p:cNvPr id="10" name="Text 7"/>
          <p:cNvSpPr/>
          <p:nvPr/>
        </p:nvSpPr>
        <p:spPr>
          <a:xfrm>
            <a:off x="411480" y="1600200"/>
            <a:ext cx="251460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The city roads are modeled as a graph. Each intersection is a Node (vertex). Each road is an Edge. Each road has a weight = distance in km. This is exactly how GPS and map apps work.</a:t>
            </a:r>
            <a:endParaRPr lang="en-US" sz="1050" dirty="0"/>
          </a:p>
        </p:txBody>
      </p:sp>
      <p:sp>
        <p:nvSpPr>
          <p:cNvPr id="11" name="Shape 8"/>
          <p:cNvSpPr/>
          <p:nvPr/>
        </p:nvSpPr>
        <p:spPr>
          <a:xfrm>
            <a:off x="3246120" y="1188720"/>
            <a:ext cx="2697480" cy="1719072"/>
          </a:xfrm>
          <a:prstGeom prst="rect">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3246120" y="1188720"/>
            <a:ext cx="2697480" cy="347472"/>
          </a:xfrm>
          <a:prstGeom prst="rect">
            <a:avLst/>
          </a:prstGeom>
          <a:solidFill>
            <a:srgbClr val="00B4D8"/>
          </a:solidFill>
          <a:ln/>
        </p:spPr>
      </p:sp>
      <p:sp>
        <p:nvSpPr>
          <p:cNvPr id="13" name="Text 10"/>
          <p:cNvSpPr/>
          <p:nvPr/>
        </p:nvSpPr>
        <p:spPr>
          <a:xfrm>
            <a:off x="3337560" y="1225296"/>
            <a:ext cx="2514600"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Adjacency List</a:t>
            </a:r>
            <a:endParaRPr lang="en-US" sz="1150" dirty="0"/>
          </a:p>
        </p:txBody>
      </p:sp>
      <p:sp>
        <p:nvSpPr>
          <p:cNvPr id="14" name="Text 11"/>
          <p:cNvSpPr/>
          <p:nvPr/>
        </p:nvSpPr>
        <p:spPr>
          <a:xfrm>
            <a:off x="3337560" y="1600200"/>
            <a:ext cx="251460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We will store the graph using a HashMap of ArrayList in Java. Each node maps to its list of connected roads. This is memory-efficient and fast for sparse road networks.</a:t>
            </a:r>
            <a:endParaRPr lang="en-US" sz="1050" dirty="0"/>
          </a:p>
        </p:txBody>
      </p:sp>
      <p:sp>
        <p:nvSpPr>
          <p:cNvPr id="15" name="Shape 12"/>
          <p:cNvSpPr/>
          <p:nvPr/>
        </p:nvSpPr>
        <p:spPr>
          <a:xfrm>
            <a:off x="6122055" y="1188720"/>
            <a:ext cx="2697480" cy="1719072"/>
          </a:xfrm>
          <a:prstGeom prst="rect">
            <a:avLst/>
          </a:prstGeom>
          <a:solidFill>
            <a:srgbClr val="FFFFFF"/>
          </a:solidFill>
          <a:ln/>
          <a:effectLst>
            <a:outerShdw blurRad="101600" dist="38100" dir="8100000" algn="bl" rotWithShape="0">
              <a:srgbClr val="000000">
                <a:alpha val="12000"/>
              </a:srgbClr>
            </a:outerShdw>
          </a:effectLst>
        </p:spPr>
      </p:sp>
      <p:sp>
        <p:nvSpPr>
          <p:cNvPr id="16" name="Shape 13"/>
          <p:cNvSpPr/>
          <p:nvPr/>
        </p:nvSpPr>
        <p:spPr>
          <a:xfrm>
            <a:off x="6172200" y="1188720"/>
            <a:ext cx="2697480" cy="347472"/>
          </a:xfrm>
          <a:prstGeom prst="rect">
            <a:avLst/>
          </a:prstGeom>
          <a:solidFill>
            <a:srgbClr val="00B4D8"/>
          </a:solidFill>
          <a:ln/>
        </p:spPr>
      </p:sp>
      <p:sp>
        <p:nvSpPr>
          <p:cNvPr id="17" name="Text 14"/>
          <p:cNvSpPr/>
          <p:nvPr/>
        </p:nvSpPr>
        <p:spPr>
          <a:xfrm>
            <a:off x="6263640" y="1225296"/>
            <a:ext cx="2514600"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BFS – Breadth First Search</a:t>
            </a:r>
            <a:endParaRPr lang="en-US" sz="1150" dirty="0"/>
          </a:p>
        </p:txBody>
      </p:sp>
      <p:sp>
        <p:nvSpPr>
          <p:cNvPr id="18" name="Text 15"/>
          <p:cNvSpPr/>
          <p:nvPr/>
        </p:nvSpPr>
        <p:spPr>
          <a:xfrm>
            <a:off x="6304935" y="1618488"/>
            <a:ext cx="251460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BFS explores all nearby nodes first before going further. Used to check if a hospital is reachable at all from a location. Works on unweighted graphs.</a:t>
            </a:r>
            <a:endParaRPr lang="en-US" sz="1050" dirty="0"/>
          </a:p>
        </p:txBody>
      </p:sp>
      <p:sp>
        <p:nvSpPr>
          <p:cNvPr id="19" name="Shape 16"/>
          <p:cNvSpPr/>
          <p:nvPr/>
        </p:nvSpPr>
        <p:spPr>
          <a:xfrm>
            <a:off x="320040" y="3063240"/>
            <a:ext cx="4160520" cy="1719072"/>
          </a:xfrm>
          <a:prstGeom prst="rect">
            <a:avLst/>
          </a:prstGeom>
          <a:solidFill>
            <a:srgbClr val="FFFFFF"/>
          </a:solidFill>
          <a:ln/>
          <a:effectLst>
            <a:outerShdw blurRad="101600" dist="38100" dir="8100000" algn="bl" rotWithShape="0">
              <a:srgbClr val="000000">
                <a:alpha val="12000"/>
              </a:srgbClr>
            </a:outerShdw>
          </a:effectLst>
        </p:spPr>
      </p:sp>
      <p:sp>
        <p:nvSpPr>
          <p:cNvPr id="20" name="Shape 17"/>
          <p:cNvSpPr/>
          <p:nvPr/>
        </p:nvSpPr>
        <p:spPr>
          <a:xfrm>
            <a:off x="320040" y="3063240"/>
            <a:ext cx="4160520" cy="347472"/>
          </a:xfrm>
          <a:prstGeom prst="rect">
            <a:avLst/>
          </a:prstGeom>
          <a:solidFill>
            <a:srgbClr val="0077B6"/>
          </a:solidFill>
          <a:ln/>
        </p:spPr>
      </p:sp>
      <p:sp>
        <p:nvSpPr>
          <p:cNvPr id="21" name="Text 18"/>
          <p:cNvSpPr/>
          <p:nvPr/>
        </p:nvSpPr>
        <p:spPr>
          <a:xfrm>
            <a:off x="411480" y="3090672"/>
            <a:ext cx="3977640"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DFS – Depth First Search</a:t>
            </a:r>
            <a:endParaRPr lang="en-US" sz="1150" dirty="0"/>
          </a:p>
        </p:txBody>
      </p:sp>
      <p:sp>
        <p:nvSpPr>
          <p:cNvPr id="22" name="Text 19"/>
          <p:cNvSpPr/>
          <p:nvPr/>
        </p:nvSpPr>
        <p:spPr>
          <a:xfrm>
            <a:off x="411480" y="3474720"/>
            <a:ext cx="397764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DFS goes deep into one path before backtracking. Used as a utility traversal — to explore all hospitals reachable from a starting point. Good for understanding graph connectivity.</a:t>
            </a:r>
            <a:endParaRPr lang="en-US" sz="1050" dirty="0"/>
          </a:p>
        </p:txBody>
      </p:sp>
      <p:sp>
        <p:nvSpPr>
          <p:cNvPr id="23" name="Shape 20"/>
          <p:cNvSpPr/>
          <p:nvPr/>
        </p:nvSpPr>
        <p:spPr>
          <a:xfrm>
            <a:off x="4754880" y="3063240"/>
            <a:ext cx="4343400" cy="1719072"/>
          </a:xfrm>
          <a:prstGeom prst="rect">
            <a:avLst/>
          </a:prstGeom>
          <a:solidFill>
            <a:srgbClr val="FFFFFF"/>
          </a:solidFill>
          <a:ln/>
          <a:effectLst>
            <a:outerShdw blurRad="101600" dist="38100" dir="8100000" algn="bl" rotWithShape="0">
              <a:srgbClr val="000000">
                <a:alpha val="12000"/>
              </a:srgbClr>
            </a:outerShdw>
          </a:effectLst>
        </p:spPr>
      </p:sp>
      <p:sp>
        <p:nvSpPr>
          <p:cNvPr id="24" name="Shape 21"/>
          <p:cNvSpPr/>
          <p:nvPr/>
        </p:nvSpPr>
        <p:spPr>
          <a:xfrm>
            <a:off x="4754880" y="3063240"/>
            <a:ext cx="4343400" cy="347472"/>
          </a:xfrm>
          <a:prstGeom prst="rect">
            <a:avLst/>
          </a:prstGeom>
          <a:solidFill>
            <a:srgbClr val="0077B6"/>
          </a:solidFill>
          <a:ln/>
        </p:spPr>
      </p:sp>
      <p:sp>
        <p:nvSpPr>
          <p:cNvPr id="25" name="Text 22"/>
          <p:cNvSpPr/>
          <p:nvPr/>
        </p:nvSpPr>
        <p:spPr>
          <a:xfrm>
            <a:off x="4846320" y="3098046"/>
            <a:ext cx="4160520" cy="29260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Dijkstra's Algorithm – Shortest Path</a:t>
            </a:r>
            <a:endParaRPr lang="en-US" sz="1150" dirty="0"/>
          </a:p>
        </p:txBody>
      </p:sp>
      <p:sp>
        <p:nvSpPr>
          <p:cNvPr id="26" name="Text 23"/>
          <p:cNvSpPr/>
          <p:nvPr/>
        </p:nvSpPr>
        <p:spPr>
          <a:xfrm>
            <a:off x="4846320" y="3474720"/>
            <a:ext cx="4160520" cy="123444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The core algorithm of this project. Takes the patient's location and finds the shortest road-path to each valid hospital. It uses a Priority Queue and always picks the lowest-cost next step. This ensures the ambulance takes the fastest possible route to the best hospital.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12B52"/>
          </a:solidFill>
          <a:ln/>
        </p:spPr>
      </p:sp>
      <p:sp>
        <p:nvSpPr>
          <p:cNvPr id="3" name="Text 1"/>
          <p:cNvSpPr/>
          <p:nvPr/>
        </p:nvSpPr>
        <p:spPr>
          <a:xfrm>
            <a:off x="365760" y="91440"/>
            <a:ext cx="8412480" cy="8229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All 4 Subjects Work Together</a:t>
            </a:r>
            <a:endParaRPr lang="en-US" sz="2400" dirty="0"/>
          </a:p>
        </p:txBody>
      </p:sp>
      <p:sp>
        <p:nvSpPr>
          <p:cNvPr id="4" name="Shape 2"/>
          <p:cNvSpPr/>
          <p:nvPr/>
        </p:nvSpPr>
        <p:spPr>
          <a:xfrm>
            <a:off x="274320" y="1143000"/>
            <a:ext cx="2011680" cy="3566160"/>
          </a:xfrm>
          <a:prstGeom prst="rect">
            <a:avLst/>
          </a:prstGeom>
          <a:solidFill>
            <a:srgbClr val="112B52"/>
          </a:solidFill>
          <a:ln/>
          <a:effectLst>
            <a:outerShdw blurRad="101600" dist="38100" dir="8100000" algn="bl" rotWithShape="0">
              <a:srgbClr val="000000">
                <a:alpha val="12000"/>
              </a:srgbClr>
            </a:outerShdw>
          </a:effectLst>
        </p:spPr>
      </p:sp>
      <p:sp>
        <p:nvSpPr>
          <p:cNvPr id="5" name="Shape 3"/>
          <p:cNvSpPr/>
          <p:nvPr/>
        </p:nvSpPr>
        <p:spPr>
          <a:xfrm>
            <a:off x="274320" y="1143000"/>
            <a:ext cx="2011680" cy="548640"/>
          </a:xfrm>
          <a:prstGeom prst="rect">
            <a:avLst/>
          </a:prstGeom>
          <a:solidFill>
            <a:srgbClr val="F59E0B"/>
          </a:solidFill>
          <a:ln/>
        </p:spPr>
      </p:sp>
      <p:sp>
        <p:nvSpPr>
          <p:cNvPr id="6" name="Text 4"/>
          <p:cNvSpPr/>
          <p:nvPr/>
        </p:nvSpPr>
        <p:spPr>
          <a:xfrm>
            <a:off x="274320" y="1161288"/>
            <a:ext cx="20116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BCS401</a:t>
            </a:r>
            <a:endParaRPr lang="en-US" sz="1300" dirty="0"/>
          </a:p>
        </p:txBody>
      </p:sp>
      <p:sp>
        <p:nvSpPr>
          <p:cNvPr id="7" name="Text 5"/>
          <p:cNvSpPr/>
          <p:nvPr/>
        </p:nvSpPr>
        <p:spPr>
          <a:xfrm>
            <a:off x="274320" y="1417320"/>
            <a:ext cx="201168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Algorithm Design</a:t>
            </a:r>
            <a:endParaRPr lang="en-US" sz="1000" dirty="0"/>
          </a:p>
        </p:txBody>
      </p:sp>
      <p:pic>
        <p:nvPicPr>
          <p:cNvPr id="8" name="Image 0" descr="preencoded.png"/>
          <p:cNvPicPr>
            <a:picLocks noChangeAspect="1"/>
          </p:cNvPicPr>
          <p:nvPr/>
        </p:nvPicPr>
        <p:blipFill>
          <a:blip r:embed="rId3"/>
          <a:stretch>
            <a:fillRect/>
          </a:stretch>
        </p:blipFill>
        <p:spPr>
          <a:xfrm>
            <a:off x="960120" y="1828800"/>
            <a:ext cx="594360" cy="594360"/>
          </a:xfrm>
          <a:prstGeom prst="rect">
            <a:avLst/>
          </a:prstGeom>
        </p:spPr>
      </p:pic>
      <p:sp>
        <p:nvSpPr>
          <p:cNvPr id="9" name="Text 6"/>
          <p:cNvSpPr/>
          <p:nvPr/>
        </p:nvSpPr>
        <p:spPr>
          <a:xfrm>
            <a:off x="365760" y="2560320"/>
            <a:ext cx="1828800" cy="2011680"/>
          </a:xfrm>
          <a:prstGeom prst="rect">
            <a:avLst/>
          </a:prstGeom>
          <a:noFill/>
          <a:ln/>
        </p:spPr>
        <p:txBody>
          <a:bodyPr wrap="square" lIns="0" tIns="0" rIns="0" bIns="0" rtlCol="0" anchor="ctr"/>
          <a:lstStyle/>
          <a:p>
            <a:pPr marL="0" indent="0" algn="ctr">
              <a:buNone/>
            </a:pPr>
            <a:r>
              <a:rPr lang="en-US" sz="1050" dirty="0">
                <a:solidFill>
                  <a:srgbClr val="E0F0FF"/>
                </a:solidFill>
                <a:latin typeface="Calibri" pitchFamily="34" charset="0"/>
                <a:ea typeface="Calibri" pitchFamily="34" charset="-122"/>
                <a:cs typeface="Calibri" pitchFamily="34" charset="-120"/>
              </a:rPr>
              <a:t>Defines the PROBLEM and justifies WHY Dijkstra is used</a:t>
            </a:r>
            <a:endParaRPr lang="en-US" sz="1050" dirty="0"/>
          </a:p>
        </p:txBody>
      </p:sp>
      <p:sp>
        <p:nvSpPr>
          <p:cNvPr id="10" name="Shape 7"/>
          <p:cNvSpPr/>
          <p:nvPr/>
        </p:nvSpPr>
        <p:spPr>
          <a:xfrm>
            <a:off x="2286000" y="2926080"/>
            <a:ext cx="201168" cy="0"/>
          </a:xfrm>
          <a:prstGeom prst="line">
            <a:avLst/>
          </a:prstGeom>
          <a:noFill/>
          <a:ln w="25400">
            <a:solidFill>
              <a:srgbClr val="00B4D8"/>
            </a:solidFill>
            <a:prstDash val="solid"/>
          </a:ln>
        </p:spPr>
      </p:sp>
      <p:sp>
        <p:nvSpPr>
          <p:cNvPr id="11" name="Shape 8"/>
          <p:cNvSpPr/>
          <p:nvPr/>
        </p:nvSpPr>
        <p:spPr>
          <a:xfrm>
            <a:off x="2487168" y="1143000"/>
            <a:ext cx="2011680" cy="3566160"/>
          </a:xfrm>
          <a:prstGeom prst="rect">
            <a:avLst/>
          </a:prstGeom>
          <a:solidFill>
            <a:srgbClr val="112B52"/>
          </a:solidFill>
          <a:ln/>
          <a:effectLst>
            <a:outerShdw blurRad="101600" dist="38100" dir="8100000" algn="bl" rotWithShape="0">
              <a:srgbClr val="000000">
                <a:alpha val="12000"/>
              </a:srgbClr>
            </a:outerShdw>
          </a:effectLst>
        </p:spPr>
      </p:sp>
      <p:sp>
        <p:nvSpPr>
          <p:cNvPr id="12" name="Shape 9"/>
          <p:cNvSpPr/>
          <p:nvPr/>
        </p:nvSpPr>
        <p:spPr>
          <a:xfrm>
            <a:off x="2487168" y="1143000"/>
            <a:ext cx="2011680" cy="548640"/>
          </a:xfrm>
          <a:prstGeom prst="rect">
            <a:avLst/>
          </a:prstGeom>
          <a:solidFill>
            <a:srgbClr val="8B5CF6"/>
          </a:solidFill>
          <a:ln/>
        </p:spPr>
      </p:sp>
      <p:sp>
        <p:nvSpPr>
          <p:cNvPr id="13" name="Text 10"/>
          <p:cNvSpPr/>
          <p:nvPr/>
        </p:nvSpPr>
        <p:spPr>
          <a:xfrm>
            <a:off x="2487168" y="1161288"/>
            <a:ext cx="20116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BCS403</a:t>
            </a:r>
            <a:endParaRPr lang="en-US" sz="1300" dirty="0"/>
          </a:p>
        </p:txBody>
      </p:sp>
      <p:sp>
        <p:nvSpPr>
          <p:cNvPr id="14" name="Text 11"/>
          <p:cNvSpPr/>
          <p:nvPr/>
        </p:nvSpPr>
        <p:spPr>
          <a:xfrm>
            <a:off x="2487168" y="1417320"/>
            <a:ext cx="201168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DBMS</a:t>
            </a:r>
            <a:endParaRPr lang="en-US" sz="1000" dirty="0"/>
          </a:p>
        </p:txBody>
      </p:sp>
      <p:pic>
        <p:nvPicPr>
          <p:cNvPr id="15" name="Image 1" descr="preencoded.png"/>
          <p:cNvPicPr>
            <a:picLocks noChangeAspect="1"/>
          </p:cNvPicPr>
          <p:nvPr/>
        </p:nvPicPr>
        <p:blipFill>
          <a:blip r:embed="rId4"/>
          <a:stretch>
            <a:fillRect/>
          </a:stretch>
        </p:blipFill>
        <p:spPr>
          <a:xfrm>
            <a:off x="3172968" y="1828800"/>
            <a:ext cx="594360" cy="594360"/>
          </a:xfrm>
          <a:prstGeom prst="rect">
            <a:avLst/>
          </a:prstGeom>
        </p:spPr>
      </p:pic>
      <p:sp>
        <p:nvSpPr>
          <p:cNvPr id="16" name="Text 12"/>
          <p:cNvSpPr/>
          <p:nvPr/>
        </p:nvSpPr>
        <p:spPr>
          <a:xfrm>
            <a:off x="2578608" y="2560320"/>
            <a:ext cx="1828800" cy="2011680"/>
          </a:xfrm>
          <a:prstGeom prst="rect">
            <a:avLst/>
          </a:prstGeom>
          <a:noFill/>
          <a:ln/>
        </p:spPr>
        <p:txBody>
          <a:bodyPr wrap="square" lIns="0" tIns="0" rIns="0" bIns="0" rtlCol="0" anchor="ctr"/>
          <a:lstStyle/>
          <a:p>
            <a:pPr marL="0" indent="0" algn="ctr">
              <a:buNone/>
            </a:pPr>
            <a:r>
              <a:rPr lang="en-US" sz="1050" dirty="0">
                <a:solidFill>
                  <a:srgbClr val="E0F0FF"/>
                </a:solidFill>
                <a:latin typeface="Calibri" pitchFamily="34" charset="0"/>
                <a:ea typeface="Calibri" pitchFamily="34" charset="-122"/>
                <a:cs typeface="Calibri" pitchFamily="34" charset="-120"/>
              </a:rPr>
              <a:t>Stores hospital data, roads, patients, and allocation history</a:t>
            </a:r>
            <a:endParaRPr lang="en-US" sz="1050" dirty="0"/>
          </a:p>
        </p:txBody>
      </p:sp>
      <p:sp>
        <p:nvSpPr>
          <p:cNvPr id="17" name="Shape 13"/>
          <p:cNvSpPr/>
          <p:nvPr/>
        </p:nvSpPr>
        <p:spPr>
          <a:xfrm>
            <a:off x="4498848" y="2926080"/>
            <a:ext cx="201168" cy="0"/>
          </a:xfrm>
          <a:prstGeom prst="line">
            <a:avLst/>
          </a:prstGeom>
          <a:noFill/>
          <a:ln w="25400">
            <a:solidFill>
              <a:srgbClr val="00B4D8"/>
            </a:solidFill>
            <a:prstDash val="solid"/>
          </a:ln>
        </p:spPr>
      </p:sp>
      <p:sp>
        <p:nvSpPr>
          <p:cNvPr id="18" name="Shape 14"/>
          <p:cNvSpPr/>
          <p:nvPr/>
        </p:nvSpPr>
        <p:spPr>
          <a:xfrm>
            <a:off x="4700016" y="1143000"/>
            <a:ext cx="2011680" cy="3566160"/>
          </a:xfrm>
          <a:prstGeom prst="rect">
            <a:avLst/>
          </a:prstGeom>
          <a:solidFill>
            <a:srgbClr val="112B52"/>
          </a:solidFill>
          <a:ln/>
          <a:effectLst>
            <a:outerShdw blurRad="101600" dist="38100" dir="8100000" algn="bl" rotWithShape="0">
              <a:srgbClr val="000000">
                <a:alpha val="12000"/>
              </a:srgbClr>
            </a:outerShdw>
          </a:effectLst>
        </p:spPr>
      </p:sp>
      <p:sp>
        <p:nvSpPr>
          <p:cNvPr id="19" name="Shape 15"/>
          <p:cNvSpPr/>
          <p:nvPr/>
        </p:nvSpPr>
        <p:spPr>
          <a:xfrm>
            <a:off x="4700016" y="1143000"/>
            <a:ext cx="2011680" cy="548640"/>
          </a:xfrm>
          <a:prstGeom prst="rect">
            <a:avLst/>
          </a:prstGeom>
          <a:solidFill>
            <a:srgbClr val="00B4D8"/>
          </a:solidFill>
          <a:ln/>
        </p:spPr>
      </p:sp>
      <p:sp>
        <p:nvSpPr>
          <p:cNvPr id="20" name="Text 16"/>
          <p:cNvSpPr/>
          <p:nvPr/>
        </p:nvSpPr>
        <p:spPr>
          <a:xfrm>
            <a:off x="4700016" y="1161288"/>
            <a:ext cx="20116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BCS405B</a:t>
            </a:r>
            <a:endParaRPr lang="en-US" sz="1300" dirty="0"/>
          </a:p>
        </p:txBody>
      </p:sp>
      <p:sp>
        <p:nvSpPr>
          <p:cNvPr id="21" name="Text 17"/>
          <p:cNvSpPr/>
          <p:nvPr/>
        </p:nvSpPr>
        <p:spPr>
          <a:xfrm>
            <a:off x="4700016" y="1417320"/>
            <a:ext cx="201168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Graph Theory</a:t>
            </a:r>
            <a:endParaRPr lang="en-US" sz="1000" dirty="0"/>
          </a:p>
        </p:txBody>
      </p:sp>
      <p:pic>
        <p:nvPicPr>
          <p:cNvPr id="22" name="Image 2" descr="preencoded.png"/>
          <p:cNvPicPr>
            <a:picLocks noChangeAspect="1"/>
          </p:cNvPicPr>
          <p:nvPr/>
        </p:nvPicPr>
        <p:blipFill>
          <a:blip r:embed="rId5"/>
          <a:stretch>
            <a:fillRect/>
          </a:stretch>
        </p:blipFill>
        <p:spPr>
          <a:xfrm>
            <a:off x="5385816" y="1828800"/>
            <a:ext cx="594360" cy="594360"/>
          </a:xfrm>
          <a:prstGeom prst="rect">
            <a:avLst/>
          </a:prstGeom>
        </p:spPr>
      </p:pic>
      <p:sp>
        <p:nvSpPr>
          <p:cNvPr id="23" name="Text 18"/>
          <p:cNvSpPr/>
          <p:nvPr/>
        </p:nvSpPr>
        <p:spPr>
          <a:xfrm>
            <a:off x="4791456" y="2560320"/>
            <a:ext cx="1828800" cy="2011680"/>
          </a:xfrm>
          <a:prstGeom prst="rect">
            <a:avLst/>
          </a:prstGeom>
          <a:noFill/>
          <a:ln/>
        </p:spPr>
        <p:txBody>
          <a:bodyPr wrap="square" lIns="0" tIns="0" rIns="0" bIns="0" rtlCol="0" anchor="ctr"/>
          <a:lstStyle/>
          <a:p>
            <a:pPr marL="0" indent="0" algn="ctr">
              <a:buNone/>
            </a:pPr>
            <a:r>
              <a:rPr lang="en-US" sz="1050" dirty="0">
                <a:solidFill>
                  <a:srgbClr val="E0F0FF"/>
                </a:solidFill>
                <a:latin typeface="Calibri" pitchFamily="34" charset="0"/>
                <a:ea typeface="Calibri" pitchFamily="34" charset="-122"/>
                <a:cs typeface="Calibri" pitchFamily="34" charset="-120"/>
              </a:rPr>
              <a:t>Models roads as a graph, runs BFS/DFS/Dijkstra to find best route</a:t>
            </a:r>
            <a:endParaRPr lang="en-US" sz="1050" dirty="0"/>
          </a:p>
        </p:txBody>
      </p:sp>
      <p:sp>
        <p:nvSpPr>
          <p:cNvPr id="24" name="Shape 19"/>
          <p:cNvSpPr/>
          <p:nvPr/>
        </p:nvSpPr>
        <p:spPr>
          <a:xfrm>
            <a:off x="6711696" y="2926080"/>
            <a:ext cx="201168" cy="0"/>
          </a:xfrm>
          <a:prstGeom prst="line">
            <a:avLst/>
          </a:prstGeom>
          <a:noFill/>
          <a:ln w="25400">
            <a:solidFill>
              <a:srgbClr val="00B4D8"/>
            </a:solidFill>
            <a:prstDash val="solid"/>
          </a:ln>
        </p:spPr>
      </p:sp>
      <p:sp>
        <p:nvSpPr>
          <p:cNvPr id="25" name="Shape 20"/>
          <p:cNvSpPr/>
          <p:nvPr/>
        </p:nvSpPr>
        <p:spPr>
          <a:xfrm>
            <a:off x="6912864" y="1143000"/>
            <a:ext cx="2011680" cy="3566160"/>
          </a:xfrm>
          <a:prstGeom prst="rect">
            <a:avLst/>
          </a:prstGeom>
          <a:solidFill>
            <a:srgbClr val="112B52"/>
          </a:solidFill>
          <a:ln/>
          <a:effectLst>
            <a:outerShdw blurRad="101600" dist="38100" dir="8100000" algn="bl" rotWithShape="0">
              <a:srgbClr val="000000">
                <a:alpha val="12000"/>
              </a:srgbClr>
            </a:outerShdw>
          </a:effectLst>
        </p:spPr>
      </p:sp>
      <p:sp>
        <p:nvSpPr>
          <p:cNvPr id="26" name="Shape 21"/>
          <p:cNvSpPr/>
          <p:nvPr/>
        </p:nvSpPr>
        <p:spPr>
          <a:xfrm>
            <a:off x="6912864" y="1143000"/>
            <a:ext cx="2011680" cy="548640"/>
          </a:xfrm>
          <a:prstGeom prst="rect">
            <a:avLst/>
          </a:prstGeom>
          <a:solidFill>
            <a:srgbClr val="10B981"/>
          </a:solidFill>
          <a:ln/>
        </p:spPr>
      </p:sp>
      <p:sp>
        <p:nvSpPr>
          <p:cNvPr id="27" name="Text 22"/>
          <p:cNvSpPr/>
          <p:nvPr/>
        </p:nvSpPr>
        <p:spPr>
          <a:xfrm>
            <a:off x="6912864" y="1161288"/>
            <a:ext cx="20116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BCS402</a:t>
            </a:r>
            <a:endParaRPr lang="en-US" sz="1300" dirty="0"/>
          </a:p>
        </p:txBody>
      </p:sp>
      <p:sp>
        <p:nvSpPr>
          <p:cNvPr id="28" name="Text 23"/>
          <p:cNvSpPr/>
          <p:nvPr/>
        </p:nvSpPr>
        <p:spPr>
          <a:xfrm>
            <a:off x="6912864" y="1417320"/>
            <a:ext cx="201168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Advanced Java</a:t>
            </a:r>
            <a:endParaRPr lang="en-US" sz="1000" dirty="0"/>
          </a:p>
        </p:txBody>
      </p:sp>
      <p:pic>
        <p:nvPicPr>
          <p:cNvPr id="29" name="Image 3" descr="preencoded.png"/>
          <p:cNvPicPr>
            <a:picLocks noChangeAspect="1"/>
          </p:cNvPicPr>
          <p:nvPr/>
        </p:nvPicPr>
        <p:blipFill>
          <a:blip r:embed="rId6"/>
          <a:stretch>
            <a:fillRect/>
          </a:stretch>
        </p:blipFill>
        <p:spPr>
          <a:xfrm>
            <a:off x="7598664" y="1828800"/>
            <a:ext cx="594360" cy="594360"/>
          </a:xfrm>
          <a:prstGeom prst="rect">
            <a:avLst/>
          </a:prstGeom>
        </p:spPr>
      </p:pic>
      <p:sp>
        <p:nvSpPr>
          <p:cNvPr id="30" name="Text 24"/>
          <p:cNvSpPr/>
          <p:nvPr/>
        </p:nvSpPr>
        <p:spPr>
          <a:xfrm>
            <a:off x="7004304" y="2560320"/>
            <a:ext cx="1828800" cy="2011680"/>
          </a:xfrm>
          <a:prstGeom prst="rect">
            <a:avLst/>
          </a:prstGeom>
          <a:noFill/>
          <a:ln/>
        </p:spPr>
        <p:txBody>
          <a:bodyPr wrap="square" lIns="0" tIns="0" rIns="0" bIns="0" rtlCol="0" anchor="ctr"/>
          <a:lstStyle/>
          <a:p>
            <a:pPr marL="0" indent="0" algn="ctr">
              <a:buNone/>
            </a:pPr>
            <a:r>
              <a:rPr lang="en-US" sz="1050" dirty="0">
                <a:solidFill>
                  <a:srgbClr val="E0F0FF"/>
                </a:solidFill>
                <a:latin typeface="Calibri" pitchFamily="34" charset="0"/>
                <a:ea typeface="Calibri" pitchFamily="34" charset="-122"/>
                <a:cs typeface="Calibri" pitchFamily="34" charset="-120"/>
              </a:rPr>
              <a:t>Builds the full application — OOP, Swing UI, Collections, JDBC</a:t>
            </a:r>
            <a:endParaRPr lang="en-US" sz="1050" dirty="0"/>
          </a:p>
        </p:txBody>
      </p:sp>
      <p:sp>
        <p:nvSpPr>
          <p:cNvPr id="31" name="Shape 25"/>
          <p:cNvSpPr/>
          <p:nvPr/>
        </p:nvSpPr>
        <p:spPr>
          <a:xfrm>
            <a:off x="274320" y="4709160"/>
            <a:ext cx="8595360" cy="274320"/>
          </a:xfrm>
          <a:prstGeom prst="rect">
            <a:avLst/>
          </a:prstGeom>
          <a:solidFill>
            <a:srgbClr val="193050"/>
          </a:solidFill>
          <a:ln/>
        </p:spPr>
      </p:sp>
      <p:sp>
        <p:nvSpPr>
          <p:cNvPr id="32" name="Text 26"/>
          <p:cNvSpPr/>
          <p:nvPr/>
        </p:nvSpPr>
        <p:spPr>
          <a:xfrm>
            <a:off x="274320" y="4709160"/>
            <a:ext cx="8595360" cy="274320"/>
          </a:xfrm>
          <a:prstGeom prst="rect">
            <a:avLst/>
          </a:prstGeom>
          <a:noFill/>
          <a:ln/>
        </p:spPr>
        <p:txBody>
          <a:bodyPr wrap="square" lIns="0" tIns="0" rIns="0" bIns="0" rtlCol="0" anchor="ctr"/>
          <a:lstStyle/>
          <a:p>
            <a:pPr marL="0" indent="0" algn="ctr">
              <a:buNone/>
            </a:pPr>
            <a:r>
              <a:rPr lang="en-US" sz="1000" b="1" dirty="0">
                <a:solidFill>
                  <a:srgbClr val="00B4D8"/>
                </a:solidFill>
                <a:latin typeface="Calibri" pitchFamily="34" charset="0"/>
                <a:ea typeface="Calibri" pitchFamily="34" charset="-122"/>
                <a:cs typeface="Calibri" pitchFamily="34" charset="-120"/>
              </a:rPr>
              <a:t>Algorithm Design defines the WHY  ·  Graph Theory does the routing  ·  DBMS stores everything  ·  Advanced Java builds it all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D3A"/>
          </a:solidFill>
          <a:ln/>
        </p:spPr>
        <p:txBody>
          <a:bodyPr/>
          <a:lstStyle/>
          <a:p>
            <a:endParaRPr lang="en-IN" dirty="0"/>
          </a:p>
        </p:txBody>
      </p:sp>
      <p:sp>
        <p:nvSpPr>
          <p:cNvPr id="3" name="Shape 1"/>
          <p:cNvSpPr/>
          <p:nvPr/>
        </p:nvSpPr>
        <p:spPr>
          <a:xfrm>
            <a:off x="5943600" y="-914400"/>
            <a:ext cx="4572000" cy="4572000"/>
          </a:xfrm>
          <a:prstGeom prst="ellipse">
            <a:avLst/>
          </a:prstGeom>
          <a:solidFill>
            <a:srgbClr val="112B52"/>
          </a:solidFill>
          <a:ln w="19050">
            <a:solidFill>
              <a:srgbClr val="00B4D8"/>
            </a:solidFill>
            <a:prstDash val="solid"/>
          </a:ln>
        </p:spPr>
      </p:sp>
      <p:sp>
        <p:nvSpPr>
          <p:cNvPr id="4" name="Text 2"/>
          <p:cNvSpPr/>
          <p:nvPr/>
        </p:nvSpPr>
        <p:spPr>
          <a:xfrm>
            <a:off x="457200" y="457200"/>
            <a:ext cx="7315200" cy="548640"/>
          </a:xfrm>
          <a:prstGeom prst="rect">
            <a:avLst/>
          </a:prstGeom>
          <a:noFill/>
          <a:ln/>
        </p:spPr>
        <p:txBody>
          <a:bodyPr wrap="square" lIns="0" tIns="0" rIns="0" bIns="0" rtlCol="0" anchor="ctr"/>
          <a:lstStyle/>
          <a:p>
            <a:r>
              <a:rPr lang="en-US" b="1" dirty="0">
                <a:solidFill>
                  <a:srgbClr val="00B4D8"/>
                </a:solidFill>
                <a:latin typeface="Calibri" pitchFamily="34" charset="0"/>
                <a:ea typeface="Calibri" pitchFamily="34" charset="-122"/>
                <a:cs typeface="Calibri" pitchFamily="34" charset="-120"/>
              </a:rPr>
              <a:t>What did we learn?</a:t>
            </a:r>
            <a:endParaRPr lang="en-US" sz="1800" dirty="0"/>
          </a:p>
        </p:txBody>
      </p:sp>
      <p:sp>
        <p:nvSpPr>
          <p:cNvPr id="5" name="Shape 3"/>
          <p:cNvSpPr/>
          <p:nvPr/>
        </p:nvSpPr>
        <p:spPr>
          <a:xfrm>
            <a:off x="457200" y="1097280"/>
            <a:ext cx="7498080" cy="1371600"/>
          </a:xfrm>
          <a:prstGeom prst="rect">
            <a:avLst/>
          </a:prstGeom>
          <a:solidFill>
            <a:srgbClr val="112B52"/>
          </a:solidFill>
          <a:ln/>
          <a:effectLst>
            <a:outerShdw blurRad="101600" dist="38100" dir="8100000" algn="bl" rotWithShape="0">
              <a:srgbClr val="000000">
                <a:alpha val="12000"/>
              </a:srgbClr>
            </a:outerShdw>
          </a:effectLst>
        </p:spPr>
      </p:sp>
      <p:sp>
        <p:nvSpPr>
          <p:cNvPr id="6" name="Shape 4"/>
          <p:cNvSpPr/>
          <p:nvPr/>
        </p:nvSpPr>
        <p:spPr>
          <a:xfrm>
            <a:off x="457200" y="1097280"/>
            <a:ext cx="91440" cy="1371600"/>
          </a:xfrm>
          <a:prstGeom prst="rect">
            <a:avLst/>
          </a:prstGeom>
          <a:solidFill>
            <a:srgbClr val="00B4D8"/>
          </a:solidFill>
          <a:ln/>
        </p:spPr>
      </p:sp>
      <p:sp>
        <p:nvSpPr>
          <p:cNvPr id="7" name="Text 5"/>
          <p:cNvSpPr/>
          <p:nvPr/>
        </p:nvSpPr>
        <p:spPr>
          <a:xfrm>
            <a:off x="640080" y="1188720"/>
            <a:ext cx="7223760" cy="1234440"/>
          </a:xfrm>
          <a:prstGeom prst="rect">
            <a:avLst/>
          </a:prstGeom>
          <a:noFill/>
          <a:ln/>
        </p:spPr>
        <p:txBody>
          <a:bodyPr wrap="square" lIns="0" tIns="0" rIns="0" bIns="0" rtlCol="0" anchor="ctr"/>
          <a:lstStyle/>
          <a:p>
            <a:pPr marL="0" indent="0">
              <a:buNone/>
            </a:pPr>
            <a:r>
              <a:rPr lang="en-US" sz="1400" i="1" dirty="0">
                <a:solidFill>
                  <a:srgbClr val="E0F0FF"/>
                </a:solidFill>
                <a:latin typeface="Calibri" pitchFamily="34" charset="0"/>
                <a:ea typeface="Calibri" pitchFamily="34" charset="-122"/>
                <a:cs typeface="Calibri" pitchFamily="34" charset="-120"/>
              </a:rPr>
              <a:t>"This project uses DBMS to store hospitals and roads, Advanced Java to build the application, Graph Theory to model and solve routing, and Algorithm Design to compare and justify the recommendation strategy."</a:t>
            </a:r>
            <a:endParaRPr lang="en-US" sz="1400" dirty="0"/>
          </a:p>
        </p:txBody>
      </p:sp>
      <p:sp>
        <p:nvSpPr>
          <p:cNvPr id="8" name="Shape 6"/>
          <p:cNvSpPr/>
          <p:nvPr/>
        </p:nvSpPr>
        <p:spPr>
          <a:xfrm>
            <a:off x="457200" y="2834640"/>
            <a:ext cx="1920240" cy="640080"/>
          </a:xfrm>
          <a:prstGeom prst="rect">
            <a:avLst/>
          </a:prstGeom>
          <a:solidFill>
            <a:srgbClr val="F59E0B"/>
          </a:solidFill>
          <a:ln/>
          <a:effectLst>
            <a:outerShdw blurRad="101600" dist="38100" dir="8100000" algn="bl" rotWithShape="0">
              <a:srgbClr val="000000">
                <a:alpha val="12000"/>
              </a:srgbClr>
            </a:outerShdw>
          </a:effectLst>
        </p:spPr>
      </p:sp>
      <p:sp>
        <p:nvSpPr>
          <p:cNvPr id="9" name="Text 7"/>
          <p:cNvSpPr/>
          <p:nvPr/>
        </p:nvSpPr>
        <p:spPr>
          <a:xfrm>
            <a:off x="457200" y="2852928"/>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BCS401</a:t>
            </a:r>
            <a:endParaRPr lang="en-US" sz="1200" dirty="0"/>
          </a:p>
        </p:txBody>
      </p:sp>
      <p:sp>
        <p:nvSpPr>
          <p:cNvPr id="10" name="Text 8"/>
          <p:cNvSpPr/>
          <p:nvPr/>
        </p:nvSpPr>
        <p:spPr>
          <a:xfrm>
            <a:off x="457200" y="3127248"/>
            <a:ext cx="19202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Defined the Problem</a:t>
            </a:r>
            <a:endParaRPr lang="en-US" sz="1000" dirty="0"/>
          </a:p>
        </p:txBody>
      </p:sp>
      <p:sp>
        <p:nvSpPr>
          <p:cNvPr id="11" name="Shape 9"/>
          <p:cNvSpPr/>
          <p:nvPr/>
        </p:nvSpPr>
        <p:spPr>
          <a:xfrm>
            <a:off x="2560320" y="2834640"/>
            <a:ext cx="1920240" cy="640080"/>
          </a:xfrm>
          <a:prstGeom prst="rect">
            <a:avLst/>
          </a:prstGeom>
          <a:solidFill>
            <a:srgbClr val="10B981"/>
          </a:solidFill>
          <a:ln/>
          <a:effectLst>
            <a:outerShdw blurRad="101600" dist="38100" dir="8100000" algn="bl" rotWithShape="0">
              <a:srgbClr val="000000">
                <a:alpha val="12000"/>
              </a:srgbClr>
            </a:outerShdw>
          </a:effectLst>
        </p:spPr>
      </p:sp>
      <p:sp>
        <p:nvSpPr>
          <p:cNvPr id="12" name="Text 10"/>
          <p:cNvSpPr/>
          <p:nvPr/>
        </p:nvSpPr>
        <p:spPr>
          <a:xfrm>
            <a:off x="2560320" y="2852928"/>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BCS402</a:t>
            </a:r>
            <a:endParaRPr lang="en-US" sz="1200" dirty="0"/>
          </a:p>
        </p:txBody>
      </p:sp>
      <p:sp>
        <p:nvSpPr>
          <p:cNvPr id="13" name="Text 11"/>
          <p:cNvSpPr/>
          <p:nvPr/>
        </p:nvSpPr>
        <p:spPr>
          <a:xfrm>
            <a:off x="2560320" y="3127248"/>
            <a:ext cx="19202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Built the App</a:t>
            </a:r>
            <a:endParaRPr lang="en-US" sz="1000" dirty="0"/>
          </a:p>
        </p:txBody>
      </p:sp>
      <p:sp>
        <p:nvSpPr>
          <p:cNvPr id="14" name="Shape 12"/>
          <p:cNvSpPr/>
          <p:nvPr/>
        </p:nvSpPr>
        <p:spPr>
          <a:xfrm>
            <a:off x="4663440" y="2834640"/>
            <a:ext cx="1920240" cy="640080"/>
          </a:xfrm>
          <a:prstGeom prst="rect">
            <a:avLst/>
          </a:prstGeom>
          <a:solidFill>
            <a:srgbClr val="8B5CF6"/>
          </a:solidFill>
          <a:ln/>
          <a:effectLst>
            <a:outerShdw blurRad="101600" dist="38100" dir="8100000" algn="bl" rotWithShape="0">
              <a:srgbClr val="000000">
                <a:alpha val="12000"/>
              </a:srgbClr>
            </a:outerShdw>
          </a:effectLst>
        </p:spPr>
      </p:sp>
      <p:sp>
        <p:nvSpPr>
          <p:cNvPr id="15" name="Text 13"/>
          <p:cNvSpPr/>
          <p:nvPr/>
        </p:nvSpPr>
        <p:spPr>
          <a:xfrm>
            <a:off x="4663440" y="2852928"/>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BCS403</a:t>
            </a:r>
            <a:endParaRPr lang="en-US" sz="1200" dirty="0"/>
          </a:p>
        </p:txBody>
      </p:sp>
      <p:sp>
        <p:nvSpPr>
          <p:cNvPr id="16" name="Text 14"/>
          <p:cNvSpPr/>
          <p:nvPr/>
        </p:nvSpPr>
        <p:spPr>
          <a:xfrm>
            <a:off x="4663440" y="3127248"/>
            <a:ext cx="19202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Designed the DB</a:t>
            </a:r>
            <a:endParaRPr lang="en-US" sz="1000" dirty="0"/>
          </a:p>
        </p:txBody>
      </p:sp>
      <p:sp>
        <p:nvSpPr>
          <p:cNvPr id="17" name="Shape 15"/>
          <p:cNvSpPr/>
          <p:nvPr/>
        </p:nvSpPr>
        <p:spPr>
          <a:xfrm>
            <a:off x="6766560" y="2834640"/>
            <a:ext cx="1920240" cy="640080"/>
          </a:xfrm>
          <a:prstGeom prst="rect">
            <a:avLst/>
          </a:prstGeom>
          <a:solidFill>
            <a:srgbClr val="00B4D8"/>
          </a:solidFill>
          <a:ln/>
          <a:effectLst>
            <a:outerShdw blurRad="101600" dist="38100" dir="8100000" algn="bl" rotWithShape="0">
              <a:srgbClr val="000000">
                <a:alpha val="12000"/>
              </a:srgbClr>
            </a:outerShdw>
          </a:effectLst>
        </p:spPr>
      </p:sp>
      <p:sp>
        <p:nvSpPr>
          <p:cNvPr id="18" name="Text 16"/>
          <p:cNvSpPr/>
          <p:nvPr/>
        </p:nvSpPr>
        <p:spPr>
          <a:xfrm>
            <a:off x="6766560" y="2852928"/>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BCS405B</a:t>
            </a:r>
            <a:endParaRPr lang="en-US" sz="1200" dirty="0"/>
          </a:p>
        </p:txBody>
      </p:sp>
      <p:sp>
        <p:nvSpPr>
          <p:cNvPr id="19" name="Text 17"/>
          <p:cNvSpPr/>
          <p:nvPr/>
        </p:nvSpPr>
        <p:spPr>
          <a:xfrm>
            <a:off x="6766560" y="3127248"/>
            <a:ext cx="1920240" cy="25603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Solved the Routing</a:t>
            </a:r>
            <a:endParaRPr lang="en-US" sz="1000" dirty="0"/>
          </a:p>
        </p:txBody>
      </p:sp>
      <p:sp>
        <p:nvSpPr>
          <p:cNvPr id="20" name="Text 18"/>
          <p:cNvSpPr/>
          <p:nvPr/>
        </p:nvSpPr>
        <p:spPr>
          <a:xfrm>
            <a:off x="457200" y="4480560"/>
            <a:ext cx="8229600" cy="365760"/>
          </a:xfrm>
          <a:prstGeom prst="rect">
            <a:avLst/>
          </a:prstGeom>
          <a:noFill/>
          <a:ln/>
        </p:spPr>
        <p:txBody>
          <a:bodyPr wrap="square" lIns="0" tIns="0" rIns="0" bIns="0" rtlCol="0" anchor="ctr"/>
          <a:lstStyle/>
          <a:p>
            <a:pPr marL="0" indent="0" algn="l">
              <a:buNone/>
            </a:pPr>
            <a:r>
              <a:rPr lang="en-US" sz="1100" i="1" dirty="0">
                <a:solidFill>
                  <a:srgbClr val="64748B"/>
                </a:solidFill>
                <a:latin typeface="Calibri" pitchFamily="34" charset="0"/>
                <a:ea typeface="Calibri" pitchFamily="34" charset="-122"/>
                <a:cs typeface="Calibri" pitchFamily="34" charset="-120"/>
              </a:rPr>
              <a:t>Smart Ambulance Routing &amp; Hospital Allocation System</a:t>
            </a:r>
            <a:endParaRPr lang="en-US" sz="11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0" y="-457200"/>
            <a:ext cx="3840480" cy="3840480"/>
          </a:xfrm>
          <a:prstGeom prst="rect">
            <a:avLst/>
          </a:prstGeom>
          <a:solidFill>
            <a:srgbClr val="112B52"/>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51435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6400800" cy="502920"/>
          </a:xfrm>
          <a:prstGeom prst="rect">
            <a:avLst/>
          </a:prstGeom>
          <a:noFill/>
        </p:spPr>
        <p:txBody>
          <a:bodyPr wrap="square">
            <a:spAutoFit/>
          </a:bodyPr>
          <a:lstStyle/>
          <a:p>
            <a:pPr algn="l"/>
            <a:r>
              <a:rPr sz="2400" b="1" i="0">
                <a:solidFill>
                  <a:srgbClr val="00B4D8"/>
                </a:solidFill>
                <a:latin typeface="Calibri"/>
              </a:rPr>
              <a:t>System Architecture</a:t>
            </a:r>
          </a:p>
        </p:txBody>
      </p:sp>
      <p:sp>
        <p:nvSpPr>
          <p:cNvPr id="6" name="TextBox 5"/>
          <p:cNvSpPr txBox="1"/>
          <p:nvPr/>
        </p:nvSpPr>
        <p:spPr>
          <a:xfrm>
            <a:off x="274320" y="640080"/>
            <a:ext cx="7315200" cy="292608"/>
          </a:xfrm>
          <a:prstGeom prst="rect">
            <a:avLst/>
          </a:prstGeom>
          <a:noFill/>
        </p:spPr>
        <p:txBody>
          <a:bodyPr wrap="square">
            <a:spAutoFit/>
          </a:bodyPr>
          <a:lstStyle/>
          <a:p>
            <a:pPr algn="l"/>
            <a:r>
              <a:rPr sz="1100" b="0" i="1">
                <a:solidFill>
                  <a:srgbClr val="E0F0FF"/>
                </a:solidFill>
                <a:latin typeface="Calibri"/>
              </a:rPr>
              <a:t>End-to-end component interaction &amp; live traffic data flow</a:t>
            </a:r>
          </a:p>
        </p:txBody>
      </p:sp>
      <p:sp>
        <p:nvSpPr>
          <p:cNvPr id="7" name="Rectangle 6"/>
          <p:cNvSpPr/>
          <p:nvPr/>
        </p:nvSpPr>
        <p:spPr>
          <a:xfrm>
            <a:off x="274320" y="969264"/>
            <a:ext cx="8595360" cy="0"/>
          </a:xfrm>
          <a:prstGeom prst="rect">
            <a:avLst/>
          </a:prstGeom>
          <a:no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rchitecture_diagram.png"/>
          <p:cNvPicPr>
            <a:picLocks noChangeAspect="1"/>
          </p:cNvPicPr>
          <p:nvPr/>
        </p:nvPicPr>
        <p:blipFill>
          <a:blip r:embed="rId2"/>
          <a:stretch>
            <a:fillRect/>
          </a:stretch>
        </p:blipFill>
        <p:spPr>
          <a:xfrm>
            <a:off x="182880" y="1051560"/>
            <a:ext cx="5394960" cy="3931920"/>
          </a:xfrm>
          <a:prstGeom prst="rect">
            <a:avLst/>
          </a:prstGeom>
        </p:spPr>
      </p:pic>
      <p:sp>
        <p:nvSpPr>
          <p:cNvPr id="9" name="Rectangle 8"/>
          <p:cNvSpPr/>
          <p:nvPr/>
        </p:nvSpPr>
        <p:spPr>
          <a:xfrm>
            <a:off x="5715000" y="1051560"/>
            <a:ext cx="3246120" cy="3931920"/>
          </a:xfrm>
          <a:prstGeom prst="rect">
            <a:avLst/>
          </a:prstGeom>
          <a:solidFill>
            <a:srgbClr val="112B52"/>
          </a:solidFill>
          <a:ln w="1016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0" y="1051560"/>
            <a:ext cx="3246120"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06440" y="1078992"/>
            <a:ext cx="3063240" cy="310896"/>
          </a:xfrm>
          <a:prstGeom prst="rect">
            <a:avLst/>
          </a:prstGeom>
          <a:noFill/>
        </p:spPr>
        <p:txBody>
          <a:bodyPr wrap="square">
            <a:spAutoFit/>
          </a:bodyPr>
          <a:lstStyle/>
          <a:p>
            <a:pPr algn="l"/>
            <a:r>
              <a:rPr sz="1100" b="1" i="0">
                <a:solidFill>
                  <a:srgbClr val="0B1D3A"/>
                </a:solidFill>
                <a:latin typeface="Calibri"/>
              </a:rPr>
              <a:t>Component Legend</a:t>
            </a:r>
          </a:p>
        </p:txBody>
      </p:sp>
      <p:sp>
        <p:nvSpPr>
          <p:cNvPr id="12" name="Oval 11"/>
          <p:cNvSpPr/>
          <p:nvPr/>
        </p:nvSpPr>
        <p:spPr>
          <a:xfrm>
            <a:off x="5852160" y="1645920"/>
            <a:ext cx="182880" cy="1828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572768"/>
            <a:ext cx="2743200" cy="347472"/>
          </a:xfrm>
          <a:prstGeom prst="rect">
            <a:avLst/>
          </a:prstGeom>
          <a:noFill/>
        </p:spPr>
        <p:txBody>
          <a:bodyPr wrap="square">
            <a:spAutoFit/>
          </a:bodyPr>
          <a:lstStyle/>
          <a:p>
            <a:pPr algn="l"/>
            <a:r>
              <a:rPr sz="1000" b="0" i="0">
                <a:solidFill>
                  <a:srgbClr val="E0F0FF"/>
                </a:solidFill>
                <a:latin typeface="Calibri"/>
              </a:rPr>
              <a:t>UI Pages  (React JSX)</a:t>
            </a:r>
          </a:p>
        </p:txBody>
      </p:sp>
      <p:sp>
        <p:nvSpPr>
          <p:cNvPr id="14" name="Oval 13"/>
          <p:cNvSpPr/>
          <p:nvPr/>
        </p:nvSpPr>
        <p:spPr>
          <a:xfrm>
            <a:off x="5852160" y="2121408"/>
            <a:ext cx="182880" cy="1828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048256"/>
            <a:ext cx="2743200" cy="347472"/>
          </a:xfrm>
          <a:prstGeom prst="rect">
            <a:avLst/>
          </a:prstGeom>
          <a:noFill/>
        </p:spPr>
        <p:txBody>
          <a:bodyPr wrap="square">
            <a:spAutoFit/>
          </a:bodyPr>
          <a:lstStyle/>
          <a:p>
            <a:pPr algn="l"/>
            <a:r>
              <a:rPr sz="1000" b="0" i="0">
                <a:solidFill>
                  <a:srgbClr val="E0F0FF"/>
                </a:solidFill>
                <a:latin typeface="Calibri"/>
              </a:rPr>
              <a:t>AppContext  — Global State</a:t>
            </a:r>
          </a:p>
        </p:txBody>
      </p:sp>
      <p:sp>
        <p:nvSpPr>
          <p:cNvPr id="16" name="Oval 15"/>
          <p:cNvSpPr/>
          <p:nvPr/>
        </p:nvSpPr>
        <p:spPr>
          <a:xfrm>
            <a:off x="5852160" y="2596896"/>
            <a:ext cx="182880" cy="1828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2523744"/>
            <a:ext cx="2743200" cy="347472"/>
          </a:xfrm>
          <a:prstGeom prst="rect">
            <a:avLst/>
          </a:prstGeom>
          <a:noFill/>
        </p:spPr>
        <p:txBody>
          <a:bodyPr wrap="square">
            <a:spAutoFit/>
          </a:bodyPr>
          <a:lstStyle/>
          <a:p>
            <a:pPr algn="l"/>
            <a:r>
              <a:rPr sz="1000" b="0" i="0">
                <a:solidFill>
                  <a:srgbClr val="E0F0FF"/>
                </a:solidFill>
                <a:latin typeface="Calibri"/>
              </a:rPr>
              <a:t>Algorithm Engines  (Dijkstra / A*)</a:t>
            </a:r>
          </a:p>
        </p:txBody>
      </p:sp>
      <p:sp>
        <p:nvSpPr>
          <p:cNvPr id="18" name="Oval 17"/>
          <p:cNvSpPr/>
          <p:nvPr/>
        </p:nvSpPr>
        <p:spPr>
          <a:xfrm>
            <a:off x="5852160" y="3072384"/>
            <a:ext cx="182880" cy="182880"/>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2999232"/>
            <a:ext cx="2743200" cy="347472"/>
          </a:xfrm>
          <a:prstGeom prst="rect">
            <a:avLst/>
          </a:prstGeom>
          <a:noFill/>
        </p:spPr>
        <p:txBody>
          <a:bodyPr wrap="square">
            <a:spAutoFit/>
          </a:bodyPr>
          <a:lstStyle/>
          <a:p>
            <a:pPr algn="l"/>
            <a:r>
              <a:rPr sz="1000" b="0" i="0">
                <a:solidFill>
                  <a:srgbClr val="E0F0FF"/>
                </a:solidFill>
                <a:latin typeface="Calibri"/>
              </a:rPr>
              <a:t>CityGraph  — Adjacency List</a:t>
            </a:r>
          </a:p>
        </p:txBody>
      </p:sp>
      <p:sp>
        <p:nvSpPr>
          <p:cNvPr id="20" name="Oval 19"/>
          <p:cNvSpPr/>
          <p:nvPr/>
        </p:nvSpPr>
        <p:spPr>
          <a:xfrm>
            <a:off x="5852160" y="3547872"/>
            <a:ext cx="182880" cy="1828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3474720"/>
            <a:ext cx="2743200" cy="347472"/>
          </a:xfrm>
          <a:prstGeom prst="rect">
            <a:avLst/>
          </a:prstGeom>
          <a:noFill/>
        </p:spPr>
        <p:txBody>
          <a:bodyPr wrap="square">
            <a:spAutoFit/>
          </a:bodyPr>
          <a:lstStyle/>
          <a:p>
            <a:pPr algn="l"/>
            <a:r>
              <a:rPr sz="1000" b="0" i="0">
                <a:solidFill>
                  <a:srgbClr val="E0F0FF"/>
                </a:solidFill>
                <a:latin typeface="Calibri"/>
              </a:rPr>
              <a:t>Mapbox  driving-traffic  API</a:t>
            </a:r>
          </a:p>
        </p:txBody>
      </p:sp>
      <p:sp>
        <p:nvSpPr>
          <p:cNvPr id="22" name="Oval 21"/>
          <p:cNvSpPr/>
          <p:nvPr/>
        </p:nvSpPr>
        <p:spPr>
          <a:xfrm>
            <a:off x="5852160" y="4023360"/>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80" y="3950208"/>
            <a:ext cx="2743200" cy="347472"/>
          </a:xfrm>
          <a:prstGeom prst="rect">
            <a:avLst/>
          </a:prstGeom>
          <a:noFill/>
        </p:spPr>
        <p:txBody>
          <a:bodyPr wrap="square">
            <a:spAutoFit/>
          </a:bodyPr>
          <a:lstStyle/>
          <a:p>
            <a:pPr algn="l"/>
            <a:r>
              <a:rPr sz="1000" b="0" i="0">
                <a:solidFill>
                  <a:srgbClr val="E0F0FF"/>
                </a:solidFill>
                <a:latin typeface="Calibri"/>
              </a:rPr>
              <a:t>localStorage  Persistence</a:t>
            </a:r>
          </a:p>
        </p:txBody>
      </p:sp>
      <p:sp>
        <p:nvSpPr>
          <p:cNvPr id="24" name="Rectangle 23"/>
          <p:cNvSpPr/>
          <p:nvPr/>
        </p:nvSpPr>
        <p:spPr>
          <a:xfrm>
            <a:off x="5806440" y="4517136"/>
            <a:ext cx="3017520" cy="0"/>
          </a:xfrm>
          <a:prstGeom prst="rect">
            <a:avLst/>
          </a:prstGeom>
          <a:no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06440" y="4590288"/>
            <a:ext cx="3063240" cy="256032"/>
          </a:xfrm>
          <a:prstGeom prst="rect">
            <a:avLst/>
          </a:prstGeom>
          <a:noFill/>
        </p:spPr>
        <p:txBody>
          <a:bodyPr wrap="square">
            <a:spAutoFit/>
          </a:bodyPr>
          <a:lstStyle/>
          <a:p>
            <a:pPr algn="l"/>
            <a:r>
              <a:rPr sz="1000" b="1" i="0">
                <a:solidFill>
                  <a:srgbClr val="00B4D8"/>
                </a:solidFill>
                <a:latin typeface="Calibri"/>
              </a:rPr>
              <a:t>Data Flow</a:t>
            </a:r>
          </a:p>
        </p:txBody>
      </p:sp>
      <p:sp>
        <p:nvSpPr>
          <p:cNvPr id="26" name="TextBox 25"/>
          <p:cNvSpPr txBox="1"/>
          <p:nvPr/>
        </p:nvSpPr>
        <p:spPr>
          <a:xfrm>
            <a:off x="5806440" y="4864607"/>
            <a:ext cx="3063240" cy="914400"/>
          </a:xfrm>
          <a:prstGeom prst="rect">
            <a:avLst/>
          </a:prstGeom>
          <a:noFill/>
        </p:spPr>
        <p:txBody>
          <a:bodyPr wrap="square">
            <a:spAutoFit/>
          </a:bodyPr>
          <a:lstStyle/>
          <a:p>
            <a:pPr algn="l"/>
            <a:r>
              <a:rPr sz="900" b="0" i="1">
                <a:solidFill>
                  <a:srgbClr val="E0F0FF"/>
                </a:solidFill>
                <a:latin typeface="Calibri"/>
              </a:rPr>
              <a:t>Form → AppContext → RecommendationService → Dijkstra SSSP → MapView → Mapbox API → Ambulance Animation</a:t>
            </a:r>
          </a:p>
        </p:txBody>
      </p:sp>
      <p:sp>
        <p:nvSpPr>
          <p:cNvPr id="27" name="Rectangle 26"/>
          <p:cNvSpPr/>
          <p:nvPr/>
        </p:nvSpPr>
        <p:spPr>
          <a:xfrm>
            <a:off x="274320" y="4709160"/>
            <a:ext cx="8595360" cy="274320"/>
          </a:xfrm>
          <a:prstGeom prst="rect">
            <a:avLst/>
          </a:prstGeom>
          <a:solidFill>
            <a:srgbClr val="19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709160"/>
            <a:ext cx="8595360" cy="274320"/>
          </a:xfrm>
          <a:prstGeom prst="rect">
            <a:avLst/>
          </a:prstGeom>
          <a:noFill/>
        </p:spPr>
        <p:txBody>
          <a:bodyPr wrap="square">
            <a:spAutoFit/>
          </a:bodyPr>
          <a:lstStyle/>
          <a:p>
            <a:pPr algn="ctr"/>
            <a:r>
              <a:rPr sz="1000" b="1" i="0">
                <a:solidFill>
                  <a:srgbClr val="00B4D8"/>
                </a:solidFill>
                <a:latin typeface="Calibri"/>
              </a:rPr>
              <a:t>BCS401 ADA  ·  BCS402 OOCJ  ·  BCS403 DBMS  ·  BCS405B Graph Theory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1060</Words>
  <Application>Microsoft Office PowerPoint</Application>
  <PresentationFormat>On-screen Show (16:9)</PresentationFormat>
  <Paragraphs>124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Ambulance Routing and Hospital Allocation System</dc:title>
  <dc:subject>PptxGenJS Presentation</dc:subject>
  <dc:creator>PptxGenJS</dc:creator>
  <cp:lastModifiedBy>Shreya Talikoti</cp:lastModifiedBy>
  <cp:revision>2</cp:revision>
  <dcterms:created xsi:type="dcterms:W3CDTF">2026-05-09T11:03:16Z</dcterms:created>
  <dcterms:modified xsi:type="dcterms:W3CDTF">2026-05-09T11:37:07Z</dcterms:modified>
</cp:coreProperties>
</file>