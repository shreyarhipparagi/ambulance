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3657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</a:rPr>
              <a:t>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Smart Ambulance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6B6D4"/>
                </a:solidFill>
              </a:rPr>
              <a:t>&amp; Hospital Allocation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2834640"/>
            <a:ext cx="7616952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</a:rPr>
              <a:t>Real-time emergency response powered by Dijkstra, A*, BFS/DFS &amp; Mapbox live traffic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749039"/>
            <a:ext cx="1371600" cy="256032"/>
          </a:xfrm>
          <a:prstGeom prst="rect">
            <a:avLst/>
          </a:prstGeom>
          <a:solidFill>
            <a:srgbClr val="EF444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3767327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BCS401  ADA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3749039"/>
            <a:ext cx="1371600" cy="256032"/>
          </a:xfrm>
          <a:prstGeom prst="rect">
            <a:avLst/>
          </a:prstGeom>
          <a:solidFill>
            <a:srgbClr val="374BD0"/>
          </a:solidFill>
          <a:ln w="19050">
            <a:solidFill>
              <a:srgbClr val="374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3767327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BCS402  OOCJ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749039"/>
            <a:ext cx="1371600" cy="256032"/>
          </a:xfrm>
          <a:prstGeom prst="rect">
            <a:avLst/>
          </a:prstGeom>
          <a:solidFill>
            <a:srgbClr val="F59E0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767327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BCS403  DBMS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3749039"/>
            <a:ext cx="1371600" cy="256032"/>
          </a:xfrm>
          <a:prstGeom prst="rect">
            <a:avLst/>
          </a:prstGeom>
          <a:solidFill>
            <a:srgbClr val="6D28D9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3767327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BCS405B GT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Shreya R Hipparagi  |  VTU 4th Semester CSE  |  2025–26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D78"/>
                </a:solidFill>
              </a:rPr>
              <a:t>South Bangalore Region  ·  JSSATE Uttarahalli Campus Area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102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Why do ambulances take the wrong route?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669280" cy="2103120"/>
          </a:xfrm>
          <a:prstGeom prst="rect">
            <a:avLst/>
          </a:prstGeom>
          <a:solidFill>
            <a:srgbClr val="0D15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⏱️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38988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</a:rPr>
              <a:t>Golden Hour Crisis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Ambulances lose precious minutes on wrong routes. Every 10 seconds matters in cardiac &amp; trauma emergencies.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5669280" cy="2103120"/>
          </a:xfrm>
          <a:prstGeom prst="rect">
            <a:avLst/>
          </a:prstGeom>
          <a:solidFill>
            <a:srgbClr val="0D15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71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38988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</a:rPr>
              <a:t>No Hospital Awareness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74519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Ambulances rush to the nearest hospital — but it may have zero ICU beds or no cardiac specialist.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5669280" cy="2103120"/>
          </a:xfrm>
          <a:prstGeom prst="rect">
            <a:avLst/>
          </a:prstGeom>
          <a:solidFill>
            <a:srgbClr val="0D15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4903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6732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</a:rPr>
              <a:t>Traffic Blindness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5196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Static routing ignores live congestion. Shortest distance ≠ fastest path during peak hours.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657600"/>
            <a:ext cx="5669280" cy="2103120"/>
          </a:xfrm>
          <a:prstGeom prst="rect">
            <a:avLst/>
          </a:prstGeom>
          <a:solidFill>
            <a:srgbClr val="0D15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74903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76732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</a:rPr>
              <a:t>Manual Decision Making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25196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Dispatchers rely on memory and radio calls. No algorithmic optimization for multi-hospital scenarios.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102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End-to-end component interaction &amp; data flow</a:t>
            </a:r>
          </a:p>
        </p:txBody>
      </p:sp>
      <p:pic>
        <p:nvPicPr>
          <p:cNvPr id="7" name="Picture 6" descr="architecture_diagram_17799852468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315200" cy="5577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63840" y="1097280"/>
            <a:ext cx="4114800" cy="5577840"/>
          </a:xfrm>
          <a:prstGeom prst="rect">
            <a:avLst/>
          </a:prstGeom>
          <a:solidFill>
            <a:srgbClr val="0D152A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188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18CF8"/>
                </a:solidFill>
              </a:rPr>
              <a:t>Component Legend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764792"/>
            <a:ext cx="201168" cy="2011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16916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UI Pages (React JSX)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359152"/>
            <a:ext cx="2011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7" y="22860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AppContext — Global 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953512"/>
            <a:ext cx="201168" cy="2011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8803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Algorithm Engines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3547872"/>
            <a:ext cx="201168" cy="20116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34747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CityGraph (Data)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4142232"/>
            <a:ext cx="2011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4069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External: Mapbox 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4736592"/>
            <a:ext cx="2011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7" y="46634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localStorage Persistence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53949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Data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5715000"/>
            <a:ext cx="3840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User Input → AppContext → RecommendationService → Dijkstra SSSP → Ranked Results → MapView → Mapbox Traffic API → Animation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102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Algorithm Engines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BCS401 ADA  ·  BCS405B Graph Theory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669280" cy="2423160"/>
          </a:xfrm>
          <a:prstGeom prst="rect">
            <a:avLst/>
          </a:prstGeom>
          <a:solidFill>
            <a:srgbClr val="0D15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3258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B6D4"/>
                </a:solidFill>
              </a:rPr>
              <a:t>Dijkstra SSSP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344168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6B6D4"/>
                </a:solidFill>
              </a:rPr>
              <a:t>O((V+E) log 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Binary Min-Heap Priority 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3055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Relaxes edges: dist[v] = min(dist[v], dist[u]+w)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7802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Handles traffic multipliers: w_eff = w × traffic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2549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Captures every step for visualizer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Used in RecommendationService per hospital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5669280" cy="2423160"/>
          </a:xfrm>
          <a:prstGeom prst="rect">
            <a:avLst/>
          </a:prstGeom>
          <a:solidFill>
            <a:srgbClr val="0D15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3258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</a:rPr>
              <a:t>A*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1344168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0B981"/>
                </a:solidFill>
              </a:rPr>
              <a:t>O((V+E) log V)*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78308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Haversine GPS heuristic: h(n) = great-circle dist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3055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f(n) = g(n) + h(n)  →  priority in queue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7802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Admissible: never overestimates → optimal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2549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Converges faster than Dijkstra on geospatial graphs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17296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Same step trace format as Dijkstra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40480"/>
            <a:ext cx="5669280" cy="2423160"/>
          </a:xfrm>
          <a:prstGeom prst="rect">
            <a:avLst/>
          </a:prstGeom>
          <a:solidFill>
            <a:srgbClr val="0D15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3931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9E0B"/>
                </a:solidFill>
              </a:rPr>
              <a:t>BFS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950208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59E0B"/>
                </a:solidFill>
              </a:rPr>
              <a:t>O(V+E)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3891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Queue-based level-order traversal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3659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Shortest path by hop count (not weighted)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08406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Illustrates frontier expansion visually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43153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Educational: shows graph connectivity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77900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Complete: always finds a path if one exists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840480"/>
            <a:ext cx="5669280" cy="2423160"/>
          </a:xfrm>
          <a:prstGeom prst="rect">
            <a:avLst/>
          </a:prstGeom>
          <a:solidFill>
            <a:srgbClr val="0D152A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931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18CF8"/>
                </a:solidFill>
              </a:rPr>
              <a:t>DFS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3950208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818CF8"/>
                </a:solidFill>
              </a:rPr>
              <a:t>O(V+E)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3891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Stack-based deep exploration with backtracking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73659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May not find optimal path in weighted graph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08406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Shows recursion / call-stack behavior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43153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Educational: illustrates graph reachability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77900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Demonstrates backtracking algorithm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102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City Graph — Real Bangalore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BCS405B Graph Theory  ·  13 nodes, 23 edges, 6 hospitals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2743200" cy="868680"/>
          </a:xfrm>
          <a:prstGeom prst="rect">
            <a:avLst/>
          </a:prstGeom>
          <a:solidFill>
            <a:srgbClr val="0D15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6B6D4"/>
                </a:solidFill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91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Graph Nodes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143000"/>
            <a:ext cx="2743200" cy="868680"/>
          </a:xfrm>
          <a:prstGeom prst="rect">
            <a:avLst/>
          </a:prstGeom>
          <a:solidFill>
            <a:srgbClr val="0D152A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11887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818CF8"/>
                </a:solidFill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1691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Road Edges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1143000"/>
            <a:ext cx="2743200" cy="868680"/>
          </a:xfrm>
          <a:prstGeom prst="rect">
            <a:avLst/>
          </a:prstGeom>
          <a:solidFill>
            <a:srgbClr val="0D15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11887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1691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Hospitals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98864" y="1143000"/>
            <a:ext cx="2743200" cy="868680"/>
          </a:xfrm>
          <a:prstGeom prst="rect">
            <a:avLst/>
          </a:prstGeom>
          <a:solidFill>
            <a:srgbClr val="0D15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98864" y="11887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F4444"/>
                </a:solidFill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4" y="1691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Emergency Types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194560"/>
            <a:ext cx="11612880" cy="347472"/>
          </a:xfrm>
          <a:prstGeom prst="rect">
            <a:avLst/>
          </a:prstGeom>
          <a:solidFill>
            <a:srgbClr val="06B6D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23113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#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23113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Hospital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223113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Node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19" y="223113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Specializations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223113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ICU Beds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42032"/>
            <a:ext cx="11612880" cy="420624"/>
          </a:xfrm>
          <a:prstGeom prst="rect">
            <a:avLst/>
          </a:prstGeom>
          <a:solidFill>
            <a:srgbClr val="0D152A"/>
          </a:solidFill>
          <a:ln w="6350">
            <a:solidFill>
              <a:srgbClr val="1E2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606039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H1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2606039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RRMCH Mysore Road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1999" y="2606039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4"/>
                </a:solidFill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19" y="2606039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GENERAL, TRAUMA, MATERNITY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2606039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1 /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980944"/>
            <a:ext cx="11612880" cy="420624"/>
          </a:xfrm>
          <a:prstGeom prst="rect">
            <a:avLst/>
          </a:prstGeom>
          <a:solidFill>
            <a:srgbClr val="101C34"/>
          </a:solidFill>
          <a:ln w="6350">
            <a:solidFill>
              <a:srgbClr val="1E2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044951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H2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044951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Sagar Hospitals DSI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1999" y="3044951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4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19" y="3044951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TRAUMA, BURNS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3044951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3 / 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419856"/>
            <a:ext cx="11612880" cy="420624"/>
          </a:xfrm>
          <a:prstGeom prst="rect">
            <a:avLst/>
          </a:prstGeom>
          <a:solidFill>
            <a:srgbClr val="0D152A"/>
          </a:solidFill>
          <a:ln w="6350">
            <a:solidFill>
              <a:srgbClr val="1E2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3483863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H3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483863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BGS Gleneagles Global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1999" y="3483863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4"/>
                </a:solidFill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4919" y="3483863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CARDIAC, GENERAL, MATERNITY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80" y="3483863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2 / 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858768"/>
            <a:ext cx="11612880" cy="420624"/>
          </a:xfrm>
          <a:prstGeom prst="rect">
            <a:avLst/>
          </a:prstGeom>
          <a:solidFill>
            <a:srgbClr val="101C34"/>
          </a:solidFill>
          <a:ln w="6350">
            <a:solidFill>
              <a:srgbClr val="1E2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3922776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H4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392277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Astra Super Speciality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1999" y="3922776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4"/>
                </a:solidFill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74919" y="392277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NEURO, GENERAL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41080" y="3922776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4 / 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297679"/>
            <a:ext cx="11612880" cy="420624"/>
          </a:xfrm>
          <a:prstGeom prst="rect">
            <a:avLst/>
          </a:prstGeom>
          <a:solidFill>
            <a:srgbClr val="0D152A"/>
          </a:solidFill>
          <a:ln w="6350">
            <a:solidFill>
              <a:srgbClr val="1E2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436168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H5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436168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Apollo Hospital Bannerghatta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1999" y="436168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4"/>
                </a:solidFill>
              </a:rPr>
              <a:t>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74919" y="436168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CARDIAC, NEURO, BURNS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41080" y="43616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5 / 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736592"/>
            <a:ext cx="11612880" cy="420624"/>
          </a:xfrm>
          <a:prstGeom prst="rect">
            <a:avLst/>
          </a:prstGeom>
          <a:solidFill>
            <a:srgbClr val="101C34"/>
          </a:solidFill>
          <a:ln w="6350">
            <a:solidFill>
              <a:srgbClr val="1E2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80060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H6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480060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Fortis Hospital Bannerghatta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1999" y="4800600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4"/>
                </a:solidFill>
              </a:rPr>
              <a:t>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74919" y="48006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CARDIAC, TRAUMA, NEURO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41080" y="480060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4 / 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D78"/>
                </a:solidFill>
              </a:rPr>
              <a:t>★  All node coordinates GPS-verified for Bangalore  ·  Edges are bidirectional with traffic multipliers (1.0 – 2.0)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102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Database Schema (DBMS)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BCS403  ·  8 relational tables  ·  3NF normalized  ·  localStorage persistence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3749039" cy="1719072"/>
          </a:xfrm>
          <a:prstGeom prst="rect">
            <a:avLst/>
          </a:prstGeom>
          <a:solidFill>
            <a:srgbClr val="0D15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88720"/>
            <a:ext cx="35661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patients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49047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  patient_id PK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76479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03911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31343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blood_group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58775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contact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143000"/>
            <a:ext cx="3749039" cy="1719072"/>
          </a:xfrm>
          <a:prstGeom prst="rect">
            <a:avLst/>
          </a:prstGeom>
          <a:solidFill>
            <a:srgbClr val="0D15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59" y="1188720"/>
            <a:ext cx="35661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location_nodes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59" y="149047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  node_id PK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59" y="176479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203911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area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231343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lat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258775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lng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1143000"/>
            <a:ext cx="3749039" cy="1719072"/>
          </a:xfrm>
          <a:prstGeom prst="rect">
            <a:avLst/>
          </a:prstGeom>
          <a:solidFill>
            <a:srgbClr val="0D15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1188720"/>
            <a:ext cx="35661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road_edges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149047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  edge_id PK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176479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</a:rPr>
              <a:t>  from_node FK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203911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</a:rPr>
              <a:t>  to_node FK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231343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weight_km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258775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traffic_mult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3200400"/>
            <a:ext cx="3749039" cy="1719072"/>
          </a:xfrm>
          <a:prstGeom prst="rect">
            <a:avLst/>
          </a:prstGeom>
          <a:solidFill>
            <a:srgbClr val="0D15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246120"/>
            <a:ext cx="35661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hospitals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354787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  hospital_id PK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3822191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name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096511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address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4370831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contact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464515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</a:rPr>
              <a:t>  node_id FK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60520" y="3200400"/>
            <a:ext cx="3749039" cy="1170431"/>
          </a:xfrm>
          <a:prstGeom prst="rect">
            <a:avLst/>
          </a:prstGeom>
          <a:solidFill>
            <a:srgbClr val="0D152A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59" y="3246120"/>
            <a:ext cx="35661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</a:rPr>
              <a:t>hospital_specializations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59" y="354787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  spec_id PK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1959" y="3822191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</a:rPr>
              <a:t>  hospital_id FK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59" y="4096511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emergency_type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92440" y="3200400"/>
            <a:ext cx="3749039" cy="1993391"/>
          </a:xfrm>
          <a:prstGeom prst="rect">
            <a:avLst/>
          </a:prstGeom>
          <a:solidFill>
            <a:srgbClr val="0D152A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879" y="3246120"/>
            <a:ext cx="35661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18CF8"/>
                </a:solidFill>
              </a:rPr>
              <a:t>hospital_resources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79" y="354787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  resource_id PK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79" y="3822191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</a:rPr>
              <a:t>  hospital_id FK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79" y="4096511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icu_total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79" y="4370831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icu_avail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79" y="464515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gen_total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79" y="491947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gen_avail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5029200"/>
            <a:ext cx="5029200" cy="1993391"/>
          </a:xfrm>
          <a:prstGeom prst="rect">
            <a:avLst/>
          </a:prstGeom>
          <a:solidFill>
            <a:srgbClr val="0D15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507492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emergency_cases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537667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  case_id PK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" y="565099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</a:rPr>
              <a:t>  patient_id FK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" y="59253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</a:rPr>
              <a:t>  source_node FK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" y="6199631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emergency_type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" y="647395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needs_icu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040" y="674827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timestamp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0" y="5029200"/>
            <a:ext cx="6400800" cy="1993391"/>
          </a:xfrm>
          <a:prstGeom prst="rect">
            <a:avLst/>
          </a:prstGeom>
          <a:solidFill>
            <a:srgbClr val="0D15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77840" y="5074920"/>
            <a:ext cx="6217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allocations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77840" y="5376672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  allocation_id PK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77840" y="5650992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</a:rPr>
              <a:t>  case_id FK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77840" y="5925312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</a:rPr>
              <a:t>  hospital_id FK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77840" y="6199631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route_cost_km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77840" y="6473952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path_nodes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77840" y="6748272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algorithm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" y="6309360"/>
            <a:ext cx="11704320" cy="411480"/>
          </a:xfrm>
          <a:prstGeom prst="rect">
            <a:avLst/>
          </a:prstGeom>
          <a:solidFill>
            <a:srgbClr val="05191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63550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💾  localStorage persistence:  emergency_history  |  hospital_beds  |  theme  (no backend — pure browser storage)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102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Live Map &amp; Traffic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BCS405B Graph Theory  ·  Mapbox GL JS  ·  driving-traffic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69280" cy="1188720"/>
          </a:xfrm>
          <a:prstGeom prst="rect">
            <a:avLst/>
          </a:prstGeom>
          <a:solidFill>
            <a:srgbClr val="0D15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2618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26187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Mapbox Streets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4892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streets-v12 style — real OSM base map centered on JSSATE Bangalore region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669280" cy="1188720"/>
          </a:xfrm>
          <a:prstGeom prst="rect">
            <a:avLst/>
          </a:prstGeom>
          <a:solidFill>
            <a:srgbClr val="0D152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2618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26187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Live Traffic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645920"/>
            <a:ext cx="4892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driving-traffic API profile — real-time congestion-aware route (not just static roads)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514600"/>
            <a:ext cx="5669280" cy="1188720"/>
          </a:xfrm>
          <a:prstGeom prst="rect">
            <a:avLst/>
          </a:prstGeom>
          <a:solidFill>
            <a:srgbClr val="0D15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5877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58775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Congestion Color 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971800"/>
            <a:ext cx="4892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Per-segment colors: 🟢 Low  🟡 Moderate  🔴 Heavy  ●  Severe — from Mapbox annotations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514600"/>
            <a:ext cx="5669280" cy="1188720"/>
          </a:xfrm>
          <a:prstGeom prst="rect">
            <a:avLst/>
          </a:prstGeom>
          <a:solidFill>
            <a:srgbClr val="0D15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25877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58775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Ambulance Animation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971800"/>
            <a:ext cx="4892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Turf.js along-path interpolation at 60fps. Bearing offset -90° so emoji faces direction of travel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40480"/>
            <a:ext cx="5669280" cy="1188720"/>
          </a:xfrm>
          <a:prstGeom prst="rect">
            <a:avLst/>
          </a:prstGeom>
          <a:solidFill>
            <a:srgbClr val="0D152A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9136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91363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18CF8"/>
                </a:solidFill>
              </a:rPr>
              <a:t>Distance Badges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297680"/>
            <a:ext cx="4892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km labels float at midpoint of each of 23 edges on the map canvas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840480"/>
            <a:ext cx="5669280" cy="1188720"/>
          </a:xfrm>
          <a:prstGeom prst="rect">
            <a:avLst/>
          </a:prstGeom>
          <a:solidFill>
            <a:srgbClr val="0D15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39136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91363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Live Stats Bar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297680"/>
            <a:ext cx="4892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Real-time: Mapbox distance, ETA, dominant congestion level, last-updated timestamp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166359"/>
            <a:ext cx="5669280" cy="1188720"/>
          </a:xfrm>
          <a:prstGeom prst="rect">
            <a:avLst/>
          </a:prstGeom>
          <a:solidFill>
            <a:srgbClr val="0D15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52395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Refresh Route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623559"/>
            <a:ext cx="4892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Re-fetches route from Mapbox at any time to get updated traffic conditions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5166359"/>
            <a:ext cx="5669280" cy="1188720"/>
          </a:xfrm>
          <a:prstGeom prst="rect">
            <a:avLst/>
          </a:prstGeom>
          <a:solidFill>
            <a:srgbClr val="0D152A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52395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23951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C4899"/>
                </a:solidFill>
              </a:rPr>
              <a:t>13 Real GPS Nodes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623559"/>
            <a:ext cx="4892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Verified coordinates: JSSATE, BGS, RRMCH, Apollo, Fortis, Sagar, Kengeri, BSK...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102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Bug Fixes &amp; Quality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13 bugs identified and resolved during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97280"/>
            <a:ext cx="11887200" cy="320040"/>
          </a:xfrm>
          <a:prstGeom prst="rect">
            <a:avLst/>
          </a:prstGeom>
          <a:solidFill>
            <a:srgbClr val="06B6D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33856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Sev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33856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Bug 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13385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59" y="1133856"/>
            <a:ext cx="5943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Fix Applied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417319"/>
            <a:ext cx="11887200" cy="384048"/>
          </a:xfrm>
          <a:prstGeom prst="rect">
            <a:avLst/>
          </a:prstGeom>
          <a:solidFill>
            <a:srgbClr val="0D152A"/>
          </a:solidFill>
          <a:ln w="5080">
            <a:solidFill>
              <a:srgbClr val="1E2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4813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</a:rPr>
              <a:t>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4813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History wiped on page refresh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1481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AppContext.jsx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59" y="148132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Persisted to localStorage['emergency_history'] via useEffect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1810511"/>
            <a:ext cx="11887200" cy="384048"/>
          </a:xfrm>
          <a:prstGeom prst="rect">
            <a:avLst/>
          </a:prstGeom>
          <a:solidFill>
            <a:srgbClr val="101C34"/>
          </a:solidFill>
          <a:ln w="5080">
            <a:solidFill>
              <a:srgbClr val="1E2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187451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</a:rPr>
              <a:t>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Hospital bed edits lost on refresh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187451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AppContext.jsx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59" y="1874519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Merged saved beds from localStorage on init; persist on every updateBeds()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2203703"/>
            <a:ext cx="11887200" cy="384048"/>
          </a:xfrm>
          <a:prstGeom prst="rect">
            <a:avLst/>
          </a:prstGeom>
          <a:solidFill>
            <a:srgbClr val="0D152A"/>
          </a:solidFill>
          <a:ln w="5080">
            <a:solidFill>
              <a:srgbClr val="1E2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226771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</a:rPr>
              <a:t>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26771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MATERNITY → No Hospital Found (always)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2267711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cityData.js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59" y="2267711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Added MATERNITY to RRMCH (H1) and BGS Gleneagles (H3) specializations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2596896"/>
            <a:ext cx="11887200" cy="384048"/>
          </a:xfrm>
          <a:prstGeom prst="rect">
            <a:avLst/>
          </a:prstGeom>
          <a:solidFill>
            <a:srgbClr val="101C34"/>
          </a:solidFill>
          <a:ln w="5080">
            <a:solidFill>
              <a:srgbClr val="1E2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2660903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266090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Edge e14 waypoint missed Node 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2660903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cityData.js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59" y="2660903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Fixed last coord to [77.4810, 12.9115] — exact Node 9 GPS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2990087"/>
            <a:ext cx="11887200" cy="384048"/>
          </a:xfrm>
          <a:prstGeom prst="rect">
            <a:avLst/>
          </a:prstGeom>
          <a:solidFill>
            <a:srgbClr val="0D152A"/>
          </a:solidFill>
          <a:ln w="5080">
            <a:solidFill>
              <a:srgbClr val="1E2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3054095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05409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needsIcu missing from history records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3054095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AppContext.jsx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59" y="3054095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Added needsIcu: request.needsIcu to addToHistory() call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3383279"/>
            <a:ext cx="11887200" cy="384048"/>
          </a:xfrm>
          <a:prstGeom prst="rect">
            <a:avLst/>
          </a:prstGeom>
          <a:solidFill>
            <a:srgbClr val="101C34"/>
          </a:solidFill>
          <a:ln w="5080">
            <a:solidFill>
              <a:srgbClr val="1E2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344728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344728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ETA speed 40 km/h (too slow)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39" y="344728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Results.jsx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59" y="3447287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Changed to 50 km/h — realistic for Bangalore emergency vehicles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3776472"/>
            <a:ext cx="11887200" cy="384048"/>
          </a:xfrm>
          <a:prstGeom prst="rect">
            <a:avLst/>
          </a:prstGeom>
          <a:solidFill>
            <a:srgbClr val="0D152A"/>
          </a:solidFill>
          <a:ln w="5080">
            <a:solidFill>
              <a:srgbClr val="1E2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3840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3840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sourceLocationId string vs number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39" y="3840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EmergencyEntry.jsx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59" y="38404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Added parseInt() on select onChange; consistent number type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4169663"/>
            <a:ext cx="11887200" cy="384048"/>
          </a:xfrm>
          <a:prstGeom prst="rect">
            <a:avLst/>
          </a:prstGeom>
          <a:solidFill>
            <a:srgbClr val="101C34"/>
          </a:solidFill>
          <a:ln w="5080">
            <a:solidFill>
              <a:srgbClr val="1E2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42336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42336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JSS campus loop in ambulance route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42336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cityData.js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52159" y="423367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Moved Node 1 to main road junction (12.9060, 77.5028)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" y="4562856"/>
            <a:ext cx="11887200" cy="384048"/>
          </a:xfrm>
          <a:prstGeom prst="rect">
            <a:avLst/>
          </a:prstGeom>
          <a:solidFill>
            <a:srgbClr val="0D152A"/>
          </a:solidFill>
          <a:ln w="5080">
            <a:solidFill>
              <a:srgbClr val="1E2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62686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46268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Static driving profile (no traffic)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49039" y="46268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MapView.jsx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52159" y="462686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Switched to driving-traffic Mapbox profile with congestion annotations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4956048"/>
            <a:ext cx="11887200" cy="384048"/>
          </a:xfrm>
          <a:prstGeom prst="rect">
            <a:avLst/>
          </a:prstGeom>
          <a:solidFill>
            <a:srgbClr val="101C34"/>
          </a:solidFill>
          <a:ln w="5080">
            <a:solidFill>
              <a:srgbClr val="1E2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502005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50200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Ambulance emoji wrong direction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49039" y="502005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MapView.jsx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52159" y="502005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setRotation(bearing − 90) compensates for 🚑 facing east by default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5349240"/>
            <a:ext cx="11887200" cy="384048"/>
          </a:xfrm>
          <a:prstGeom prst="rect">
            <a:avLst/>
          </a:prstGeom>
          <a:solidFill>
            <a:srgbClr val="0D152A"/>
          </a:solidFill>
          <a:ln w="5080">
            <a:solidFill>
              <a:srgbClr val="1E2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4320" y="54132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54132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All roads painted green (traffic tiles)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49039" y="54132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MapView.jsx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52159" y="541324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Removed mapbox-traffic-v1 tile layer; kept route-level segment colors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" y="5742431"/>
            <a:ext cx="11887200" cy="384048"/>
          </a:xfrm>
          <a:prstGeom prst="rect">
            <a:avLst/>
          </a:prstGeom>
          <a:solidFill>
            <a:srgbClr val="101C34"/>
          </a:solidFill>
          <a:ln w="5080">
            <a:solidFill>
              <a:srgbClr val="1E2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" y="5806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🟢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5806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No way to clear history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49039" y="5806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History.jsx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52159" y="58064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Added Clear History button + clearHistory() action in AppContext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8600" y="6135624"/>
            <a:ext cx="11887200" cy="384048"/>
          </a:xfrm>
          <a:prstGeom prst="rect">
            <a:avLst/>
          </a:prstGeom>
          <a:solidFill>
            <a:srgbClr val="0D152A"/>
          </a:solidFill>
          <a:ln w="5080">
            <a:solidFill>
              <a:srgbClr val="1E2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4320" y="61996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🟢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1520" y="61996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Comment said 9 nodes (actually 13)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49039" y="61996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cityData.js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52159" y="619963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Updated comment to '13 nodes'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102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End-to-End Data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From patient form submit to ambulance animation on 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70432"/>
            <a:ext cx="3794760" cy="1737360"/>
          </a:xfrm>
          <a:prstGeom prst="rect">
            <a:avLst/>
          </a:prstGeom>
          <a:solidFill>
            <a:srgbClr val="0D15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1243584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527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618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EmergencyEntry.jsx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819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9E0B"/>
                </a:solidFill>
              </a:rPr>
              <a:t>handleSubmit()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920240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Patient fills form → needsIcu, emergencyType, sourceLocationId (parseInt), patientName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528" y="1170432"/>
            <a:ext cx="3794760" cy="1737360"/>
          </a:xfrm>
          <a:prstGeom prst="rect">
            <a:avLst/>
          </a:prstGeom>
          <a:solidFill>
            <a:srgbClr val="0D15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15968" y="1243584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2527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12618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AppContext.jsx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15819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9E0B"/>
                </a:solidFill>
              </a:rPr>
              <a:t>runRecommendation(request)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1920240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Sets emergencyRequest state, creates RecommendationService, calls service.recommend()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0456" y="1170432"/>
            <a:ext cx="3794760" cy="1737360"/>
          </a:xfrm>
          <a:prstGeom prst="rect">
            <a:avLst/>
          </a:prstGeom>
          <a:solidFill>
            <a:srgbClr val="0D15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11896" y="1243584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6" y="12527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9096" y="12618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RecommendationService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9096" y="15819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9E0B"/>
                </a:solidFill>
              </a:rPr>
              <a:t>recommend(request)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3" y="1920240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Stage 1: filter by specializations. Stage 2: filter by bed availability. Stage 3: Dijkstra per hospital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017520"/>
            <a:ext cx="3794760" cy="1737360"/>
          </a:xfrm>
          <a:prstGeom prst="rect">
            <a:avLst/>
          </a:prstGeom>
          <a:solidFill>
            <a:srgbClr val="0D152A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20040" y="3090672"/>
            <a:ext cx="365760" cy="36576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099815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108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18CF8"/>
                </a:solidFill>
              </a:rPr>
              <a:t>DijkstraEngine.js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429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9E0B"/>
                </a:solidFill>
              </a:rPr>
              <a:t>run(source, target, useTraffic)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" y="3767328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Binary min-heap SSSP: relax edges with w × trafficMultiplier, reconstruct path via previous[]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24528" y="3017520"/>
            <a:ext cx="3794760" cy="1737360"/>
          </a:xfrm>
          <a:prstGeom prst="rect">
            <a:avLst/>
          </a:prstGeom>
          <a:solidFill>
            <a:srgbClr val="0D152A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15968" y="3090672"/>
            <a:ext cx="365760" cy="36576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15968" y="3099815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3108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</a:rPr>
              <a:t>CityGraph.js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73168" y="3429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9E0B"/>
                </a:solidFill>
              </a:rPr>
              <a:t>getNeighbors() + getEffectiveWeight()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34256" y="3767328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Adjacency list lookup → returns neighbors; effective weight = edge.weight × (traffic ? multiplier : 1)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0456" y="3017520"/>
            <a:ext cx="3794760" cy="1737360"/>
          </a:xfrm>
          <a:prstGeom prst="rect">
            <a:avLst/>
          </a:prstGeom>
          <a:solidFill>
            <a:srgbClr val="0D15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11896" y="3090672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11896" y="3099815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69096" y="3108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AppContext.jsx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69096" y="3429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9E0B"/>
                </a:solidFill>
              </a:rPr>
              <a:t>setEmergencyResult() + addToHistory()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0183" y="3767328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Stores ranked hospital results, persists case record to localStorage['emergency_history']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4864608"/>
            <a:ext cx="3794760" cy="1737360"/>
          </a:xfrm>
          <a:prstGeom prst="rect">
            <a:avLst/>
          </a:prstGeom>
          <a:solidFill>
            <a:srgbClr val="0D15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20040" y="493776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494690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49560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Results.jsx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2760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9E0B"/>
                </a:solidFill>
              </a:rPr>
              <a:t>render()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" y="5614416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Displays primary/backup hospitals, ETA (cost/50×60 min), path nodes, filter steps, call button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24528" y="4864608"/>
            <a:ext cx="3794760" cy="1737360"/>
          </a:xfrm>
          <a:prstGeom prst="rect">
            <a:avLst/>
          </a:prstGeom>
          <a:solidFill>
            <a:srgbClr val="0D15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315968" y="493776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15968" y="494690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73168" y="49560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MapView.jsx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73168" y="52760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9E0B"/>
                </a:solidFill>
              </a:rPr>
              <a:t>fetchAndDrawRoute()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34256" y="5614416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Fetches Mapbox driving-traffic route with congestion annotations, draws per-segment colored line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0456" y="4864608"/>
            <a:ext cx="3794760" cy="1737360"/>
          </a:xfrm>
          <a:prstGeom prst="rect">
            <a:avLst/>
          </a:prstGeom>
          <a:solidFill>
            <a:srgbClr val="0D152A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311896" y="4937760"/>
            <a:ext cx="365760" cy="36576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11896" y="494690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</a:rPr>
              <a:t>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69096" y="49560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18CF8"/>
                </a:solidFill>
              </a:rPr>
              <a:t>Turf.js + rAF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69096" y="52760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9E0B"/>
                </a:solidFill>
              </a:rPr>
              <a:t>runAnimation()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30183" y="5614416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along(route, progress×distance) → setLngLat + setRotation(bearing − 90) every frame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102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Academic Syllabus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VTU 4th Semester CSE — all 4 subjects demonstrated end-to-end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669280" cy="2560320"/>
          </a:xfrm>
          <a:prstGeom prst="rect">
            <a:avLst/>
          </a:prstGeom>
          <a:solidFill>
            <a:srgbClr val="0D152A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234440"/>
            <a:ext cx="1371600" cy="256032"/>
          </a:xfrm>
          <a:prstGeom prst="rect">
            <a:avLst/>
          </a:prstGeom>
          <a:solidFill>
            <a:srgbClr val="EF444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25272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293B"/>
                </a:solidFill>
              </a:rPr>
              <a:t>BCS401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2344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Analysis &amp; Design of Algorithms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73352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✓  Dijkstra SSSP — O((V+E) log 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0253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✓  A* Search with GPS heuristic f(n)=g(n)+h(n)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31720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✓  Binary Min-Heap Priority Queue from scratch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60904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✓  BFS &amp; DFS traversal step-by-step visualization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90088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✓  Algorithm comparison across all 4 methods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19272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✓  Traffic-weighted edge relaxation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143000"/>
            <a:ext cx="5669280" cy="2560320"/>
          </a:xfrm>
          <a:prstGeom prst="rect">
            <a:avLst/>
          </a:prstGeom>
          <a:solidFill>
            <a:srgbClr val="0D152A"/>
          </a:solidFill>
          <a:ln w="25400">
            <a:solidFill>
              <a:srgbClr val="374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27648" y="1234440"/>
            <a:ext cx="1371600" cy="256032"/>
          </a:xfrm>
          <a:prstGeom prst="rect">
            <a:avLst/>
          </a:prstGeom>
          <a:solidFill>
            <a:srgbClr val="374BD0"/>
          </a:solidFill>
          <a:ln w="19050">
            <a:solidFill>
              <a:srgbClr val="374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125272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293B"/>
                </a:solidFill>
              </a:rPr>
              <a:t>BCS402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12344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74BD0"/>
                </a:solidFill>
              </a:rPr>
              <a:t>Object Oriented Concepts with Java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73352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✓  CityGraph class — encapsulation + adjacency 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00253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✓  DijkstraEngine, AStarEngine — single responsibility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331720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✓  RecommendationService — dependency injection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660904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✓  AppContext — singleton state pattern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990088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✓  PriorityQueue — clean class interface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319272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✓  React components — modular OO design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840480"/>
            <a:ext cx="5669280" cy="2560320"/>
          </a:xfrm>
          <a:prstGeom prst="rect">
            <a:avLst/>
          </a:prstGeom>
          <a:solidFill>
            <a:srgbClr val="0D152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048" y="3931920"/>
            <a:ext cx="1371600" cy="256032"/>
          </a:xfrm>
          <a:prstGeom prst="rect">
            <a:avLst/>
          </a:prstGeom>
          <a:solidFill>
            <a:srgbClr val="F59E0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3950207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293B"/>
                </a:solidFill>
              </a:rPr>
              <a:t>BCS403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39319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Database Management Systems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370832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✓  8-table relational schema in 3NF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70001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✓  ER Diagram — PK/FK, 1:N and 1:1 relationships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029200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✓  CRUD on hospital resources (Hospitals page)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358384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✓  Persistent audit log (localStorage → History page)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687568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✓  Query simulation: filter by specialization + beds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016752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✓  Transaction logging: addToHistory() on each case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840480"/>
            <a:ext cx="5669280" cy="2560320"/>
          </a:xfrm>
          <a:prstGeom prst="rect">
            <a:avLst/>
          </a:prstGeom>
          <a:solidFill>
            <a:srgbClr val="0D152A"/>
          </a:solidFill>
          <a:ln w="254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27648" y="3931920"/>
            <a:ext cx="1371600" cy="256032"/>
          </a:xfrm>
          <a:prstGeom prst="rect">
            <a:avLst/>
          </a:prstGeom>
          <a:solidFill>
            <a:srgbClr val="6D28D9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3368" y="3950207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293B"/>
                </a:solidFill>
              </a:rPr>
              <a:t>BCS405B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39319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D28D9"/>
                </a:solidFill>
              </a:rPr>
              <a:t>Graph Theory &amp; Applications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370832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✓  Graph G = (V=13, E=23) weighted undirected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70001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✓  Adjacency list representation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029200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✓  Reachability &amp; degree analysis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358384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✓  BFS/DFS traversal proofs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687568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✓  Dijkstra &amp; A* SSSP on spatial graph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6016752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✓  Real GPS coordinate mapping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88952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88952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828800"/>
            <a:ext cx="12188952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286000"/>
            <a:ext cx="12188952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743200"/>
            <a:ext cx="12188952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200400"/>
            <a:ext cx="12188952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657600"/>
            <a:ext cx="12188952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114800"/>
            <a:ext cx="12188952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4572000"/>
            <a:ext cx="12188952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486400"/>
            <a:ext cx="12188952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943600"/>
            <a:ext cx="12188952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5029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</a:rPr>
              <a:t>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417320"/>
            <a:ext cx="10360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212848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6B6D4"/>
                </a:solidFill>
              </a:rPr>
              <a:t>Smart Ambulance Routing &amp; Hospital Allocation System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926080"/>
            <a:ext cx="1691640" cy="914400"/>
          </a:xfrm>
          <a:prstGeom prst="rect">
            <a:avLst/>
          </a:prstGeom>
          <a:solidFill>
            <a:srgbClr val="0D15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99923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B6D4"/>
                </a:solidFill>
              </a:rPr>
              <a:t>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45643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Graph Nodes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39" y="2926080"/>
            <a:ext cx="1691640" cy="914400"/>
          </a:xfrm>
          <a:prstGeom prst="rect">
            <a:avLst/>
          </a:prstGeom>
          <a:solidFill>
            <a:srgbClr val="0D15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39" y="299923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B6D4"/>
                </a:solidFill>
              </a:rPr>
              <a:t>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39" y="345643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Road Edges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59" y="2926080"/>
            <a:ext cx="1691640" cy="914400"/>
          </a:xfrm>
          <a:prstGeom prst="rect">
            <a:avLst/>
          </a:prstGeom>
          <a:solidFill>
            <a:srgbClr val="0D15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59" y="299923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B6D4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59" y="345643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Hospitals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79" y="2926080"/>
            <a:ext cx="1691640" cy="914400"/>
          </a:xfrm>
          <a:prstGeom prst="rect">
            <a:avLst/>
          </a:prstGeom>
          <a:solidFill>
            <a:srgbClr val="0D15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79" y="299923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B6D4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79" y="345643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Algorithms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1000" y="2926080"/>
            <a:ext cx="1691640" cy="914400"/>
          </a:xfrm>
          <a:prstGeom prst="rect">
            <a:avLst/>
          </a:prstGeom>
          <a:solidFill>
            <a:srgbClr val="0D15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0" y="299923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B6D4"/>
                </a:solidFill>
              </a:rPr>
              <a:t>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345643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Bugs Fixed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75520" y="2926080"/>
            <a:ext cx="1691640" cy="914400"/>
          </a:xfrm>
          <a:prstGeom prst="rect">
            <a:avLst/>
          </a:prstGeom>
          <a:solidFill>
            <a:srgbClr val="0D15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0" y="299923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B6D4"/>
                </a:solidFill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345643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localStorage Keys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4023360"/>
            <a:ext cx="7616952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133087"/>
            <a:ext cx="10360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Shreya R Hipparagi  ·  VTU 4th Semester CSE  ·  2025–26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360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B6D4"/>
                </a:solidFill>
              </a:rPr>
              <a:t>github.com/ShreyaRHipparagi/Ambulance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5029200"/>
            <a:ext cx="1371600" cy="256032"/>
          </a:xfrm>
          <a:prstGeom prst="rect">
            <a:avLst/>
          </a:prstGeom>
          <a:solidFill>
            <a:srgbClr val="EF444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46120" y="504748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BCS401  ADA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0" y="5029200"/>
            <a:ext cx="1371600" cy="256032"/>
          </a:xfrm>
          <a:prstGeom prst="rect">
            <a:avLst/>
          </a:prstGeom>
          <a:solidFill>
            <a:srgbClr val="374BD0"/>
          </a:solidFill>
          <a:ln w="19050">
            <a:solidFill>
              <a:srgbClr val="374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00600" y="504748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BCS402  OOCJ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5029200"/>
            <a:ext cx="1371600" cy="256032"/>
          </a:xfrm>
          <a:prstGeom prst="rect">
            <a:avLst/>
          </a:prstGeom>
          <a:solidFill>
            <a:srgbClr val="F59E0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504748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BCS403  DBMS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63840" y="5029200"/>
            <a:ext cx="1371600" cy="256032"/>
          </a:xfrm>
          <a:prstGeom prst="rect">
            <a:avLst/>
          </a:prstGeom>
          <a:solidFill>
            <a:srgbClr val="6D28D9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09560" y="504748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BCS405B GT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62356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D78"/>
                </a:solidFill>
              </a:rPr>
              <a:t>Built with  React · Vite · Mapbox GL JS · Turf.js · Framer Motion · Vanilla CSS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